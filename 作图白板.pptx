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71" r:id="rId3"/>
    <p:sldId id="264" r:id="rId4"/>
    <p:sldId id="265" r:id="rId5"/>
    <p:sldId id="304" r:id="rId6"/>
    <p:sldId id="305" r:id="rId7"/>
    <p:sldId id="266" r:id="rId8"/>
    <p:sldId id="267" r:id="rId9"/>
    <p:sldId id="272" r:id="rId10"/>
    <p:sldId id="273" r:id="rId11"/>
    <p:sldId id="274" r:id="rId12"/>
    <p:sldId id="276" r:id="rId13"/>
    <p:sldId id="282" r:id="rId14"/>
    <p:sldId id="283" r:id="rId15"/>
    <p:sldId id="284" r:id="rId16"/>
    <p:sldId id="285" r:id="rId17"/>
    <p:sldId id="286" r:id="rId18"/>
    <p:sldId id="287" r:id="rId19"/>
    <p:sldId id="277" r:id="rId20"/>
    <p:sldId id="288" r:id="rId21"/>
    <p:sldId id="289" r:id="rId22"/>
    <p:sldId id="290" r:id="rId23"/>
    <p:sldId id="295" r:id="rId24"/>
    <p:sldId id="292" r:id="rId25"/>
    <p:sldId id="291" r:id="rId26"/>
    <p:sldId id="293" r:id="rId27"/>
    <p:sldId id="294" r:id="rId28"/>
    <p:sldId id="278" r:id="rId29"/>
    <p:sldId id="296" r:id="rId30"/>
    <p:sldId id="302" r:id="rId31"/>
    <p:sldId id="297" r:id="rId32"/>
    <p:sldId id="298" r:id="rId33"/>
    <p:sldId id="299" r:id="rId34"/>
    <p:sldId id="300" r:id="rId35"/>
    <p:sldId id="301" r:id="rId36"/>
    <p:sldId id="257" r:id="rId37"/>
    <p:sldId id="258" r:id="rId38"/>
    <p:sldId id="279" r:id="rId39"/>
    <p:sldId id="280" r:id="rId40"/>
    <p:sldId id="281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handoutMaster" Target="handoutMasters/handoutMaster1.xml"/><Relationship Id="rId42" Type="http://schemas.openxmlformats.org/officeDocument/2006/relationships/notesMaster" Target="notesMasters/notesMaster1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4.xml"/><Relationship Id="rId2" Type="http://schemas.openxmlformats.org/officeDocument/2006/relationships/image" Target="../media/image1.png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66.xml"/><Relationship Id="rId4" Type="http://schemas.openxmlformats.org/officeDocument/2006/relationships/image" Target="../media/image1.png"/><Relationship Id="rId3" Type="http://schemas.openxmlformats.org/officeDocument/2006/relationships/tags" Target="../tags/tag65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9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0.xml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3.xml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5.xml"/><Relationship Id="rId1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6.xml"/><Relationship Id="rId1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8.xml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9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1.xml"/><Relationship Id="rId1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2.xml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3.xml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4.xml"/><Relationship Id="rId1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5.xml"/><Relationship Id="rId1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86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0.xml"/><Relationship Id="rId1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1.xml"/><Relationship Id="rId1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3.xml"/><Relationship Id="rId1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5.xml"/><Relationship Id="rId1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6.xml"/><Relationship Id="rId1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0.xml"/><Relationship Id="rId2" Type="http://schemas.openxmlformats.org/officeDocument/2006/relationships/image" Target="../media/image31.png"/><Relationship Id="rId1" Type="http://schemas.openxmlformats.org/officeDocument/2006/relationships/tags" Target="../tags/tag9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1.xml"/><Relationship Id="rId1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3.xml"/></Relationships>
</file>

<file path=ppt/slides/_rels/slide3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4.xml"/><Relationship Id="rId2" Type="http://schemas.openxmlformats.org/officeDocument/2006/relationships/image" Target="../media/image13.png"/><Relationship Id="rId1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t="29358" r="68845" b="46849"/>
          <a:stretch>
            <a:fillRect/>
          </a:stretch>
        </p:blipFill>
        <p:spPr>
          <a:xfrm>
            <a:off x="2803525" y="825500"/>
            <a:ext cx="6584950" cy="535178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" name="组合 6"/>
          <p:cNvGrpSpPr/>
          <p:nvPr/>
        </p:nvGrpSpPr>
        <p:grpSpPr>
          <a:xfrm>
            <a:off x="1321435" y="175895"/>
            <a:ext cx="9015095" cy="6697345"/>
            <a:chOff x="2081" y="277"/>
            <a:chExt cx="14197" cy="10547"/>
          </a:xfrm>
        </p:grpSpPr>
        <p:pic>
          <p:nvPicPr>
            <p:cNvPr id="5" name="图片 4" descr="外在途径（Extrinsic Pathway）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081" y="277"/>
              <a:ext cx="5297" cy="9402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38" y="554"/>
              <a:ext cx="3840" cy="10270"/>
            </a:xfrm>
            <a:prstGeom prst="rect">
              <a:avLst/>
            </a:prstGeom>
          </p:spPr>
        </p:pic>
      </p:grpSp>
      <p:pic>
        <p:nvPicPr>
          <p:cNvPr id="4" name="内容占位符 3"/>
          <p:cNvPicPr>
            <a:picLocks noChangeAspect="1"/>
          </p:cNvPicPr>
          <p:nvPr>
            <p:ph idx="1"/>
            <p:custDataLst>
              <p:tags r:id="rId3"/>
            </p:custDataLst>
          </p:nvPr>
        </p:nvPicPr>
        <p:blipFill>
          <a:blip r:embed="rId4"/>
          <a:srcRect l="31364" t="4069" r="20787" b="50033"/>
          <a:stretch>
            <a:fillRect/>
          </a:stretch>
        </p:blipFill>
        <p:spPr>
          <a:xfrm>
            <a:off x="3932555" y="1277620"/>
            <a:ext cx="4326890" cy="44170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" name="组合 5"/>
          <p:cNvGrpSpPr/>
          <p:nvPr/>
        </p:nvGrpSpPr>
        <p:grpSpPr>
          <a:xfrm>
            <a:off x="678180" y="1715770"/>
            <a:ext cx="9102725" cy="4216400"/>
            <a:chOff x="1379" y="2480"/>
            <a:chExt cx="14335" cy="6640"/>
          </a:xfrm>
        </p:grpSpPr>
        <p:pic>
          <p:nvPicPr>
            <p:cNvPr id="4" name="图片 3" descr="生理意义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154" y="2480"/>
              <a:ext cx="6560" cy="6640"/>
            </a:xfrm>
            <a:prstGeom prst="rect">
              <a:avLst/>
            </a:prstGeom>
          </p:spPr>
        </p:pic>
        <p:pic>
          <p:nvPicPr>
            <p:cNvPr id="5" name="图片 4" descr="疾病关联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9" y="2658"/>
              <a:ext cx="8160" cy="5840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 descr="image-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285" y="0"/>
            <a:ext cx="9440545" cy="68586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调控蛋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0720" y="0"/>
            <a:ext cx="575056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外在性细胞凋亡途径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3000" y="431800"/>
            <a:ext cx="7366000" cy="59944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Catalytic tri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4450" y="233045"/>
            <a:ext cx="3501390" cy="2519045"/>
          </a:xfrm>
          <a:prstGeom prst="rect">
            <a:avLst/>
          </a:prstGeom>
        </p:spPr>
      </p:pic>
      <p:pic>
        <p:nvPicPr>
          <p:cNvPr id="6" name="图片 5" descr="Caspase分类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615" y="2138680"/>
            <a:ext cx="6182360" cy="4719320"/>
          </a:xfrm>
          <a:prstGeom prst="rect">
            <a:avLst/>
          </a:prstGeom>
        </p:spPr>
      </p:pic>
      <p:pic>
        <p:nvPicPr>
          <p:cNvPr id="4" name="图片 3" descr="Caspase结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840" y="233045"/>
            <a:ext cx="3213735" cy="270446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凋亡讯号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650" y="2336800"/>
            <a:ext cx="11442700" cy="21844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tGPT Image 2026年8月7日 上午07_45_20"/>
          <p:cNvPicPr>
            <a:picLocks noChangeAspect="1"/>
          </p:cNvPicPr>
          <p:nvPr/>
        </p:nvPicPr>
        <p:blipFill>
          <a:blip r:embed="rId1"/>
          <a:srcRect l="23476" t="82407"/>
          <a:stretch>
            <a:fillRect/>
          </a:stretch>
        </p:blipFill>
        <p:spPr>
          <a:xfrm>
            <a:off x="220980" y="1451610"/>
            <a:ext cx="11750675" cy="33756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aspase-3主要底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510" y="1854200"/>
            <a:ext cx="6921500" cy="3149600"/>
          </a:xfrm>
          <a:prstGeom prst="rect">
            <a:avLst/>
          </a:prstGeom>
        </p:spPr>
      </p:pic>
      <p:pic>
        <p:nvPicPr>
          <p:cNvPr id="3" name="图片 2" descr="Caspase调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890" y="1368425"/>
            <a:ext cx="5930900" cy="43688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l="46940" t="58156" r="1296" b="30713"/>
          <a:stretch>
            <a:fillRect/>
          </a:stretch>
        </p:blipFill>
        <p:spPr>
          <a:xfrm>
            <a:off x="1657985" y="1716405"/>
            <a:ext cx="8340090" cy="22409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dTAG／选择性蛋白降解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0150" y="1651000"/>
            <a:ext cx="7251700" cy="3556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t="57704" r="57030" b="32902"/>
          <a:stretch>
            <a:fillRect/>
          </a:stretch>
        </p:blipFill>
        <p:spPr>
          <a:xfrm>
            <a:off x="405765" y="1804670"/>
            <a:ext cx="11044555" cy="301752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常见系统构型"/>
          <p:cNvPicPr>
            <a:picLocks noChangeAspect="1"/>
          </p:cNvPicPr>
          <p:nvPr/>
        </p:nvPicPr>
        <p:blipFill>
          <a:blip r:embed="rId1"/>
          <a:srcRect l="12513" t="4194" b="63898"/>
          <a:stretch>
            <a:fillRect/>
          </a:stretch>
        </p:blipFill>
        <p:spPr>
          <a:xfrm>
            <a:off x="1205865" y="2334895"/>
            <a:ext cx="9780270" cy="21882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常见系统构型"/>
          <p:cNvPicPr>
            <a:picLocks noChangeAspect="1"/>
          </p:cNvPicPr>
          <p:nvPr/>
        </p:nvPicPr>
        <p:blipFill>
          <a:blip r:embed="rId1"/>
          <a:srcRect l="12513" t="35583" b="34574"/>
          <a:stretch>
            <a:fillRect/>
          </a:stretch>
        </p:blipFill>
        <p:spPr>
          <a:xfrm>
            <a:off x="1205865" y="2440305"/>
            <a:ext cx="9780270" cy="20466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常见系统构型"/>
          <p:cNvPicPr>
            <a:picLocks noChangeAspect="1"/>
          </p:cNvPicPr>
          <p:nvPr/>
        </p:nvPicPr>
        <p:blipFill>
          <a:blip r:embed="rId1"/>
          <a:srcRect l="12513"/>
          <a:stretch>
            <a:fillRect/>
          </a:stretch>
        </p:blipFill>
        <p:spPr>
          <a:xfrm>
            <a:off x="1905000" y="0"/>
            <a:ext cx="978027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CID 系统的主要优点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5460"/>
            <a:ext cx="12192000" cy="584644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实验设计中的关键因素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0"/>
            <a:ext cx="890016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举例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050" y="298450"/>
            <a:ext cx="9613900" cy="62611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可逆性与不可逆性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82470"/>
            <a:ext cx="12192000" cy="28930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25" y="2484755"/>
            <a:ext cx="5867400" cy="21431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965" y="2484755"/>
            <a:ext cx="2939415" cy="21437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融合蛋白 1　　　　融合蛋白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085" y="0"/>
            <a:ext cx="7529195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Myristoylation（豆蔻酰化）与膜锚定简化表示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7000" y="1600200"/>
            <a:ext cx="9398000" cy="36576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过程可表示为：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5660" y="0"/>
            <a:ext cx="544068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启动子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010" y="0"/>
            <a:ext cx="8729345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265" y="0"/>
            <a:ext cx="6680835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obob 的基因型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" y="0"/>
            <a:ext cx="1198880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225550" y="1414780"/>
            <a:ext cx="9741535" cy="402844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695" y="1863725"/>
            <a:ext cx="11231245" cy="31305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577850" y="1115695"/>
            <a:ext cx="11036300" cy="4994275"/>
            <a:chOff x="910" y="1757"/>
            <a:chExt cx="17380" cy="7865"/>
          </a:xfrm>
        </p:grpSpPr>
        <p:pic>
          <p:nvPicPr>
            <p:cNvPr id="2" name="图片 1" descr="Caspase活化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10" y="1757"/>
              <a:ext cx="17380" cy="2840"/>
            </a:xfrm>
            <a:prstGeom prst="rect">
              <a:avLst/>
            </a:prstGeom>
          </p:spPr>
        </p:pic>
        <p:pic>
          <p:nvPicPr>
            <p:cNvPr id="3" name="图片 2" descr="ChatGPT Image 2026年8月7日 上午07_45_20"/>
            <p:cNvPicPr>
              <a:picLocks noChangeAspect="1"/>
            </p:cNvPicPr>
            <p:nvPr/>
          </p:nvPicPr>
          <p:blipFill>
            <a:blip r:embed="rId2"/>
            <a:srcRect t="39963" r="40194" b="40741"/>
            <a:stretch>
              <a:fillRect/>
            </a:stretch>
          </p:blipFill>
          <p:spPr>
            <a:xfrm>
              <a:off x="3018" y="4316"/>
              <a:ext cx="13163" cy="5307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39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50" baseType="lpstr">
      <vt:lpstr>Arial</vt:lpstr>
      <vt:lpstr>宋体</vt:lpstr>
      <vt:lpstr>Wingdings</vt:lpstr>
      <vt:lpstr>Wingdings</vt:lpstr>
      <vt:lpstr>微软雅黑</vt:lpstr>
      <vt:lpstr>汉仪旗黑</vt:lpstr>
      <vt:lpstr>宋体</vt:lpstr>
      <vt:lpstr>Arial Unicode MS</vt:lpstr>
      <vt:lpstr>苹方-简</vt:lpstr>
      <vt:lpstr>汉仪书宋二KW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蔡靖熹</cp:lastModifiedBy>
  <cp:revision>168</cp:revision>
  <dcterms:created xsi:type="dcterms:W3CDTF">2026-08-07T01:08:24Z</dcterms:created>
  <dcterms:modified xsi:type="dcterms:W3CDTF">2026-08-07T01:08:24Z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1251B122879B00CD0029756A95ED01ED_43</vt:lpwstr>
  </property>
</Properties>
</file>