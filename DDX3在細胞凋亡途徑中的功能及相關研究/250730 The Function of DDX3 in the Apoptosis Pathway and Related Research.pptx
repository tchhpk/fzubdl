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60" r:id="rId1"/>
  </p:sldMasterIdLst>
  <p:notesMasterIdLst>
    <p:notesMasterId r:id="rId39"/>
  </p:notesMasterIdLst>
  <p:sldIdLst>
    <p:sldId id="256" r:id="rId2"/>
    <p:sldId id="390" r:id="rId3"/>
    <p:sldId id="391" r:id="rId4"/>
    <p:sldId id="334" r:id="rId5"/>
    <p:sldId id="377" r:id="rId6"/>
    <p:sldId id="408" r:id="rId7"/>
    <p:sldId id="383" r:id="rId8"/>
    <p:sldId id="394" r:id="rId9"/>
    <p:sldId id="375" r:id="rId10"/>
    <p:sldId id="428" r:id="rId11"/>
    <p:sldId id="392" r:id="rId12"/>
    <p:sldId id="380" r:id="rId13"/>
    <p:sldId id="413" r:id="rId14"/>
    <p:sldId id="402" r:id="rId15"/>
    <p:sldId id="399" r:id="rId16"/>
    <p:sldId id="416" r:id="rId17"/>
    <p:sldId id="409" r:id="rId18"/>
    <p:sldId id="417" r:id="rId19"/>
    <p:sldId id="407" r:id="rId20"/>
    <p:sldId id="418" r:id="rId21"/>
    <p:sldId id="403" r:id="rId22"/>
    <p:sldId id="400" r:id="rId23"/>
    <p:sldId id="419" r:id="rId24"/>
    <p:sldId id="421" r:id="rId25"/>
    <p:sldId id="423" r:id="rId26"/>
    <p:sldId id="424" r:id="rId27"/>
    <p:sldId id="414" r:id="rId28"/>
    <p:sldId id="385" r:id="rId29"/>
    <p:sldId id="395" r:id="rId30"/>
    <p:sldId id="396" r:id="rId31"/>
    <p:sldId id="397" r:id="rId32"/>
    <p:sldId id="429" r:id="rId33"/>
    <p:sldId id="426" r:id="rId34"/>
    <p:sldId id="289" r:id="rId35"/>
    <p:sldId id="376" r:id="rId36"/>
    <p:sldId id="425" r:id="rId37"/>
    <p:sldId id="378" r:id="rId38"/>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FFF"/>
    <a:srgbClr val="F0F9FD"/>
    <a:srgbClr val="E6F5FA"/>
    <a:srgbClr val="E5F3F9"/>
    <a:srgbClr val="EEF8FD"/>
    <a:srgbClr val="EFECDF"/>
    <a:srgbClr val="F4F0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27"/>
    <p:restoredTop sz="82684"/>
  </p:normalViewPr>
  <p:slideViewPr>
    <p:cSldViewPr>
      <p:cViewPr varScale="1">
        <p:scale>
          <a:sx n="96" d="100"/>
          <a:sy n="96" d="100"/>
        </p:scale>
        <p:origin x="832" y="216"/>
      </p:cViewPr>
      <p:guideLst>
        <p:guide orient="horz" pos="2160"/>
        <p:guide pos="2880"/>
      </p:guideLst>
    </p:cSldViewPr>
  </p:slideViewPr>
  <p:outlineViewPr>
    <p:cViewPr>
      <p:scale>
        <a:sx n="33" d="100"/>
        <a:sy n="33" d="100"/>
      </p:scale>
      <p:origin x="0" y="-2752"/>
    </p:cViewPr>
  </p:outlineViewPr>
  <p:notesTextViewPr>
    <p:cViewPr>
      <p:scale>
        <a:sx n="1" d="1"/>
        <a:sy n="1" d="1"/>
      </p:scale>
      <p:origin x="0" y="0"/>
    </p:cViewPr>
  </p:notesTextViewPr>
  <p:notesViewPr>
    <p:cSldViewPr>
      <p:cViewPr varScale="1">
        <p:scale>
          <a:sx n="132" d="100"/>
          <a:sy n="132" d="100"/>
        </p:scale>
        <p:origin x="2080" y="168"/>
      </p:cViewPr>
      <p:guideLst/>
    </p:cSldViewPr>
  </p:notesViewPr>
  <p:gridSpacing cx="46806" cy="468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910C2053-786E-6F42-A22C-7C7B34E4BF19}" type="datetimeFigureOut">
              <a:rPr kumimoji="1" lang="zh-TW" altLang="en-US" smtClean="0"/>
              <a:t>2025/7/30</a:t>
            </a:fld>
            <a:endParaRPr kumimoji="1" lang="zh-TW" altLang="en-US"/>
          </a:p>
        </p:txBody>
      </p:sp>
      <p:sp>
        <p:nvSpPr>
          <p:cNvPr id="4" name="投影片影像版面配置區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6" name="頁尾版面配置區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1CA63BF-C9DC-9844-BCA0-064E1D9BA987}" type="slidenum">
              <a:rPr kumimoji="1" lang="zh-TW" altLang="en-US" smtClean="0"/>
              <a:t>‹#›</a:t>
            </a:fld>
            <a:endParaRPr kumimoji="1" lang="zh-TW" altLang="en-US"/>
          </a:p>
        </p:txBody>
      </p:sp>
    </p:spTree>
    <p:extLst>
      <p:ext uri="{BB962C8B-B14F-4D97-AF65-F5344CB8AC3E}">
        <p14:creationId xmlns:p14="http://schemas.microsoft.com/office/powerpoint/2010/main" val="4185154647"/>
      </p:ext>
    </p:extLst>
  </p:cSld>
  <p:clrMap bg1="lt1" tx1="dk1" bg2="lt2" tx2="dk2" accent1="accent1" accent2="accent2" accent3="accent3" accent4="accent4" accent5="accent5" accent6="accent6" hlink="hlink" folHlink="folHlink"/>
  <p:notesStyle>
    <a:lvl1pPr marL="0" algn="l" defTabSz="914400" rtl="0" eaLnBrk="1" latinLnBrk="0" hangingPunct="1">
      <a:defRPr sz="1600" kern="1200" baseline="0">
        <a:solidFill>
          <a:schemeClr val="tx1"/>
        </a:solidFill>
        <a:latin typeface="+mn-lt"/>
        <a:ea typeface="+mn-ea"/>
        <a:cs typeface="+mn-cs"/>
      </a:defRPr>
    </a:lvl1pPr>
    <a:lvl2pPr marL="457200" algn="l" defTabSz="914400" rtl="0" eaLnBrk="1" latinLnBrk="0" hangingPunct="1">
      <a:defRPr sz="1600" kern="1200" baseline="0">
        <a:solidFill>
          <a:schemeClr val="tx1"/>
        </a:solidFill>
        <a:latin typeface="+mn-lt"/>
        <a:ea typeface="+mn-ea"/>
        <a:cs typeface="+mn-cs"/>
      </a:defRPr>
    </a:lvl2pPr>
    <a:lvl3pPr marL="914400" algn="l" defTabSz="914400" rtl="0" eaLnBrk="1" latinLnBrk="0" hangingPunct="1">
      <a:defRPr sz="1600" kern="1200" baseline="0">
        <a:solidFill>
          <a:schemeClr val="tx1"/>
        </a:solidFill>
        <a:latin typeface="+mn-lt"/>
        <a:ea typeface="+mn-ea"/>
        <a:cs typeface="+mn-cs"/>
      </a:defRPr>
    </a:lvl3pPr>
    <a:lvl4pPr marL="1371600" algn="l" defTabSz="914400" rtl="0" eaLnBrk="1" latinLnBrk="0" hangingPunct="1">
      <a:defRPr sz="1600" kern="1200" baseline="0">
        <a:solidFill>
          <a:schemeClr val="tx1"/>
        </a:solidFill>
        <a:latin typeface="+mn-lt"/>
        <a:ea typeface="+mn-ea"/>
        <a:cs typeface="+mn-cs"/>
      </a:defRPr>
    </a:lvl4pPr>
    <a:lvl5pPr marL="1828800" algn="l" defTabSz="914400" rtl="0" eaLnBrk="1" latinLnBrk="0" hangingPunct="1">
      <a:defRPr sz="1600" kern="1200" baseline="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老師好，學長姐、學妹好，我今天要報告的題目是</a:t>
            </a:r>
            <a:r>
              <a:rPr kumimoji="1" lang="en" altLang="zh-TW" dirty="0"/>
              <a:t>The Function of DDX3 in the Apoptosis Pathway and Related Research</a:t>
            </a:r>
            <a:r>
              <a:rPr kumimoji="1" lang="zh-TW" altLang="en-US" dirty="0"/>
              <a:t>，中文是</a:t>
            </a:r>
            <a:r>
              <a:rPr kumimoji="1" lang="en-US" altLang="zh-TW" dirty="0"/>
              <a:t>DDX3</a:t>
            </a:r>
            <a:r>
              <a:rPr kumimoji="1" lang="zh-TW" altLang="en-US" dirty="0"/>
              <a:t>在細胞凋亡途徑中的功能及相關研究。</a:t>
            </a:r>
            <a:endParaRPr kumimoji="1" lang="en" altLang="zh-TW" dirty="0"/>
          </a:p>
        </p:txBody>
      </p:sp>
      <p:sp>
        <p:nvSpPr>
          <p:cNvPr id="4" name="投影片編號版面配置區 3"/>
          <p:cNvSpPr>
            <a:spLocks noGrp="1"/>
          </p:cNvSpPr>
          <p:nvPr>
            <p:ph type="sldNum" sz="quarter" idx="5"/>
          </p:nvPr>
        </p:nvSpPr>
        <p:spPr/>
        <p:txBody>
          <a:bodyPr/>
          <a:lstStyle/>
          <a:p>
            <a:fld id="{61CA63BF-C9DC-9844-BCA0-064E1D9BA987}" type="slidenum">
              <a:rPr kumimoji="1" lang="zh-TW" altLang="en-US" smtClean="0"/>
              <a:t>0</a:t>
            </a:fld>
            <a:endParaRPr kumimoji="1" lang="zh-TW" altLang="en-US"/>
          </a:p>
        </p:txBody>
      </p:sp>
    </p:spTree>
    <p:extLst>
      <p:ext uri="{BB962C8B-B14F-4D97-AF65-F5344CB8AC3E}">
        <p14:creationId xmlns:p14="http://schemas.microsoft.com/office/powerpoint/2010/main" val="1279874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8AE80-D223-DEA3-D42C-25ED6125DC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179165C-D91A-FB1A-D08B-2AEC6F67615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8B008BD-E555-845B-3AA4-C94F0962226D}"/>
              </a:ext>
            </a:extLst>
          </p:cNvPr>
          <p:cNvSpPr>
            <a:spLocks noGrp="1"/>
          </p:cNvSpPr>
          <p:nvPr>
            <p:ph type="body" idx="1"/>
          </p:nvPr>
        </p:nvSpPr>
        <p:spPr/>
        <p:txBody>
          <a:bodyPr/>
          <a:lstStyle/>
          <a:p>
            <a:r>
              <a:rPr kumimoji="1" lang="zh-TW" altLang="en-US" dirty="0"/>
              <a:t>這是我今天的報告大綱，首先會先有</a:t>
            </a:r>
            <a:r>
              <a:rPr kumimoji="1" lang="en-US" altLang="zh-TW" dirty="0"/>
              <a:t>introduction</a:t>
            </a:r>
            <a:r>
              <a:rPr kumimoji="1" lang="zh-TW" altLang="en-US" dirty="0"/>
              <a:t>來介紹程序性細胞死亡，以及介紹</a:t>
            </a:r>
            <a:r>
              <a:rPr kumimoji="1" lang="en-US" altLang="zh-TW" dirty="0"/>
              <a:t>Apoptosis</a:t>
            </a:r>
            <a:r>
              <a:rPr kumimoji="1" lang="zh-TW" altLang="en-US" dirty="0"/>
              <a:t>的作用機制和</a:t>
            </a:r>
            <a:r>
              <a:rPr kumimoji="1" lang="en-US" altLang="zh-TW" dirty="0"/>
              <a:t>DDX3</a:t>
            </a:r>
            <a:r>
              <a:rPr kumimoji="1" lang="zh-TW" altLang="en-US" dirty="0"/>
              <a:t>的結構與功能。接著會介紹幾篇有關</a:t>
            </a:r>
            <a:r>
              <a:rPr kumimoji="1" lang="en-US" altLang="zh-TW" dirty="0"/>
              <a:t>DDX3</a:t>
            </a:r>
            <a:r>
              <a:rPr kumimoji="1" lang="zh-TW" altLang="en-US" dirty="0"/>
              <a:t>如何作用在</a:t>
            </a:r>
            <a:r>
              <a:rPr kumimoji="1" lang="en-US" altLang="zh-TW" dirty="0"/>
              <a:t>Apoptosis pathway</a:t>
            </a:r>
            <a:r>
              <a:rPr kumimoji="1" lang="zh-TW" altLang="en-US" dirty="0"/>
              <a:t>的相關研究</a:t>
            </a:r>
            <a:endParaRPr kumimoji="1" lang="en-US" altLang="zh-TW" dirty="0"/>
          </a:p>
          <a:p>
            <a:endParaRPr kumimoji="1" lang="zh-TW" altLang="en-US" dirty="0"/>
          </a:p>
        </p:txBody>
      </p:sp>
      <p:sp>
        <p:nvSpPr>
          <p:cNvPr id="4" name="投影片編號版面配置區 3">
            <a:extLst>
              <a:ext uri="{FF2B5EF4-FFF2-40B4-BE49-F238E27FC236}">
                <a16:creationId xmlns:a16="http://schemas.microsoft.com/office/drawing/2014/main" id="{71510EFD-16F4-6CB3-D79E-99672D57FD9E}"/>
              </a:ext>
            </a:extLst>
          </p:cNvPr>
          <p:cNvSpPr>
            <a:spLocks noGrp="1"/>
          </p:cNvSpPr>
          <p:nvPr>
            <p:ph type="sldNum" sz="quarter" idx="5"/>
          </p:nvPr>
        </p:nvSpPr>
        <p:spPr/>
        <p:txBody>
          <a:bodyPr/>
          <a:lstStyle/>
          <a:p>
            <a:fld id="{61CA63BF-C9DC-9844-BCA0-064E1D9BA987}" type="slidenum">
              <a:rPr kumimoji="1" lang="zh-TW" altLang="en-US" smtClean="0"/>
              <a:t>1</a:t>
            </a:fld>
            <a:endParaRPr kumimoji="1" lang="zh-TW" altLang="en-US"/>
          </a:p>
        </p:txBody>
      </p:sp>
    </p:spTree>
    <p:extLst>
      <p:ext uri="{BB962C8B-B14F-4D97-AF65-F5344CB8AC3E}">
        <p14:creationId xmlns:p14="http://schemas.microsoft.com/office/powerpoint/2010/main" val="3571639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740F6-1E3B-2A9A-2546-1064E454FA1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16EDD78-85BA-7F67-74A0-82208ED22D4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5912D12-CCDD-5304-B47B-0B19D4373D29}"/>
              </a:ext>
            </a:extLst>
          </p:cNvPr>
          <p:cNvSpPr>
            <a:spLocks noGrp="1"/>
          </p:cNvSpPr>
          <p:nvPr>
            <p:ph type="body" idx="1"/>
          </p:nvPr>
        </p:nvSpPr>
        <p:spPr/>
        <p:txBody>
          <a:bodyPr/>
          <a:lstStyle/>
          <a:p>
            <a:r>
              <a:rPr kumimoji="1" lang="zh-TW" altLang="en-US" dirty="0"/>
              <a:t>首先是</a:t>
            </a:r>
            <a:r>
              <a:rPr kumimoji="1" lang="en-US" altLang="zh-TW" dirty="0"/>
              <a:t>introduction</a:t>
            </a:r>
            <a:r>
              <a:rPr kumimoji="1" lang="zh-TW" altLang="en-US" dirty="0"/>
              <a:t>的部分</a:t>
            </a:r>
          </a:p>
        </p:txBody>
      </p:sp>
      <p:sp>
        <p:nvSpPr>
          <p:cNvPr id="4" name="投影片編號版面配置區 3">
            <a:extLst>
              <a:ext uri="{FF2B5EF4-FFF2-40B4-BE49-F238E27FC236}">
                <a16:creationId xmlns:a16="http://schemas.microsoft.com/office/drawing/2014/main" id="{A6045247-1AAC-DAEA-CAAE-987E13B18C94}"/>
              </a:ext>
            </a:extLst>
          </p:cNvPr>
          <p:cNvSpPr>
            <a:spLocks noGrp="1"/>
          </p:cNvSpPr>
          <p:nvPr>
            <p:ph type="sldNum" sz="quarter" idx="5"/>
          </p:nvPr>
        </p:nvSpPr>
        <p:spPr/>
        <p:txBody>
          <a:bodyPr/>
          <a:lstStyle/>
          <a:p>
            <a:fld id="{61CA63BF-C9DC-9844-BCA0-064E1D9BA987}" type="slidenum">
              <a:rPr kumimoji="1" lang="zh-TW" altLang="en-US" smtClean="0"/>
              <a:t>2</a:t>
            </a:fld>
            <a:endParaRPr kumimoji="1" lang="zh-TW" altLang="en-US"/>
          </a:p>
        </p:txBody>
      </p:sp>
    </p:spTree>
    <p:extLst>
      <p:ext uri="{BB962C8B-B14F-4D97-AF65-F5344CB8AC3E}">
        <p14:creationId xmlns:p14="http://schemas.microsoft.com/office/powerpoint/2010/main" val="2171320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802D1-F77D-7B78-7B15-93A118F6DAD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E8DC732-35DA-E244-E4A6-6ACAA6916AF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D7B9E8A-874D-73B5-C823-7DC782F87EBE}"/>
              </a:ext>
            </a:extLst>
          </p:cNvPr>
          <p:cNvSpPr>
            <a:spLocks noGrp="1"/>
          </p:cNvSpPr>
          <p:nvPr>
            <p:ph type="body" idx="1"/>
          </p:nvPr>
        </p:nvSpPr>
        <p:spPr/>
        <p:txBody>
          <a:bodyPr/>
          <a:lstStyle/>
          <a:p>
            <a:r>
              <a:rPr lang="zh-TW" altLang="en-US" b="0" i="0" dirty="0">
                <a:solidFill>
                  <a:srgbClr val="1B1B1B"/>
                </a:solidFill>
                <a:effectLst/>
                <a:latin typeface="+mn-lt"/>
              </a:rPr>
              <a:t>首先要介紹的是細胞死亡，細胞死亡是</a:t>
            </a:r>
            <a:r>
              <a:rPr lang="zh-TW" altLang="en-US" b="0" dirty="0">
                <a:latin typeface="+mn-lt"/>
              </a:rPr>
              <a:t>指細胞在生理或病理狀態下，喪失基本功能且不可逆地終止生命活動的過程。</a:t>
            </a:r>
            <a:endParaRPr lang="en-US" altLang="zh-TW" b="0" dirty="0">
              <a:latin typeface="+mn-lt"/>
            </a:endParaRPr>
          </a:p>
          <a:p>
            <a:endParaRPr lang="en-US" altLang="zh-TW" b="0" i="0" dirty="0">
              <a:solidFill>
                <a:srgbClr val="1B1B1B"/>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1B1B1B"/>
                </a:solidFill>
                <a:effectLst/>
                <a:latin typeface="+mn-lt"/>
              </a:rPr>
              <a:t>他分成兩種分類，第一種是 </a:t>
            </a:r>
            <a:r>
              <a:rPr lang="en" altLang="zh-TW" b="0" i="0" dirty="0">
                <a:solidFill>
                  <a:srgbClr val="1B1B1B"/>
                </a:solidFill>
                <a:effectLst/>
                <a:latin typeface="+mn-lt"/>
              </a:rPr>
              <a:t>Regulated cell death</a:t>
            </a:r>
            <a:r>
              <a:rPr lang="zh-TW" altLang="en-US" b="0" i="0" dirty="0">
                <a:solidFill>
                  <a:srgbClr val="1B1B1B"/>
                </a:solidFill>
                <a:effectLst/>
                <a:latin typeface="+mn-lt"/>
              </a:rPr>
              <a:t>，他是指</a:t>
            </a:r>
            <a:r>
              <a:rPr lang="zh-TW" altLang="en-US" b="0" dirty="0">
                <a:latin typeface="+mn-lt"/>
              </a:rPr>
              <a:t>廣義所有可以被基因或訊號通路調控的細胞死亡，包括生理性以及病理性。而 </a:t>
            </a:r>
            <a:r>
              <a:rPr lang="en" altLang="zh-TW" b="0" dirty="0">
                <a:solidFill>
                  <a:srgbClr val="1B1B1B"/>
                </a:solidFill>
                <a:latin typeface="+mn-lt"/>
              </a:rPr>
              <a:t>Programmed cell death</a:t>
            </a:r>
            <a:r>
              <a:rPr lang="zh-TW" altLang="en-US" b="0" dirty="0">
                <a:solidFill>
                  <a:srgbClr val="1B1B1B"/>
                </a:solidFill>
                <a:latin typeface="+mn-lt"/>
              </a:rPr>
              <a:t>，</a:t>
            </a:r>
            <a:r>
              <a:rPr lang="zh-TW" altLang="en-US" b="0" i="0" dirty="0">
                <a:solidFill>
                  <a:srgbClr val="1B1B1B"/>
                </a:solidFill>
                <a:effectLst/>
                <a:latin typeface="+mn-lt"/>
              </a:rPr>
              <a:t>程序性死亡，為狹義的 </a:t>
            </a:r>
            <a:r>
              <a:rPr lang="en" altLang="zh-TW" b="0" dirty="0">
                <a:solidFill>
                  <a:srgbClr val="1B1B1B"/>
                </a:solidFill>
                <a:latin typeface="+mn-lt"/>
              </a:rPr>
              <a:t>R</a:t>
            </a:r>
            <a:r>
              <a:rPr lang="en" altLang="zh-TW" b="0" i="0" dirty="0">
                <a:solidFill>
                  <a:srgbClr val="1B1B1B"/>
                </a:solidFill>
                <a:effectLst/>
                <a:latin typeface="+mn-lt"/>
              </a:rPr>
              <a:t>CD</a:t>
            </a:r>
            <a:r>
              <a:rPr lang="zh-TW" altLang="en-US" b="0" i="0" dirty="0">
                <a:solidFill>
                  <a:srgbClr val="1B1B1B"/>
                </a:solidFill>
                <a:effectLst/>
                <a:latin typeface="+mn-lt"/>
              </a:rPr>
              <a:t>，是發育過程中出現的細胞死亡，主要目的是透過生物體內基因或調控因子來調控細胞死亡，協助個體正常發育或維持體內恆定，不受外源性環境所干擾。</a:t>
            </a:r>
            <a:r>
              <a:rPr lang="en-US" altLang="zh-TW" b="0" i="0" dirty="0">
                <a:solidFill>
                  <a:srgbClr val="1B1B1B"/>
                </a:solidFill>
                <a:effectLst/>
                <a:latin typeface="+mn-lt"/>
              </a:rPr>
              <a:t>Apoptosis</a:t>
            </a:r>
            <a:r>
              <a:rPr lang="zh-TW" altLang="en-US" b="0" i="0" dirty="0">
                <a:solidFill>
                  <a:srgbClr val="1B1B1B"/>
                </a:solidFill>
                <a:effectLst/>
                <a:latin typeface="+mn-lt"/>
              </a:rPr>
              <a:t>即屬於</a:t>
            </a:r>
            <a:r>
              <a:rPr lang="en-US" altLang="zh-TW" b="0" i="0" dirty="0">
                <a:solidFill>
                  <a:srgbClr val="1B1B1B"/>
                </a:solidFill>
                <a:effectLst/>
                <a:latin typeface="+mn-lt"/>
              </a:rPr>
              <a:t>PCD</a:t>
            </a:r>
            <a:r>
              <a:rPr lang="zh-TW" altLang="en-US" b="0" i="0" dirty="0">
                <a:solidFill>
                  <a:srgbClr val="1B1B1B"/>
                </a:solidFill>
                <a:effectLst/>
                <a:latin typeface="+mn-lt"/>
              </a:rPr>
              <a:t>的一種。</a:t>
            </a:r>
            <a:endParaRPr lang="en-US" altLang="zh-TW" b="0" i="0" dirty="0">
              <a:solidFill>
                <a:srgbClr val="1B1B1B"/>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1B1B1B"/>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1B1B1B"/>
                </a:solidFill>
                <a:effectLst/>
                <a:latin typeface="+mn-lt"/>
              </a:rPr>
              <a:t>第二種則是</a:t>
            </a:r>
            <a:r>
              <a:rPr lang="en" altLang="zh-TW" b="0" dirty="0">
                <a:solidFill>
                  <a:srgbClr val="1B1B1B"/>
                </a:solidFill>
                <a:latin typeface="+mn-lt"/>
              </a:rPr>
              <a:t>Accidental cell death</a:t>
            </a:r>
            <a:r>
              <a:rPr lang="zh-TW" altLang="en-US" b="0" dirty="0">
                <a:solidFill>
                  <a:srgbClr val="1B1B1B"/>
                </a:solidFill>
                <a:latin typeface="+mn-lt"/>
              </a:rPr>
              <a:t>，為意外細胞死亡，是指說細胞在外源環境壓力下，像是</a:t>
            </a:r>
            <a:r>
              <a:rPr lang="zh-TW" altLang="en-US" b="0" i="0" dirty="0">
                <a:solidFill>
                  <a:srgbClr val="1B1B1B"/>
                </a:solidFill>
                <a:effectLst/>
                <a:latin typeface="+mn-lt"/>
              </a:rPr>
              <a:t>暴露在嚴重的物理（如高壓、高溫或滲透力）、化學（如極端 </a:t>
            </a:r>
            <a:r>
              <a:rPr lang="en" altLang="zh-TW" b="0" i="0" dirty="0">
                <a:solidFill>
                  <a:srgbClr val="1B1B1B"/>
                </a:solidFill>
                <a:effectLst/>
                <a:latin typeface="+mn-lt"/>
              </a:rPr>
              <a:t>pH </a:t>
            </a:r>
            <a:r>
              <a:rPr lang="zh-TW" altLang="en-US" b="0" i="0" dirty="0">
                <a:solidFill>
                  <a:srgbClr val="1B1B1B"/>
                </a:solidFill>
                <a:effectLst/>
                <a:latin typeface="+mn-lt"/>
              </a:rPr>
              <a:t>變化）或機械（如剪切力）損傷下產生瞬間且災難性的死亡。</a:t>
            </a:r>
            <a:endParaRPr lang="en-US" altLang="zh-TW" b="0" i="0" dirty="0">
              <a:solidFill>
                <a:srgbClr val="1B1B1B"/>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1B1B1B"/>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1B1B1B"/>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1B1B1B"/>
              </a:solidFill>
              <a:effectLst/>
              <a:latin typeface="+mn-lt"/>
            </a:endParaRPr>
          </a:p>
          <a:p>
            <a:pPr>
              <a:buFont typeface="Arial" panose="020B0604020202020204" pitchFamily="34" charset="0"/>
              <a:buChar char="•"/>
            </a:pPr>
            <a:r>
              <a:rPr lang="zh-TW" altLang="en-US" b="0" dirty="0">
                <a:latin typeface="+mn-lt"/>
              </a:rPr>
              <a:t>即使是外力誘導的死亡（如化療藥物造成的細胞死亡），只要是經由特定分子路徑，就屬於 </a:t>
            </a:r>
            <a:r>
              <a:rPr lang="en" altLang="zh-TW" b="0" dirty="0">
                <a:latin typeface="+mn-lt"/>
              </a:rPr>
              <a:t>RCD</a:t>
            </a:r>
            <a:r>
              <a:rPr lang="zh-TW" altLang="en" b="0" dirty="0">
                <a:latin typeface="+mn-lt"/>
              </a:rPr>
              <a:t>。</a:t>
            </a:r>
          </a:p>
          <a:p>
            <a:r>
              <a:rPr lang="zh-TW" altLang="en-US" b="0" dirty="0">
                <a:latin typeface="+mn-lt"/>
              </a:rPr>
              <a:t>📌 關鍵詞：所有經由調控機制的細胞死亡，不限於發育過程</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TW" dirty="0">
              <a:solidFill>
                <a:srgbClr val="1B1B1B"/>
              </a:solidFill>
            </a:endParaRPr>
          </a:p>
        </p:txBody>
      </p:sp>
      <p:sp>
        <p:nvSpPr>
          <p:cNvPr id="4" name="投影片編號版面配置區 3">
            <a:extLst>
              <a:ext uri="{FF2B5EF4-FFF2-40B4-BE49-F238E27FC236}">
                <a16:creationId xmlns:a16="http://schemas.microsoft.com/office/drawing/2014/main" id="{8B8DF6B1-0D43-C1D8-E0BD-BF327AF38646}"/>
              </a:ext>
            </a:extLst>
          </p:cNvPr>
          <p:cNvSpPr>
            <a:spLocks noGrp="1"/>
          </p:cNvSpPr>
          <p:nvPr>
            <p:ph type="sldNum" sz="quarter" idx="5"/>
          </p:nvPr>
        </p:nvSpPr>
        <p:spPr/>
        <p:txBody>
          <a:bodyPr/>
          <a:lstStyle/>
          <a:p>
            <a:fld id="{61CA63BF-C9DC-9844-BCA0-064E1D9BA987}" type="slidenum">
              <a:rPr kumimoji="1" lang="zh-TW" altLang="en-US" smtClean="0"/>
              <a:t>3</a:t>
            </a:fld>
            <a:endParaRPr kumimoji="1" lang="zh-TW" altLang="en-US"/>
          </a:p>
        </p:txBody>
      </p:sp>
    </p:spTree>
    <p:extLst>
      <p:ext uri="{BB962C8B-B14F-4D97-AF65-F5344CB8AC3E}">
        <p14:creationId xmlns:p14="http://schemas.microsoft.com/office/powerpoint/2010/main" val="2128057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A87F2-577A-2F0E-F4AF-AE6251E3A7A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B0D1938-BD5C-4CF0-D095-EC0EAB0E987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C27CEE9-7C6E-8177-0ADB-AF6AD77BE377}"/>
              </a:ext>
            </a:extLst>
          </p:cNvPr>
          <p:cNvSpPr>
            <a:spLocks noGrp="1"/>
          </p:cNvSpPr>
          <p:nvPr>
            <p:ph type="body" idx="1"/>
          </p:nvPr>
        </p:nvSpPr>
        <p:spPr/>
        <p:txBody>
          <a:bodyPr/>
          <a:lstStyle/>
          <a:p>
            <a:r>
              <a:rPr lang="en" altLang="zh-TW" dirty="0">
                <a:solidFill>
                  <a:srgbClr val="1B1B1B"/>
                </a:solidFill>
              </a:rPr>
              <a:t>T</a:t>
            </a:r>
            <a:r>
              <a:rPr lang="en" altLang="zh-TW" b="0" i="0" dirty="0">
                <a:solidFill>
                  <a:srgbClr val="1B1B1B"/>
                </a:solidFill>
                <a:effectLst/>
              </a:rPr>
              <a:t>ype I : apoptosis</a:t>
            </a:r>
            <a:r>
              <a:rPr lang="zh-TW" altLang="en-US" b="0" i="0" dirty="0">
                <a:solidFill>
                  <a:srgbClr val="1B1B1B"/>
                </a:solidFill>
                <a:effectLst/>
              </a:rPr>
              <a:t>細胞凋亡</a:t>
            </a:r>
            <a:endParaRPr lang="en-US" altLang="zh-TW" b="0" i="0" dirty="0">
              <a:solidFill>
                <a:srgbClr val="1B1B1B"/>
              </a:solidFill>
              <a:effectLst/>
            </a:endParaRPr>
          </a:p>
          <a:p>
            <a:r>
              <a:rPr lang="en" altLang="zh-TW" dirty="0">
                <a:solidFill>
                  <a:srgbClr val="1B1B1B"/>
                </a:solidFill>
              </a:rPr>
              <a:t>T</a:t>
            </a:r>
            <a:r>
              <a:rPr lang="en" altLang="zh-TW" b="0" i="0" dirty="0">
                <a:solidFill>
                  <a:srgbClr val="1B1B1B"/>
                </a:solidFill>
                <a:effectLst/>
              </a:rPr>
              <a:t>ype II : autophagy</a:t>
            </a:r>
            <a:r>
              <a:rPr lang="zh-TW" altLang="en-US" b="0" i="0" dirty="0">
                <a:solidFill>
                  <a:srgbClr val="1B1B1B"/>
                </a:solidFill>
                <a:effectLst/>
              </a:rPr>
              <a:t>細胞自噬</a:t>
            </a:r>
            <a:endParaRPr lang="en" altLang="zh-TW" b="0" i="0" dirty="0">
              <a:solidFill>
                <a:srgbClr val="1B1B1B"/>
              </a:solidFill>
              <a:effectLst/>
            </a:endParaRPr>
          </a:p>
          <a:p>
            <a:r>
              <a:rPr lang="en" altLang="zh-TW" dirty="0">
                <a:solidFill>
                  <a:srgbClr val="1B1B1B"/>
                </a:solidFill>
              </a:rPr>
              <a:t>T</a:t>
            </a:r>
            <a:r>
              <a:rPr lang="en" altLang="zh-TW" b="0" i="0" dirty="0">
                <a:solidFill>
                  <a:srgbClr val="1B1B1B"/>
                </a:solidFill>
                <a:effectLst/>
              </a:rPr>
              <a:t>ype III : necrosis</a:t>
            </a:r>
            <a:r>
              <a:rPr lang="zh-TW" altLang="en-US" b="0" i="0" dirty="0">
                <a:solidFill>
                  <a:srgbClr val="1B1B1B"/>
                </a:solidFill>
                <a:effectLst/>
              </a:rPr>
              <a:t>細胞壞死</a:t>
            </a:r>
            <a:endParaRPr lang="en" altLang="zh-TW" dirty="0">
              <a:solidFill>
                <a:srgbClr val="1B1B1B"/>
              </a:solidFill>
            </a:endParaRPr>
          </a:p>
          <a:p>
            <a:endParaRPr lang="en-US" altLang="zh-TW" b="0" i="0" dirty="0">
              <a:solidFill>
                <a:srgbClr val="1B1B1B"/>
              </a:solidFill>
              <a:effectLst/>
              <a:latin typeface="Cambria" panose="02040503050406030204" pitchFamily="18" charset="0"/>
            </a:endParaRPr>
          </a:p>
          <a:p>
            <a:r>
              <a:rPr lang="zh-TW" altLang="en-US" b="0" i="0" dirty="0">
                <a:solidFill>
                  <a:srgbClr val="1B1B1B"/>
                </a:solidFill>
                <a:effectLst/>
                <a:latin typeface="Cambria" panose="02040503050406030204" pitchFamily="18" charset="0"/>
              </a:rPr>
              <a:t>細胞死亡有很多種類，並且會使細胞形態產生改變，主要分為三種不同的形式：</a:t>
            </a:r>
            <a:endParaRPr lang="en-US" altLang="zh-TW" b="0" i="0" dirty="0">
              <a:solidFill>
                <a:srgbClr val="1B1B1B"/>
              </a:solidFill>
              <a:effectLst/>
              <a:latin typeface="Cambria" panose="02040503050406030204" pitchFamily="18"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r>
              <a:rPr lang="zh-TW" altLang="en-US" b="0" i="0" dirty="0">
                <a:solidFill>
                  <a:srgbClr val="1B1B1B"/>
                </a:solidFill>
                <a:effectLst/>
                <a:latin typeface="Cambria" panose="02040503050406030204" pitchFamily="18" charset="0"/>
              </a:rPr>
              <a:t>最上，</a:t>
            </a:r>
            <a:r>
              <a:rPr lang="en" altLang="zh-TW" b="0" i="0" dirty="0">
                <a:solidFill>
                  <a:srgbClr val="1B1B1B"/>
                </a:solidFill>
                <a:effectLst/>
                <a:latin typeface="Cambria" panose="02040503050406030204" pitchFamily="18" charset="0"/>
              </a:rPr>
              <a:t>I</a:t>
            </a:r>
            <a:r>
              <a:rPr lang="zh-TW" altLang="en-US" b="0" i="0" dirty="0">
                <a:solidFill>
                  <a:srgbClr val="1B1B1B"/>
                </a:solidFill>
                <a:effectLst/>
                <a:latin typeface="Cambria" panose="02040503050406030204" pitchFamily="18" charset="0"/>
              </a:rPr>
              <a:t>型細胞凋亡：特徵為細胞膜膜泡化（</a:t>
            </a:r>
            <a:r>
              <a:rPr lang="en" altLang="zh-TW" b="0" i="0" dirty="0">
                <a:solidFill>
                  <a:srgbClr val="1B1B1B"/>
                </a:solidFill>
                <a:effectLst/>
                <a:latin typeface="Cambria" panose="02040503050406030204" pitchFamily="18" charset="0"/>
              </a:rPr>
              <a:t>blebbing</a:t>
            </a:r>
            <a:r>
              <a:rPr lang="zh-TW" altLang="en" b="0" i="0" dirty="0">
                <a:solidFill>
                  <a:srgbClr val="1B1B1B"/>
                </a:solidFill>
                <a:effectLst/>
                <a:latin typeface="Cambria" panose="02040503050406030204" pitchFamily="18" charset="0"/>
              </a:rPr>
              <a:t>）</a:t>
            </a:r>
            <a:r>
              <a:rPr lang="zh-TW" altLang="en-US" b="0" i="0" dirty="0">
                <a:solidFill>
                  <a:srgbClr val="1B1B1B"/>
                </a:solidFill>
                <a:effectLst/>
                <a:latin typeface="Cambria" panose="02040503050406030204" pitchFamily="18" charset="0"/>
              </a:rPr>
              <a:t>、細胞質皺縮、染色質濃縮與邊集（</a:t>
            </a:r>
            <a:r>
              <a:rPr lang="en" altLang="zh-TW" b="0" i="0" dirty="0">
                <a:solidFill>
                  <a:srgbClr val="1B1B1B"/>
                </a:solidFill>
                <a:effectLst/>
                <a:latin typeface="Cambria" panose="02040503050406030204" pitchFamily="18" charset="0"/>
              </a:rPr>
              <a:t>chromatin margination</a:t>
            </a:r>
            <a:r>
              <a:rPr lang="zh-TW" altLang="en" b="0" i="0" dirty="0">
                <a:solidFill>
                  <a:srgbClr val="1B1B1B"/>
                </a:solidFill>
                <a:effectLst/>
                <a:latin typeface="Cambria" panose="02040503050406030204" pitchFamily="18" charset="0"/>
              </a:rPr>
              <a:t>）、</a:t>
            </a:r>
            <a:r>
              <a:rPr lang="en" altLang="zh-TW" b="0" i="0" dirty="0">
                <a:solidFill>
                  <a:srgbClr val="1B1B1B"/>
                </a:solidFill>
                <a:effectLst/>
                <a:latin typeface="Cambria" panose="02040503050406030204" pitchFamily="18" charset="0"/>
              </a:rPr>
              <a:t>DNA </a:t>
            </a:r>
            <a:r>
              <a:rPr lang="zh-TW" altLang="en-US" b="0" i="0" dirty="0">
                <a:solidFill>
                  <a:srgbClr val="1B1B1B"/>
                </a:solidFill>
                <a:effectLst/>
                <a:latin typeface="Cambria" panose="02040503050406030204" pitchFamily="18" charset="0"/>
              </a:rPr>
              <a:t>片段化、細胞質收縮，最後斷裂為凋亡小體（</a:t>
            </a:r>
            <a:r>
              <a:rPr lang="en" altLang="zh-TW" b="0" i="0" dirty="0">
                <a:solidFill>
                  <a:srgbClr val="1B1B1B"/>
                </a:solidFill>
                <a:effectLst/>
                <a:latin typeface="Cambria" panose="02040503050406030204" pitchFamily="18" charset="0"/>
              </a:rPr>
              <a:t>apoptotic bodies</a:t>
            </a:r>
            <a:r>
              <a:rPr lang="zh-TW" altLang="en" b="0" i="0" dirty="0">
                <a:solidFill>
                  <a:srgbClr val="1B1B1B"/>
                </a:solidFill>
                <a:effectLst/>
                <a:latin typeface="Cambria" panose="02040503050406030204" pitchFamily="18" charset="0"/>
              </a:rPr>
              <a:t>）</a:t>
            </a:r>
            <a:r>
              <a:rPr lang="zh-TW" altLang="en-US" b="0" i="0" dirty="0">
                <a:solidFill>
                  <a:srgbClr val="1B1B1B"/>
                </a:solidFill>
                <a:effectLst/>
                <a:latin typeface="Cambria" panose="02040503050406030204" pitchFamily="18" charset="0"/>
              </a:rPr>
              <a:t>，活化內部</a:t>
            </a:r>
            <a:r>
              <a:rPr lang="en-US" altLang="zh-TW" b="0" i="0" dirty="0">
                <a:solidFill>
                  <a:srgbClr val="1B1B1B"/>
                </a:solidFill>
                <a:effectLst/>
                <a:latin typeface="Cambria" panose="02040503050406030204" pitchFamily="18" charset="0"/>
              </a:rPr>
              <a:t>caspase</a:t>
            </a:r>
            <a:r>
              <a:rPr lang="zh-TW" altLang="en-US" b="0" i="0" dirty="0">
                <a:solidFill>
                  <a:srgbClr val="1B1B1B"/>
                </a:solidFill>
                <a:effectLst/>
                <a:latin typeface="Cambria" panose="02040503050406030204" pitchFamily="18" charset="0"/>
              </a:rPr>
              <a:t>誘導</a:t>
            </a:r>
            <a:r>
              <a:rPr lang="en-US" altLang="zh-TW" b="0" i="0" dirty="0">
                <a:solidFill>
                  <a:srgbClr val="1B1B1B"/>
                </a:solidFill>
                <a:effectLst/>
                <a:latin typeface="Cambria" panose="02040503050406030204" pitchFamily="18" charset="0"/>
              </a:rPr>
              <a:t>apoptosis</a:t>
            </a:r>
            <a:r>
              <a:rPr lang="zh-TW" altLang="en-US" b="0" i="0" dirty="0">
                <a:solidFill>
                  <a:srgbClr val="1B1B1B"/>
                </a:solidFill>
                <a:effectLst/>
                <a:latin typeface="Cambria" panose="02040503050406030204" pitchFamily="18" charset="0"/>
              </a:rPr>
              <a:t>產生。他不引發發炎反應，被鄰近的吞噬細胞吞噬並降解。</a:t>
            </a:r>
            <a:endParaRPr lang="en-US" altLang="zh-TW" b="0" i="0" dirty="0">
              <a:solidFill>
                <a:srgbClr val="1B1B1B"/>
              </a:solidFill>
              <a:effectLst/>
              <a:latin typeface="Cambria" panose="02040503050406030204" pitchFamily="18"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endParaRPr lang="en-US" altLang="zh-TW" b="0" i="0" dirty="0">
              <a:solidFill>
                <a:srgbClr val="1B1B1B"/>
              </a:solidFill>
              <a:effectLst/>
              <a:latin typeface="Cambria" panose="02040503050406030204" pitchFamily="18"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r>
              <a:rPr lang="zh-TW" altLang="en-US" b="0" i="0" dirty="0">
                <a:solidFill>
                  <a:srgbClr val="1B1B1B"/>
                </a:solidFill>
                <a:effectLst/>
                <a:latin typeface="Cambria" panose="02040503050406030204" pitchFamily="18" charset="0"/>
              </a:rPr>
              <a:t>最下，</a:t>
            </a:r>
            <a:r>
              <a:rPr lang="en" altLang="zh-TW" b="0" i="0" dirty="0">
                <a:solidFill>
                  <a:srgbClr val="1B1B1B"/>
                </a:solidFill>
                <a:effectLst/>
                <a:latin typeface="Cambria" panose="02040503050406030204" pitchFamily="18" charset="0"/>
              </a:rPr>
              <a:t>II</a:t>
            </a:r>
            <a:r>
              <a:rPr lang="zh-TW" altLang="en-US" b="0" i="0" dirty="0">
                <a:solidFill>
                  <a:srgbClr val="1B1B1B"/>
                </a:solidFill>
                <a:effectLst/>
                <a:latin typeface="Cambria" panose="02040503050406030204" pitchFamily="18" charset="0"/>
              </a:rPr>
              <a:t>型自噬性細胞死亡：特徵為細胞質內形成大量自噬泡（</a:t>
            </a:r>
            <a:r>
              <a:rPr lang="en" altLang="zh-TW" b="0" i="0" dirty="0">
                <a:solidFill>
                  <a:srgbClr val="1B1B1B"/>
                </a:solidFill>
                <a:effectLst/>
                <a:latin typeface="Cambria" panose="02040503050406030204" pitchFamily="18" charset="0"/>
              </a:rPr>
              <a:t>autophagosomes</a:t>
            </a:r>
            <a:r>
              <a:rPr lang="zh-TW" altLang="en" b="0" i="0" dirty="0">
                <a:solidFill>
                  <a:srgbClr val="1B1B1B"/>
                </a:solidFill>
                <a:effectLst/>
                <a:latin typeface="Cambria" panose="02040503050406030204" pitchFamily="18" charset="0"/>
              </a:rPr>
              <a:t>）</a:t>
            </a:r>
            <a:r>
              <a:rPr lang="zh-TW" altLang="en-US" b="0" i="0" dirty="0">
                <a:solidFill>
                  <a:srgbClr val="1B1B1B"/>
                </a:solidFill>
                <a:effectLst/>
                <a:latin typeface="Cambria" panose="02040503050406030204" pitchFamily="18" charset="0"/>
              </a:rPr>
              <a:t>和溶酶體（</a:t>
            </a:r>
            <a:r>
              <a:rPr lang="en" altLang="zh-TW" b="0" i="0" dirty="0">
                <a:solidFill>
                  <a:srgbClr val="1B1B1B"/>
                </a:solidFill>
                <a:effectLst/>
                <a:latin typeface="Cambria" panose="02040503050406030204" pitchFamily="18" charset="0"/>
              </a:rPr>
              <a:t>lysosomes</a:t>
            </a:r>
            <a:r>
              <a:rPr lang="zh-TW" altLang="en" b="0" i="0" dirty="0">
                <a:solidFill>
                  <a:srgbClr val="1B1B1B"/>
                </a:solidFill>
                <a:effectLst/>
                <a:latin typeface="Cambria" panose="02040503050406030204" pitchFamily="18" charset="0"/>
              </a:rPr>
              <a:t>）</a:t>
            </a:r>
            <a:r>
              <a:rPr lang="zh-TW" altLang="en-US" b="0" i="0" dirty="0">
                <a:solidFill>
                  <a:srgbClr val="1B1B1B"/>
                </a:solidFill>
                <a:effectLst/>
                <a:latin typeface="Cambria" panose="02040503050406030204" pitchFamily="18" charset="0"/>
              </a:rPr>
              <a:t>，兩者融合後形成「自噬溶體（</a:t>
            </a:r>
            <a:r>
              <a:rPr lang="en" altLang="zh-TW" b="0" i="0" dirty="0">
                <a:solidFill>
                  <a:srgbClr val="1B1B1B"/>
                </a:solidFill>
                <a:effectLst/>
                <a:latin typeface="Cambria" panose="02040503050406030204" pitchFamily="18" charset="0"/>
              </a:rPr>
              <a:t>autolysosomes</a:t>
            </a:r>
            <a:r>
              <a:rPr lang="zh-TW" altLang="en" b="0" i="0" dirty="0">
                <a:solidFill>
                  <a:srgbClr val="1B1B1B"/>
                </a:solidFill>
                <a:effectLst/>
                <a:latin typeface="Cambria" panose="02040503050406030204" pitchFamily="18" charset="0"/>
              </a:rPr>
              <a:t>）」，</a:t>
            </a:r>
            <a:r>
              <a:rPr lang="zh-TW" altLang="en-US" b="0" i="0" dirty="0">
                <a:solidFill>
                  <a:srgbClr val="1B1B1B"/>
                </a:solidFill>
                <a:effectLst/>
                <a:latin typeface="Cambria" panose="02040503050406030204" pitchFamily="18" charset="0"/>
              </a:rPr>
              <a:t>進行胞器降解，細胞最終消耗完內部結構而死亡。</a:t>
            </a:r>
            <a:endParaRPr lang="en-US" altLang="zh-TW" b="0" i="0" dirty="0">
              <a:solidFill>
                <a:srgbClr val="1B1B1B"/>
              </a:solidFill>
              <a:effectLst/>
              <a:latin typeface="Cambria" panose="02040503050406030204" pitchFamily="18"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endParaRPr lang="en-US" altLang="zh-TW" b="0" i="0" dirty="0">
              <a:solidFill>
                <a:srgbClr val="1B1B1B"/>
              </a:solidFill>
              <a:effectLst/>
              <a:latin typeface="Cambria" panose="02040503050406030204" pitchFamily="18"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r>
              <a:rPr lang="zh-TW" altLang="en-US" b="0" i="0" dirty="0">
                <a:solidFill>
                  <a:srgbClr val="1B1B1B"/>
                </a:solidFill>
                <a:effectLst/>
                <a:latin typeface="Cambria" panose="02040503050406030204" pitchFamily="18" charset="0"/>
              </a:rPr>
              <a:t>中間，</a:t>
            </a:r>
            <a:r>
              <a:rPr lang="en" altLang="zh-TW" b="0" i="0" dirty="0">
                <a:solidFill>
                  <a:srgbClr val="1B1B1B"/>
                </a:solidFill>
                <a:effectLst/>
                <a:latin typeface="Cambria" panose="02040503050406030204" pitchFamily="18" charset="0"/>
              </a:rPr>
              <a:t>III </a:t>
            </a:r>
            <a:r>
              <a:rPr lang="zh-TW" altLang="en-US" b="0" i="0" dirty="0">
                <a:solidFill>
                  <a:srgbClr val="1B1B1B"/>
                </a:solidFill>
                <a:effectLst/>
                <a:latin typeface="Cambria" panose="02040503050406030204" pitchFamily="18" charset="0"/>
              </a:rPr>
              <a:t>型壞死性細胞死亡：</a:t>
            </a:r>
            <a:r>
              <a:rPr lang="zh-TW" altLang="en-US" dirty="0"/>
              <a:t>當細胞遭受劇烈損傷（如缺血、中毒、機械傷害），細胞膜受損 → </a:t>
            </a:r>
            <a:r>
              <a:rPr lang="en" altLang="zh-TW" b="1" dirty="0"/>
              <a:t>Ca²⁺ </a:t>
            </a:r>
            <a:r>
              <a:rPr lang="zh-TW" altLang="en-US" b="1" dirty="0"/>
              <a:t>從細胞外大量流入，會活化內部降解酵素及破壞粒線體功能，使細胞腫脹破裂，內部物質流出後引發強烈的發炎反應。</a:t>
            </a:r>
            <a:endParaRPr lang="zh-TW" altLang="en-US" dirty="0"/>
          </a:p>
          <a:p>
            <a:endParaRPr lang="en-US" altLang="zh-TW" b="0" i="0" dirty="0">
              <a:solidFill>
                <a:srgbClr val="1B1B1B"/>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1B1B1B"/>
                </a:solidFill>
                <a:effectLst/>
                <a:latin typeface="+mn-lt"/>
              </a:rPr>
              <a:t>目前</a:t>
            </a:r>
            <a:r>
              <a:rPr lang="en-US" altLang="zh-TW" b="0" i="0" dirty="0">
                <a:solidFill>
                  <a:srgbClr val="1B1B1B"/>
                </a:solidFill>
                <a:effectLst/>
                <a:latin typeface="+mn-lt"/>
              </a:rPr>
              <a:t>Apoptosis </a:t>
            </a:r>
            <a:r>
              <a:rPr lang="zh-TW" altLang="en-US" b="0" i="0" dirty="0">
                <a:solidFill>
                  <a:srgbClr val="1B1B1B"/>
                </a:solidFill>
                <a:effectLst/>
                <a:latin typeface="+mn-lt"/>
              </a:rPr>
              <a:t>是被研究最深入、技術最成熟、與疾病關聯最直接的細胞死亡</a:t>
            </a:r>
            <a:r>
              <a:rPr lang="en-US" altLang="zh-TW" b="0" i="0" dirty="0">
                <a:solidFill>
                  <a:srgbClr val="1B1B1B"/>
                </a:solidFill>
                <a:effectLst/>
                <a:latin typeface="+mn-lt"/>
              </a:rPr>
              <a:t>pathway</a:t>
            </a:r>
            <a:r>
              <a:rPr lang="zh-TW" altLang="en-US" b="0" i="0" dirty="0">
                <a:solidFill>
                  <a:srgbClr val="1B1B1B"/>
                </a:solidFill>
                <a:effectLst/>
                <a:latin typeface="+mn-lt"/>
              </a:rPr>
              <a:t>，並且如同剛才所說</a:t>
            </a:r>
            <a:r>
              <a:rPr lang="en" altLang="zh-TW" b="0" i="0" dirty="0">
                <a:latin typeface="+mn-lt"/>
              </a:rPr>
              <a:t>Apoptosis </a:t>
            </a:r>
            <a:r>
              <a:rPr lang="zh-TW" altLang="en-US" b="0" i="0" dirty="0">
                <a:latin typeface="+mn-lt"/>
              </a:rPr>
              <a:t>不會引發免疫反應或細胞內容物外洩，利於控制細胞去除、不破壞周圍組織，是比較安全、可預期、可調控的分子機制。</a:t>
            </a:r>
            <a:endParaRPr lang="en-US" altLang="zh-TW" b="0" i="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latin typeface="+mn-lt"/>
            </a:endParaRPr>
          </a:p>
          <a:p>
            <a:r>
              <a:rPr lang="zh-TW" altLang="en-US" b="0" i="0" dirty="0">
                <a:solidFill>
                  <a:srgbClr val="1B1B1B"/>
                </a:solidFill>
                <a:effectLst/>
                <a:latin typeface="+mn-lt"/>
              </a:rPr>
              <a:t>具備良好的應用性與治療潛力，是生物醫學研究首選的切入點。</a:t>
            </a:r>
          </a:p>
          <a:p>
            <a:pPr marL="342900" indent="-342900">
              <a:buAutoNum type="arabicPeriod"/>
            </a:pPr>
            <a:r>
              <a:rPr lang="en" altLang="zh-TW" b="0" i="0" dirty="0">
                <a:solidFill>
                  <a:srgbClr val="1B1B1B"/>
                </a:solidFill>
                <a:effectLst/>
                <a:latin typeface="+mn-lt"/>
              </a:rPr>
              <a:t>Apoptosis </a:t>
            </a:r>
            <a:r>
              <a:rPr lang="zh-TW" altLang="en-US" b="0" i="0" dirty="0">
                <a:solidFill>
                  <a:srgbClr val="1B1B1B"/>
                </a:solidFill>
                <a:effectLst/>
                <a:latin typeface="+mn-lt"/>
              </a:rPr>
              <a:t>是最早被發現和系統化研究的 </a:t>
            </a:r>
            <a:r>
              <a:rPr lang="en" altLang="zh-TW" b="0" i="0" dirty="0">
                <a:solidFill>
                  <a:srgbClr val="1B1B1B"/>
                </a:solidFill>
                <a:effectLst/>
                <a:latin typeface="+mn-lt"/>
              </a:rPr>
              <a:t>RCD </a:t>
            </a:r>
            <a:r>
              <a:rPr lang="zh-TW" altLang="en-US" b="0" i="0" dirty="0">
                <a:solidFill>
                  <a:srgbClr val="1B1B1B"/>
                </a:solidFill>
                <a:effectLst/>
                <a:latin typeface="+mn-lt"/>
              </a:rPr>
              <a:t>類型</a:t>
            </a:r>
            <a:endParaRPr lang="en-US" altLang="zh-TW" b="0" i="0" dirty="0">
              <a:solidFill>
                <a:srgbClr val="1B1B1B"/>
              </a:solidFill>
              <a:effectLst/>
              <a:latin typeface="+mn-lt"/>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 altLang="zh-TW" b="0" i="0" dirty="0">
                <a:latin typeface="+mn-lt"/>
              </a:rPr>
              <a:t>Apoptosis </a:t>
            </a:r>
            <a:r>
              <a:rPr lang="zh-TW" altLang="en-US" b="0" i="0" dirty="0">
                <a:latin typeface="+mn-lt"/>
              </a:rPr>
              <a:t>不會引發免疫反應或細胞內容物外洩，利於控制細胞去除、不破壞周圍組織。比起 </a:t>
            </a:r>
            <a:r>
              <a:rPr lang="en" altLang="zh-TW" b="0" i="0" dirty="0">
                <a:latin typeface="+mn-lt"/>
              </a:rPr>
              <a:t>necrosis </a:t>
            </a:r>
            <a:r>
              <a:rPr lang="zh-TW" altLang="en-US" b="0" i="0" dirty="0">
                <a:latin typeface="+mn-lt"/>
              </a:rPr>
              <a:t>或 </a:t>
            </a:r>
            <a:r>
              <a:rPr lang="en" altLang="zh-TW" b="0" i="0" dirty="0" err="1">
                <a:latin typeface="+mn-lt"/>
              </a:rPr>
              <a:t>pyroptosis</a:t>
            </a:r>
            <a:r>
              <a:rPr lang="zh-TW" altLang="en" b="0" i="0" dirty="0">
                <a:latin typeface="+mn-lt"/>
              </a:rPr>
              <a:t>（</a:t>
            </a:r>
            <a:r>
              <a:rPr lang="zh-TW" altLang="en-US" b="0" i="0" dirty="0">
                <a:latin typeface="+mn-lt"/>
              </a:rPr>
              <a:t>會造成細胞膜破裂與發炎），</a:t>
            </a:r>
            <a:r>
              <a:rPr lang="en" altLang="zh-TW" b="0" i="0" dirty="0">
                <a:latin typeface="+mn-lt"/>
              </a:rPr>
              <a:t>apoptosis </a:t>
            </a:r>
            <a:r>
              <a:rPr lang="zh-TW" altLang="en-US" b="0" i="0" dirty="0">
                <a:latin typeface="+mn-lt"/>
              </a:rPr>
              <a:t>較安全、可預期、可調控。</a:t>
            </a:r>
            <a:endParaRPr lang="en-US" altLang="zh-TW" b="0" i="0" dirty="0">
              <a:latin typeface="+mn-lt"/>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zh-TW" altLang="en-US" b="0" i="0" dirty="0">
                <a:latin typeface="+mn-lt"/>
              </a:rPr>
              <a:t>癌細胞常有抗凋亡特性，例如：</a:t>
            </a:r>
            <a:r>
              <a:rPr lang="en" altLang="zh-TW" b="0" i="0" dirty="0">
                <a:latin typeface="+mn-lt"/>
              </a:rPr>
              <a:t>p53 </a:t>
            </a:r>
            <a:r>
              <a:rPr lang="zh-TW" altLang="en-US" b="0" i="0" dirty="0">
                <a:latin typeface="+mn-lt"/>
              </a:rPr>
              <a:t>突變、</a:t>
            </a:r>
            <a:r>
              <a:rPr lang="en" altLang="zh-TW" b="0" i="0" dirty="0">
                <a:latin typeface="+mn-lt"/>
              </a:rPr>
              <a:t>Bcl-2 </a:t>
            </a:r>
            <a:r>
              <a:rPr lang="zh-TW" altLang="en-US" b="0" i="0" dirty="0">
                <a:latin typeface="+mn-lt"/>
              </a:rPr>
              <a:t>過度表現、</a:t>
            </a:r>
            <a:r>
              <a:rPr lang="en" altLang="zh-TW" b="0" i="0" dirty="0">
                <a:latin typeface="+mn-lt"/>
              </a:rPr>
              <a:t>caspase </a:t>
            </a:r>
            <a:r>
              <a:rPr lang="zh-TW" altLang="en-US" b="0" i="0" dirty="0">
                <a:latin typeface="+mn-lt"/>
              </a:rPr>
              <a:t>活性缺失。</a:t>
            </a:r>
            <a:endParaRPr lang="en-US" altLang="zh-TW" b="0" i="0" dirty="0">
              <a:latin typeface="+mn-lt"/>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zh-TW" altLang="en-US" b="0" i="0" dirty="0">
                <a:solidFill>
                  <a:srgbClr val="1B1B1B"/>
                </a:solidFill>
                <a:effectLst/>
                <a:latin typeface="+mn-lt"/>
              </a:rPr>
              <a:t>實驗技術成熟、試劑充足、標準化高</a:t>
            </a:r>
            <a:endParaRPr lang="en-US" altLang="zh-TW" b="0" i="0" dirty="0">
              <a:solidFill>
                <a:srgbClr val="1B1B1B"/>
              </a:solidFill>
              <a:effectLst/>
              <a:latin typeface="+mn-lt"/>
            </a:endParaRP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endParaRPr lang="en-US" altLang="zh-TW" b="0" i="0" dirty="0">
              <a:solidFill>
                <a:srgbClr val="1B1B1B"/>
              </a:solidFill>
              <a:effectLst/>
              <a:latin typeface="Cambria" panose="02040503050406030204" pitchFamily="18"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endParaRPr lang="en-US" altLang="zh-TW" b="0" i="0" dirty="0">
              <a:solidFill>
                <a:srgbClr val="1B1B1B"/>
              </a:solidFill>
              <a:effectLst/>
              <a:latin typeface="Cambria" panose="02040503050406030204" pitchFamily="18"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endParaRPr lang="en-US" altLang="zh-TW" b="0" i="0" dirty="0">
              <a:solidFill>
                <a:srgbClr val="1B1B1B"/>
              </a:solidFill>
              <a:effectLst/>
              <a:latin typeface="Cambria"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1B1B1B"/>
                </a:solidFill>
                <a:effectLst/>
                <a:latin typeface="Cambria" panose="02040503050406030204" pitchFamily="18" charset="0"/>
              </a:rPr>
              <a:t>透過產生氧化應激，這種功能障礙導致粒線體膜電位喪失，從而導致細胞色素</a:t>
            </a:r>
            <a:r>
              <a:rPr lang="en-US" altLang="zh-TW" b="0" i="0" dirty="0">
                <a:solidFill>
                  <a:srgbClr val="1B1B1B"/>
                </a:solidFill>
                <a:effectLst/>
                <a:latin typeface="Cambria" panose="02040503050406030204" pitchFamily="18" charset="0"/>
              </a:rPr>
              <a:t>c</a:t>
            </a:r>
            <a:r>
              <a:rPr lang="zh-TW" altLang="en-US" b="0" i="0" dirty="0">
                <a:solidFill>
                  <a:srgbClr val="1B1B1B"/>
                </a:solidFill>
                <a:effectLst/>
                <a:latin typeface="Cambria" panose="02040503050406030204" pitchFamily="18" charset="0"/>
              </a:rPr>
              <a:t>釋放到細胞質中。細胞色素</a:t>
            </a:r>
            <a:r>
              <a:rPr lang="en-US" altLang="zh-TW" b="0" i="0" dirty="0">
                <a:solidFill>
                  <a:srgbClr val="1B1B1B"/>
                </a:solidFill>
                <a:effectLst/>
                <a:latin typeface="Cambria" panose="02040503050406030204" pitchFamily="18" charset="0"/>
              </a:rPr>
              <a:t>c</a:t>
            </a:r>
            <a:r>
              <a:rPr lang="zh-TW" altLang="en-US" b="0" i="0" dirty="0">
                <a:solidFill>
                  <a:srgbClr val="1B1B1B"/>
                </a:solidFill>
                <a:effectLst/>
                <a:latin typeface="Cambria" panose="02040503050406030204" pitchFamily="18" charset="0"/>
              </a:rPr>
              <a:t>的釋放使得凋亡小體形成，從而募集並活化</a:t>
            </a:r>
            <a:r>
              <a:rPr lang="en-US" altLang="zh-TW" b="0" i="0" dirty="0">
                <a:solidFill>
                  <a:srgbClr val="1B1B1B"/>
                </a:solidFill>
                <a:effectLst/>
                <a:latin typeface="Cambria" panose="02040503050406030204" pitchFamily="18" charset="0"/>
              </a:rPr>
              <a:t>caspase-9</a:t>
            </a:r>
            <a:r>
              <a:rPr lang="zh-TW" altLang="en-US" b="0" i="0" dirty="0">
                <a:solidFill>
                  <a:srgbClr val="1B1B1B"/>
                </a:solidFill>
                <a:effectLst/>
                <a:latin typeface="Cambria" panose="02040503050406030204" pitchFamily="18" charset="0"/>
              </a:rPr>
              <a:t>。隨後的級聯反應導致效應胱天蛋白酶（如</a:t>
            </a:r>
            <a:r>
              <a:rPr lang="en-US" altLang="zh-TW" b="0" i="0" dirty="0">
                <a:solidFill>
                  <a:srgbClr val="1B1B1B"/>
                </a:solidFill>
                <a:effectLst/>
                <a:latin typeface="Cambria" panose="02040503050406030204" pitchFamily="18" charset="0"/>
              </a:rPr>
              <a:t>caspase-3</a:t>
            </a:r>
            <a:r>
              <a:rPr lang="zh-TW" altLang="en-US" b="0" i="0" dirty="0">
                <a:solidFill>
                  <a:srgbClr val="1B1B1B"/>
                </a:solidFill>
                <a:effectLst/>
                <a:latin typeface="Cambria" panose="02040503050406030204" pitchFamily="18" charset="0"/>
              </a:rPr>
              <a:t>）的激活，從而促進必需蛋白質的裂解和細胞死亡</a:t>
            </a:r>
            <a:endParaRPr lang="en-US" altLang="zh-TW" b="0" i="0" dirty="0">
              <a:solidFill>
                <a:srgbClr val="1B1B1B"/>
              </a:solidFill>
              <a:effectLst/>
              <a:latin typeface="Cambria" panose="02040503050406030204" pitchFamily="18"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endParaRPr lang="en-US" altLang="zh-TW" b="0" i="0" dirty="0">
              <a:solidFill>
                <a:srgbClr val="1B1B1B"/>
              </a:solidFill>
              <a:effectLst/>
              <a:latin typeface="Cambria" panose="02040503050406030204" pitchFamily="18" charset="0"/>
            </a:endParaRPr>
          </a:p>
        </p:txBody>
      </p:sp>
      <p:sp>
        <p:nvSpPr>
          <p:cNvPr id="4" name="投影片編號版面配置區 3">
            <a:extLst>
              <a:ext uri="{FF2B5EF4-FFF2-40B4-BE49-F238E27FC236}">
                <a16:creationId xmlns:a16="http://schemas.microsoft.com/office/drawing/2014/main" id="{7AA5E258-4745-E66D-C7E1-CB62043F8543}"/>
              </a:ext>
            </a:extLst>
          </p:cNvPr>
          <p:cNvSpPr>
            <a:spLocks noGrp="1"/>
          </p:cNvSpPr>
          <p:nvPr>
            <p:ph type="sldNum" sz="quarter" idx="5"/>
          </p:nvPr>
        </p:nvSpPr>
        <p:spPr/>
        <p:txBody>
          <a:bodyPr/>
          <a:lstStyle/>
          <a:p>
            <a:fld id="{61CA63BF-C9DC-9844-BCA0-064E1D9BA987}" type="slidenum">
              <a:rPr kumimoji="1" lang="zh-TW" altLang="en-US" smtClean="0"/>
              <a:t>4</a:t>
            </a:fld>
            <a:endParaRPr kumimoji="1" lang="zh-TW" altLang="en-US"/>
          </a:p>
        </p:txBody>
      </p:sp>
    </p:spTree>
    <p:extLst>
      <p:ext uri="{BB962C8B-B14F-4D97-AF65-F5344CB8AC3E}">
        <p14:creationId xmlns:p14="http://schemas.microsoft.com/office/powerpoint/2010/main" val="1644615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48A44-7179-9284-7429-0F16143C219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F6C1556-8413-95AC-8DDE-135CDDF9F9E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E5377AD-0B92-C13D-E689-28C55D44D372}"/>
              </a:ext>
            </a:extLst>
          </p:cNvPr>
          <p:cNvSpPr>
            <a:spLocks noGrp="1"/>
          </p:cNvSpPr>
          <p:nvPr>
            <p:ph type="body" idx="1"/>
          </p:nvPr>
        </p:nvSpPr>
        <p:spPr/>
        <p:txBody>
          <a:bodyPr/>
          <a:lstStyle/>
          <a:p>
            <a:r>
              <a:rPr kumimoji="1" lang="zh-TW" altLang="en-US" b="0" dirty="0"/>
              <a:t>接下來要介紹的是</a:t>
            </a:r>
            <a:r>
              <a:rPr kumimoji="1" lang="en-US" altLang="zh-TW" b="0" dirty="0"/>
              <a:t>apoptosis</a:t>
            </a:r>
            <a:r>
              <a:rPr kumimoji="1" lang="zh-TW" altLang="en-US" b="0" dirty="0"/>
              <a:t>，也就是細胞凋亡。細胞在受到細胞壓力或</a:t>
            </a:r>
            <a:r>
              <a:rPr kumimoji="1" lang="en-US" altLang="zh-TW" b="0" dirty="0"/>
              <a:t>DNA</a:t>
            </a:r>
            <a:r>
              <a:rPr kumimoji="1" lang="zh-TW" altLang="en-US" b="0" dirty="0"/>
              <a:t>損傷的情況下，會啟動細胞凋亡來淘汰受損細胞。</a:t>
            </a:r>
            <a:r>
              <a:rPr kumimoji="1" lang="en-US" altLang="zh-TW" b="0" dirty="0"/>
              <a:t>Apoptosis</a:t>
            </a:r>
            <a:r>
              <a:rPr kumimoji="1" lang="zh-TW" altLang="en-US" b="0" dirty="0"/>
              <a:t>主要分為兩種途徑，分別是內源性和外源性。</a:t>
            </a:r>
            <a:endParaRPr kumimoji="1" lang="en-US" altLang="zh-TW" b="0" dirty="0"/>
          </a:p>
          <a:p>
            <a:endParaRPr kumimoji="1" lang="en-US" altLang="zh-TW" b="0" dirty="0"/>
          </a:p>
          <a:p>
            <a:pPr marL="0" indent="0">
              <a:buFont typeface="+mj-lt"/>
              <a:buNone/>
            </a:pPr>
            <a:r>
              <a:rPr kumimoji="1" lang="zh-TW" altLang="en-US" b="0" dirty="0"/>
              <a:t>首先是外源性</a:t>
            </a:r>
            <a:r>
              <a:rPr kumimoji="1" lang="en-US" altLang="zh-TW" b="0" dirty="0"/>
              <a:t>pathway</a:t>
            </a:r>
            <a:r>
              <a:rPr kumimoji="1" lang="zh-TW" altLang="en-US" b="0" dirty="0"/>
              <a:t>，</a:t>
            </a:r>
            <a:r>
              <a:rPr lang="zh-TW" altLang="en-US" b="0" dirty="0"/>
              <a:t>是由細胞外的訊號所觸發，進而啟動分子機制調控：</a:t>
            </a:r>
          </a:p>
          <a:p>
            <a:pPr marL="228600" indent="-228600">
              <a:buFont typeface="+mj-lt"/>
              <a:buAutoNum type="arabicPeriod"/>
            </a:pPr>
            <a:r>
              <a:rPr lang="zh-TW" altLang="en-US" b="0" dirty="0"/>
              <a:t>他的作用途徑首先是由細胞外的</a:t>
            </a:r>
            <a:r>
              <a:rPr lang="en" altLang="zh-TW" b="0" dirty="0"/>
              <a:t>Death Ligands</a:t>
            </a:r>
            <a:r>
              <a:rPr lang="zh-TW" altLang="en" b="0" dirty="0"/>
              <a:t>（</a:t>
            </a:r>
            <a:r>
              <a:rPr lang="zh-TW" altLang="en-US" b="0" dirty="0"/>
              <a:t>死亡配體）如 </a:t>
            </a:r>
            <a:r>
              <a:rPr lang="en" altLang="zh-TW" b="0" dirty="0"/>
              <a:t>TNF-</a:t>
            </a:r>
            <a:r>
              <a:rPr lang="el-GR" altLang="zh-TW" b="0" dirty="0"/>
              <a:t>α</a:t>
            </a:r>
            <a:r>
              <a:rPr lang="zh-TW" altLang="el-GR" b="0" dirty="0"/>
              <a:t>、</a:t>
            </a:r>
            <a:r>
              <a:rPr lang="en" altLang="zh-TW" b="0" dirty="0"/>
              <a:t>FASL</a:t>
            </a:r>
            <a:r>
              <a:rPr lang="zh-TW" altLang="en" b="0" dirty="0"/>
              <a:t>、</a:t>
            </a:r>
            <a:r>
              <a:rPr lang="en" altLang="zh-TW" b="0" dirty="0"/>
              <a:t>TRAIL</a:t>
            </a:r>
            <a:r>
              <a:rPr lang="zh-TW" altLang="en-US" b="0" dirty="0"/>
              <a:t>作為訊號，接到細胞膜的 </a:t>
            </a:r>
            <a:r>
              <a:rPr lang="en" altLang="zh-TW" b="0" dirty="0"/>
              <a:t>Death Receptors</a:t>
            </a:r>
            <a:r>
              <a:rPr lang="zh-TW" altLang="en" b="0" dirty="0"/>
              <a:t>（</a:t>
            </a:r>
            <a:r>
              <a:rPr lang="zh-TW" altLang="en-US" b="0" dirty="0"/>
              <a:t>死亡受體）：</a:t>
            </a:r>
            <a:r>
              <a:rPr lang="en" altLang="zh-TW" b="0" dirty="0"/>
              <a:t>TNFR1</a:t>
            </a:r>
            <a:r>
              <a:rPr lang="zh-TW" altLang="en" b="0" dirty="0"/>
              <a:t>、</a:t>
            </a:r>
            <a:r>
              <a:rPr lang="en" altLang="zh-TW" b="0" dirty="0"/>
              <a:t>FAS</a:t>
            </a:r>
            <a:r>
              <a:rPr lang="zh-TW" altLang="en" b="0" dirty="0"/>
              <a:t>、</a:t>
            </a:r>
            <a:r>
              <a:rPr lang="en" altLang="zh-TW" b="0" dirty="0"/>
              <a:t>DR5 </a:t>
            </a:r>
            <a:endParaRPr lang="en-US" altLang="zh-TW" b="0" dirty="0"/>
          </a:p>
          <a:p>
            <a:pPr marL="228600" indent="-228600">
              <a:buFont typeface="+mj-lt"/>
              <a:buAutoNum type="arabicPeriod"/>
            </a:pPr>
            <a:r>
              <a:rPr lang="zh-TW" altLang="en-US" b="0" dirty="0"/>
              <a:t>接著這些接上</a:t>
            </a:r>
            <a:r>
              <a:rPr lang="en-US" altLang="zh-TW" b="0" dirty="0"/>
              <a:t>ligands</a:t>
            </a:r>
            <a:r>
              <a:rPr lang="zh-TW" altLang="en-US" b="0" dirty="0"/>
              <a:t>的 </a:t>
            </a:r>
            <a:r>
              <a:rPr lang="en-US" altLang="zh-TW" b="0" dirty="0"/>
              <a:t>receptors</a:t>
            </a:r>
            <a:r>
              <a:rPr lang="zh-TW" altLang="en-US" b="0" dirty="0"/>
              <a:t>會與 </a:t>
            </a:r>
            <a:r>
              <a:rPr lang="en" altLang="zh-TW" b="0" dirty="0"/>
              <a:t>FADD / TRADD adaptor </a:t>
            </a:r>
            <a:r>
              <a:rPr lang="zh-TW" altLang="en-US" b="0" dirty="0"/>
              <a:t>蛋白、</a:t>
            </a:r>
            <a:r>
              <a:rPr lang="en" altLang="zh-TW" b="0" dirty="0"/>
              <a:t>Pro-caspase-8 </a:t>
            </a:r>
            <a:r>
              <a:rPr lang="zh-TW" altLang="en-US" b="0" dirty="0"/>
              <a:t>結合形成</a:t>
            </a:r>
            <a:r>
              <a:rPr lang="en" altLang="zh-TW" b="0" dirty="0"/>
              <a:t>DISC</a:t>
            </a:r>
            <a:r>
              <a:rPr lang="zh-TW" altLang="en-US" b="0" dirty="0"/>
              <a:t>，中文是死亡誘導訊號複合體（</a:t>
            </a:r>
            <a:r>
              <a:rPr lang="en" altLang="zh-TW" b="0" dirty="0"/>
              <a:t>DISC</a:t>
            </a:r>
            <a:r>
              <a:rPr lang="zh-TW" altLang="en" b="0" dirty="0"/>
              <a:t>）</a:t>
            </a:r>
            <a:endParaRPr lang="en-US" altLang="zh-TW" b="0" dirty="0"/>
          </a:p>
          <a:p>
            <a:pPr marL="228600" indent="-228600">
              <a:buFont typeface="+mj-lt"/>
              <a:buAutoNum type="arabicPeriod"/>
            </a:pPr>
            <a:r>
              <a:rPr lang="en" altLang="zh-TW" b="0" dirty="0"/>
              <a:t>DISC</a:t>
            </a:r>
            <a:r>
              <a:rPr lang="zh-TW" altLang="en-US" b="0" dirty="0"/>
              <a:t>會活化 </a:t>
            </a:r>
            <a:r>
              <a:rPr lang="en" altLang="zh-TW" b="0" dirty="0"/>
              <a:t>Caspase-8</a:t>
            </a:r>
            <a:r>
              <a:rPr lang="zh-TW" altLang="en-US" b="0" dirty="0"/>
              <a:t>，這種酵素有兩種作用：</a:t>
            </a:r>
            <a:endParaRPr lang="en-US" altLang="zh-TW" b="0" dirty="0"/>
          </a:p>
          <a:p>
            <a:pPr marL="685800" lvl="1" indent="-228600">
              <a:buFont typeface="+mj-lt"/>
              <a:buAutoNum type="arabicParenR"/>
            </a:pPr>
            <a:r>
              <a:rPr lang="zh-TW" altLang="en-US" b="0" dirty="0"/>
              <a:t>活化 </a:t>
            </a:r>
            <a:r>
              <a:rPr lang="en" altLang="zh-TW" b="0" dirty="0"/>
              <a:t>Caspase-3 / Caspase-7</a:t>
            </a:r>
            <a:r>
              <a:rPr lang="zh-TW" altLang="en" b="0" dirty="0"/>
              <a:t>，</a:t>
            </a:r>
            <a:r>
              <a:rPr lang="zh-TW" altLang="en-US" b="0" dirty="0"/>
              <a:t>進一步導致細胞凋亡</a:t>
            </a:r>
            <a:endParaRPr lang="en-US" altLang="zh-TW" b="0" dirty="0"/>
          </a:p>
          <a:p>
            <a:pPr marL="685800" lvl="1" indent="-228600">
              <a:buFont typeface="+mj-lt"/>
              <a:buAutoNum type="arabicParenR"/>
            </a:pPr>
            <a:r>
              <a:rPr lang="zh-TW" altLang="en-US" b="0" dirty="0"/>
              <a:t>或在</a:t>
            </a:r>
            <a:r>
              <a:rPr lang="en-US" altLang="zh-TW" b="0" dirty="0"/>
              <a:t>caspase-8</a:t>
            </a:r>
            <a:r>
              <a:rPr lang="zh-TW" altLang="en-US" b="0" dirty="0"/>
              <a:t>活化量不足以直接殺死細胞，因此</a:t>
            </a:r>
            <a:r>
              <a:rPr lang="en-US" altLang="zh-TW" b="0" dirty="0"/>
              <a:t>caspase-8</a:t>
            </a:r>
            <a:r>
              <a:rPr lang="zh-TW" altLang="en-US" b="0" dirty="0"/>
              <a:t>切割 </a:t>
            </a:r>
            <a:r>
              <a:rPr lang="en" altLang="zh-TW" b="0" dirty="0"/>
              <a:t>BID → </a:t>
            </a:r>
            <a:r>
              <a:rPr lang="zh-TW" altLang="en-US" b="0" dirty="0"/>
              <a:t>形成 </a:t>
            </a:r>
            <a:r>
              <a:rPr lang="en" altLang="zh-TW" b="0" dirty="0" err="1"/>
              <a:t>tBID</a:t>
            </a:r>
            <a:r>
              <a:rPr lang="zh-TW" altLang="en" b="0" dirty="0"/>
              <a:t>，</a:t>
            </a:r>
            <a:r>
              <a:rPr lang="en" altLang="zh-TW" dirty="0" err="1"/>
              <a:t>tBID</a:t>
            </a:r>
            <a:r>
              <a:rPr lang="en" altLang="zh-TW" dirty="0"/>
              <a:t> </a:t>
            </a:r>
            <a:r>
              <a:rPr lang="zh-TW" altLang="en-US" dirty="0"/>
              <a:t>刺激</a:t>
            </a:r>
            <a:r>
              <a:rPr lang="zh-TW" altLang="en-US" b="1" dirty="0"/>
              <a:t>粒線體釋放</a:t>
            </a:r>
            <a:r>
              <a:rPr lang="en" altLang="zh-TW" b="1" dirty="0"/>
              <a:t>cytochrome c</a:t>
            </a:r>
            <a:r>
              <a:rPr lang="zh-TW" altLang="en-US" b="1" dirty="0"/>
              <a:t>，</a:t>
            </a:r>
            <a:r>
              <a:rPr lang="zh-TW" altLang="en-US" dirty="0"/>
              <a:t>再透過內源性</a:t>
            </a:r>
            <a:r>
              <a:rPr lang="en-US" altLang="zh-TW" dirty="0"/>
              <a:t>pathway</a:t>
            </a:r>
            <a:r>
              <a:rPr lang="zh-TW" altLang="en-US" dirty="0"/>
              <a:t>回饋強化 </a:t>
            </a:r>
            <a:r>
              <a:rPr lang="en" altLang="zh-TW" dirty="0"/>
              <a:t>caspase </a:t>
            </a:r>
            <a:r>
              <a:rPr lang="zh-TW" altLang="en-US" dirty="0"/>
              <a:t>活化。</a:t>
            </a:r>
            <a:endParaRPr lang="en-US" altLang="zh-TW" dirty="0"/>
          </a:p>
          <a:p>
            <a:pPr marL="685800" lvl="1" indent="-228600">
              <a:buFont typeface="+mj-lt"/>
              <a:buAutoNum type="arabicParenR"/>
            </a:pPr>
            <a:endParaRPr lang="zh-TW" altLang="en-US" dirty="0"/>
          </a:p>
          <a:p>
            <a:r>
              <a:rPr kumimoji="1" lang="zh-TW" altLang="en-US" b="0" dirty="0"/>
              <a:t>另一種則為內源性</a:t>
            </a:r>
            <a:r>
              <a:rPr kumimoji="1" lang="en-US" altLang="zh-TW" b="0" dirty="0"/>
              <a:t>pathway</a:t>
            </a:r>
            <a:r>
              <a:rPr kumimoji="1" lang="zh-TW" altLang="en-US" b="0" dirty="0"/>
              <a:t>，是</a:t>
            </a:r>
            <a:r>
              <a:rPr lang="zh-TW" altLang="en-US" b="0" dirty="0"/>
              <a:t>由細胞內壓力或損傷觸發，如 </a:t>
            </a:r>
            <a:r>
              <a:rPr lang="en" altLang="zh-TW" b="0" dirty="0"/>
              <a:t>DNA </a:t>
            </a:r>
            <a:r>
              <a:rPr lang="zh-TW" altLang="en-US" b="0" dirty="0"/>
              <a:t>損傷、缺氧、內質網壓力等。</a:t>
            </a:r>
          </a:p>
          <a:p>
            <a:pPr marL="228600" indent="-228600">
              <a:buFont typeface="+mj-lt"/>
              <a:buAutoNum type="arabicPeriod"/>
            </a:pPr>
            <a:r>
              <a:rPr lang="zh-TW" altLang="en-US" b="0" dirty="0"/>
              <a:t>首先是細胞在受到壓力或損傷後，會啟動促凋亡蛋白</a:t>
            </a:r>
            <a:r>
              <a:rPr lang="en" altLang="zh-TW" b="0" dirty="0"/>
              <a:t>BH3-only </a:t>
            </a:r>
            <a:r>
              <a:rPr lang="zh-TW" altLang="en-US" b="0" dirty="0"/>
              <a:t>，接著他會活化孔蛋白 </a:t>
            </a:r>
            <a:r>
              <a:rPr lang="en" altLang="zh-TW" b="0" dirty="0"/>
              <a:t>BAX </a:t>
            </a:r>
            <a:r>
              <a:rPr lang="zh-TW" altLang="en-US" b="0" dirty="0"/>
              <a:t>與 </a:t>
            </a:r>
            <a:r>
              <a:rPr lang="en" altLang="zh-TW" b="0" dirty="0"/>
              <a:t>BAK </a:t>
            </a:r>
            <a:endParaRPr lang="en-US" altLang="zh-TW" b="0" dirty="0"/>
          </a:p>
          <a:p>
            <a:pPr marL="228600" indent="-228600">
              <a:buFont typeface="+mj-lt"/>
              <a:buAutoNum type="arabicPeriod"/>
            </a:pPr>
            <a:r>
              <a:rPr lang="en" altLang="zh-TW" b="0" dirty="0"/>
              <a:t>BAX </a:t>
            </a:r>
            <a:r>
              <a:rPr lang="zh-TW" altLang="en-US" b="0" dirty="0"/>
              <a:t>與 </a:t>
            </a:r>
            <a:r>
              <a:rPr lang="en" altLang="zh-TW" b="0" dirty="0"/>
              <a:t>BAK</a:t>
            </a:r>
            <a:r>
              <a:rPr lang="zh-TW" altLang="en-US" b="0" dirty="0"/>
              <a:t>在粒線體膜造成穿孔 →，使粒線體外膜通透性增加，也就是我們常聽到的</a:t>
            </a:r>
            <a:r>
              <a:rPr lang="en" altLang="zh-TW" dirty="0"/>
              <a:t>Mitochondrial Outer Membrane Permeabilization</a:t>
            </a:r>
            <a:r>
              <a:rPr lang="zh-TW" altLang="en-US" dirty="0"/>
              <a:t>（</a:t>
            </a:r>
            <a:r>
              <a:rPr lang="en" altLang="zh-TW" b="0" dirty="0"/>
              <a:t>MOMP</a:t>
            </a:r>
            <a:r>
              <a:rPr lang="zh-TW" altLang="en-US" b="0" dirty="0"/>
              <a:t>）</a:t>
            </a:r>
            <a:endParaRPr lang="en" altLang="zh-TW" b="0" dirty="0"/>
          </a:p>
          <a:p>
            <a:pPr marL="228600" indent="-228600">
              <a:buFont typeface="+mj-lt"/>
              <a:buAutoNum type="arabicPeriod"/>
            </a:pPr>
            <a:r>
              <a:rPr lang="zh-TW" altLang="en-US" b="0" dirty="0"/>
              <a:t>接著因為</a:t>
            </a:r>
            <a:r>
              <a:rPr lang="en" altLang="zh-TW" b="0" dirty="0"/>
              <a:t>MOMP</a:t>
            </a:r>
            <a:r>
              <a:rPr lang="zh-TW" altLang="en-US" b="0" dirty="0"/>
              <a:t>增加，會使</a:t>
            </a:r>
            <a:r>
              <a:rPr lang="en" altLang="zh-TW" b="0" dirty="0"/>
              <a:t>Cytochrome c </a:t>
            </a:r>
            <a:r>
              <a:rPr lang="zh-TW" altLang="en-US" b="0" dirty="0"/>
              <a:t>從粒線體內膜釋出到細胞質中，與 </a:t>
            </a:r>
            <a:r>
              <a:rPr lang="en" altLang="zh-TW" b="0" dirty="0"/>
              <a:t>APAF1 </a:t>
            </a:r>
            <a:r>
              <a:rPr lang="zh-TW" altLang="en-US" b="0" dirty="0"/>
              <a:t>結合形成 </a:t>
            </a:r>
            <a:r>
              <a:rPr lang="en" altLang="zh-TW" b="0" dirty="0" err="1"/>
              <a:t>Apoptosome</a:t>
            </a:r>
            <a:r>
              <a:rPr lang="zh-TW" altLang="en" b="0" dirty="0"/>
              <a:t>（</a:t>
            </a:r>
            <a:r>
              <a:rPr lang="zh-TW" altLang="en-US" b="0" dirty="0"/>
              <a:t>凋亡體）</a:t>
            </a:r>
            <a:endParaRPr lang="en-US" altLang="zh-TW" b="0" dirty="0"/>
          </a:p>
          <a:p>
            <a:pPr marL="228600" indent="-228600">
              <a:buFont typeface="+mj-lt"/>
              <a:buAutoNum type="arabicPeriod"/>
            </a:pPr>
            <a:r>
              <a:rPr lang="en" altLang="zh-TW" b="0" dirty="0" err="1"/>
              <a:t>Apoptosome</a:t>
            </a:r>
            <a:r>
              <a:rPr lang="en" altLang="zh-TW" b="0" dirty="0"/>
              <a:t> </a:t>
            </a:r>
            <a:r>
              <a:rPr lang="zh-TW" altLang="en-US" b="0" dirty="0"/>
              <a:t>活化 </a:t>
            </a:r>
            <a:r>
              <a:rPr lang="en" altLang="zh-TW" b="0" dirty="0"/>
              <a:t>Caspase-9</a:t>
            </a:r>
          </a:p>
          <a:p>
            <a:pPr marL="228600" indent="-228600">
              <a:buFont typeface="+mj-lt"/>
              <a:buAutoNum type="arabicPeriod"/>
            </a:pPr>
            <a:r>
              <a:rPr lang="en" altLang="zh-TW" b="0" dirty="0"/>
              <a:t>Caspase-9 </a:t>
            </a:r>
            <a:r>
              <a:rPr lang="zh-TW" altLang="en-US" b="0" dirty="0"/>
              <a:t>接著活化 </a:t>
            </a:r>
            <a:r>
              <a:rPr lang="en" altLang="zh-TW" b="0" dirty="0"/>
              <a:t>Caspase-3 </a:t>
            </a:r>
            <a:r>
              <a:rPr lang="zh-TW" altLang="en-US" b="0" dirty="0"/>
              <a:t>與 </a:t>
            </a:r>
            <a:r>
              <a:rPr lang="en" altLang="zh-TW" b="0" dirty="0"/>
              <a:t>Caspase-7 → </a:t>
            </a:r>
            <a:r>
              <a:rPr lang="zh-TW" altLang="en-US" b="0" dirty="0"/>
              <a:t>執行凋亡</a:t>
            </a:r>
            <a:endParaRPr lang="en-US" altLang="zh-TW" b="0" dirty="0"/>
          </a:p>
          <a:p>
            <a:endParaRPr kumimoji="1" lang="en-US" altLang="zh-TW" b="0" dirty="0"/>
          </a:p>
          <a:p>
            <a:r>
              <a:rPr lang="en" altLang="zh-TW" b="0" i="0" dirty="0">
                <a:solidFill>
                  <a:srgbClr val="1B1B1B"/>
                </a:solidFill>
                <a:effectLst/>
                <a:latin typeface="Cambria" panose="02040503050406030204" pitchFamily="18" charset="0"/>
              </a:rPr>
              <a:t>TNF (Tumor necrosis factor), </a:t>
            </a:r>
          </a:p>
          <a:p>
            <a:r>
              <a:rPr lang="en" altLang="zh-TW" b="0" i="0" dirty="0">
                <a:solidFill>
                  <a:srgbClr val="1B1B1B"/>
                </a:solidFill>
                <a:effectLst/>
                <a:latin typeface="Cambria" panose="02040503050406030204" pitchFamily="18" charset="0"/>
              </a:rPr>
              <a:t>FASL (FS-7-associated surface antigen ligand), </a:t>
            </a:r>
          </a:p>
          <a:p>
            <a:r>
              <a:rPr lang="en" altLang="zh-TW" b="0" i="0" dirty="0">
                <a:solidFill>
                  <a:srgbClr val="1B1B1B"/>
                </a:solidFill>
                <a:effectLst/>
                <a:latin typeface="Cambria" panose="02040503050406030204" pitchFamily="18" charset="0"/>
              </a:rPr>
              <a:t>TRAIL (Targeting TNF-related apoptosis-inducing ligand), </a:t>
            </a:r>
          </a:p>
          <a:p>
            <a:r>
              <a:rPr lang="en" altLang="zh-TW" b="0" i="0" dirty="0">
                <a:solidFill>
                  <a:srgbClr val="1B1B1B"/>
                </a:solidFill>
                <a:effectLst/>
                <a:latin typeface="Cambria" panose="02040503050406030204" pitchFamily="18" charset="0"/>
              </a:rPr>
              <a:t>TNFR1 (Tumor necrosis factor receptor 1), </a:t>
            </a:r>
          </a:p>
          <a:p>
            <a:r>
              <a:rPr lang="en" altLang="zh-TW" b="0" i="0" dirty="0">
                <a:solidFill>
                  <a:srgbClr val="1B1B1B"/>
                </a:solidFill>
                <a:effectLst/>
                <a:latin typeface="Cambria" panose="02040503050406030204" pitchFamily="18" charset="0"/>
              </a:rPr>
              <a:t>DRS (Death receptors), </a:t>
            </a:r>
          </a:p>
          <a:p>
            <a:r>
              <a:rPr lang="en" altLang="zh-TW" b="0" i="0" dirty="0">
                <a:solidFill>
                  <a:srgbClr val="1B1B1B"/>
                </a:solidFill>
                <a:effectLst/>
                <a:latin typeface="Cambria" panose="02040503050406030204" pitchFamily="18" charset="0"/>
              </a:rPr>
              <a:t>DISC (death-inducing signaling complex), </a:t>
            </a:r>
          </a:p>
          <a:p>
            <a:r>
              <a:rPr lang="en" altLang="zh-TW" b="0" i="0" dirty="0">
                <a:solidFill>
                  <a:srgbClr val="1B1B1B"/>
                </a:solidFill>
                <a:effectLst/>
                <a:latin typeface="Cambria" panose="02040503050406030204" pitchFamily="18" charset="0"/>
              </a:rPr>
              <a:t>BID (BH3 interacting-domain), </a:t>
            </a:r>
          </a:p>
          <a:p>
            <a:r>
              <a:rPr lang="en" altLang="zh-TW" b="0" i="0" dirty="0">
                <a:solidFill>
                  <a:srgbClr val="1B1B1B"/>
                </a:solidFill>
                <a:effectLst/>
                <a:latin typeface="Cambria" panose="02040503050406030204" pitchFamily="18" charset="0"/>
              </a:rPr>
              <a:t>MCL (myeloid leukemia cell differentiation protein), </a:t>
            </a:r>
          </a:p>
          <a:p>
            <a:r>
              <a:rPr lang="en" altLang="zh-TW" b="0" i="0" dirty="0">
                <a:solidFill>
                  <a:srgbClr val="1B1B1B"/>
                </a:solidFill>
                <a:effectLst/>
                <a:latin typeface="Cambria" panose="02040503050406030204" pitchFamily="18" charset="0"/>
              </a:rPr>
              <a:t>ER (Endoplasmic reticulum), </a:t>
            </a:r>
          </a:p>
          <a:p>
            <a:r>
              <a:rPr lang="en" altLang="zh-TW" b="0" i="0" dirty="0">
                <a:solidFill>
                  <a:srgbClr val="1B1B1B"/>
                </a:solidFill>
                <a:effectLst/>
                <a:latin typeface="Cambria" panose="02040503050406030204" pitchFamily="18" charset="0"/>
              </a:rPr>
              <a:t>BAX (Bcl-2-associated X protein), </a:t>
            </a:r>
          </a:p>
          <a:p>
            <a:r>
              <a:rPr lang="en" altLang="zh-TW" b="0" i="0" dirty="0">
                <a:solidFill>
                  <a:srgbClr val="1B1B1B"/>
                </a:solidFill>
                <a:effectLst/>
                <a:latin typeface="Cambria" panose="02040503050406030204" pitchFamily="18" charset="0"/>
              </a:rPr>
              <a:t>BAK (B-cell lymphoma 2 killer), </a:t>
            </a:r>
          </a:p>
          <a:p>
            <a:r>
              <a:rPr lang="en" altLang="zh-TW" b="0" i="0" dirty="0">
                <a:solidFill>
                  <a:srgbClr val="1B1B1B"/>
                </a:solidFill>
                <a:effectLst/>
                <a:latin typeface="Cambria" panose="02040503050406030204" pitchFamily="18" charset="0"/>
              </a:rPr>
              <a:t>SMAC (Second mitochondria-derived activator of caspase), </a:t>
            </a:r>
          </a:p>
          <a:p>
            <a:r>
              <a:rPr lang="en" altLang="zh-TW" b="0" i="0" dirty="0">
                <a:solidFill>
                  <a:srgbClr val="1B1B1B"/>
                </a:solidFill>
                <a:effectLst/>
                <a:latin typeface="Cambria" panose="02040503050406030204" pitchFamily="18" charset="0"/>
              </a:rPr>
              <a:t>XIAP (X-linked inhibitor of apoptosis protein), </a:t>
            </a:r>
          </a:p>
          <a:p>
            <a:r>
              <a:rPr lang="en" altLang="zh-TW" b="0" i="0" dirty="0">
                <a:solidFill>
                  <a:srgbClr val="1B1B1B"/>
                </a:solidFill>
                <a:effectLst/>
                <a:latin typeface="Cambria" panose="02040503050406030204" pitchFamily="18" charset="0"/>
              </a:rPr>
              <a:t>MOMP (mitochondrial outer membrane permeabilization)</a:t>
            </a:r>
            <a:endParaRPr kumimoji="1" lang="en-US" altLang="zh-TW" b="0" dirty="0"/>
          </a:p>
          <a:p>
            <a:endParaRPr kumimoji="1" lang="zh-TW" altLang="en-US" b="0" dirty="0"/>
          </a:p>
        </p:txBody>
      </p:sp>
      <p:sp>
        <p:nvSpPr>
          <p:cNvPr id="4" name="投影片編號版面配置區 3">
            <a:extLst>
              <a:ext uri="{FF2B5EF4-FFF2-40B4-BE49-F238E27FC236}">
                <a16:creationId xmlns:a16="http://schemas.microsoft.com/office/drawing/2014/main" id="{D9609A6E-49FE-1524-9BD3-80D55C35B543}"/>
              </a:ext>
            </a:extLst>
          </p:cNvPr>
          <p:cNvSpPr>
            <a:spLocks noGrp="1"/>
          </p:cNvSpPr>
          <p:nvPr>
            <p:ph type="sldNum" sz="quarter" idx="5"/>
          </p:nvPr>
        </p:nvSpPr>
        <p:spPr/>
        <p:txBody>
          <a:bodyPr/>
          <a:lstStyle/>
          <a:p>
            <a:fld id="{61CA63BF-C9DC-9844-BCA0-064E1D9BA987}" type="slidenum">
              <a:rPr kumimoji="1" lang="zh-TW" altLang="en-US" smtClean="0"/>
              <a:t>5</a:t>
            </a:fld>
            <a:endParaRPr kumimoji="1" lang="zh-TW" altLang="en-US"/>
          </a:p>
        </p:txBody>
      </p:sp>
    </p:spTree>
    <p:extLst>
      <p:ext uri="{BB962C8B-B14F-4D97-AF65-F5344CB8AC3E}">
        <p14:creationId xmlns:p14="http://schemas.microsoft.com/office/powerpoint/2010/main" val="20055446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762CD-2DB9-3763-D1DE-B790C1573B3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60AA41A-32F6-6130-70B0-AF5E8CFEE1E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2EC4528-F772-19E3-CD55-A790D9C2B196}"/>
              </a:ext>
            </a:extLst>
          </p:cNvPr>
          <p:cNvSpPr>
            <a:spLocks noGrp="1"/>
          </p:cNvSpPr>
          <p:nvPr>
            <p:ph type="body" idx="1"/>
          </p:nvPr>
        </p:nvSpPr>
        <p:spPr/>
        <p:txBody>
          <a:bodyPr/>
          <a:lstStyle/>
          <a:p>
            <a:pPr marL="0" indent="0">
              <a:buFont typeface="+mj-lt"/>
              <a:buNone/>
            </a:pPr>
            <a:r>
              <a:rPr lang="zh-TW" altLang="en-US" b="0" dirty="0"/>
              <a:t>接著要介紹的是在</a:t>
            </a:r>
            <a:r>
              <a:rPr lang="en-US" altLang="zh-TW" b="0" dirty="0"/>
              <a:t>apoptosis</a:t>
            </a:r>
            <a:r>
              <a:rPr lang="zh-TW" altLang="en-US" b="0" dirty="0"/>
              <a:t>的研究中比教常被提及的一些抗凋亡或促凋亡蛋白，並簡單說明他們的作用機制。</a:t>
            </a:r>
            <a:endParaRPr lang="en-US" altLang="zh-TW" b="0" dirty="0"/>
          </a:p>
          <a:p>
            <a:pPr marL="0" indent="0">
              <a:buFont typeface="+mj-lt"/>
              <a:buNone/>
            </a:pPr>
            <a:endParaRPr lang="en-US" altLang="zh-TW" b="0" dirty="0"/>
          </a:p>
          <a:p>
            <a:pPr marL="0" indent="0">
              <a:buFont typeface="+mj-lt"/>
              <a:buNone/>
            </a:pPr>
            <a:r>
              <a:rPr lang="zh-TW" altLang="en-US" b="0" dirty="0"/>
              <a:t>在</a:t>
            </a:r>
            <a:r>
              <a:rPr lang="en-US" altLang="zh-TW" b="0" dirty="0"/>
              <a:t>apoptosis</a:t>
            </a:r>
            <a:r>
              <a:rPr lang="zh-TW" altLang="en-US" b="0" dirty="0"/>
              <a:t>中有一些抗凋亡蛋白，對於調控</a:t>
            </a:r>
            <a:r>
              <a:rPr lang="en-US" altLang="zh-TW" b="0" dirty="0"/>
              <a:t>apoptosis</a:t>
            </a:r>
            <a:r>
              <a:rPr lang="zh-TW" altLang="en-US" b="0" dirty="0"/>
              <a:t>扮演關鍵作用</a:t>
            </a:r>
            <a:r>
              <a:rPr lang="zh-TW" altLang="en-US" b="0" dirty="0">
                <a:latin typeface="+mn-lt"/>
              </a:rPr>
              <a:t>，</a:t>
            </a:r>
            <a:endParaRPr lang="en-US" altLang="zh-TW" b="0" dirty="0">
              <a:latin typeface="+mn-lt"/>
            </a:endParaRPr>
          </a:p>
          <a:p>
            <a:pPr marL="285750" indent="-285750">
              <a:buFont typeface="Arial" panose="020B0604020202020204" pitchFamily="34" charset="0"/>
              <a:buChar char="•"/>
            </a:pPr>
            <a:r>
              <a:rPr lang="zh-TW" altLang="en-US" b="0" dirty="0">
                <a:latin typeface="+mn-lt"/>
              </a:rPr>
              <a:t>第一種像是</a:t>
            </a:r>
            <a:r>
              <a:rPr lang="en" altLang="zh-TW" b="0" dirty="0">
                <a:latin typeface="+mn-lt"/>
              </a:rPr>
              <a:t>BCL-2</a:t>
            </a:r>
            <a:r>
              <a:rPr lang="zh-TW" altLang="en" b="0" dirty="0">
                <a:latin typeface="+mn-lt"/>
              </a:rPr>
              <a:t>、</a:t>
            </a:r>
            <a:r>
              <a:rPr lang="en" altLang="zh-TW" b="0" dirty="0">
                <a:latin typeface="+mn-lt"/>
              </a:rPr>
              <a:t>BCL-XL</a:t>
            </a:r>
            <a:r>
              <a:rPr lang="zh-TW" altLang="en" b="0" dirty="0">
                <a:latin typeface="+mn-lt"/>
              </a:rPr>
              <a:t>、</a:t>
            </a:r>
            <a:r>
              <a:rPr lang="en" altLang="zh-TW" b="0" dirty="0">
                <a:latin typeface="+mn-lt"/>
              </a:rPr>
              <a:t>MCL-1</a:t>
            </a:r>
            <a:r>
              <a:rPr lang="zh-TW" altLang="en-US" b="0" dirty="0">
                <a:latin typeface="+mn-lt"/>
              </a:rPr>
              <a:t>，他們屬於</a:t>
            </a:r>
            <a:r>
              <a:rPr lang="en" altLang="zh-TW" b="0" dirty="0">
                <a:latin typeface="+mn-lt"/>
              </a:rPr>
              <a:t>Bcl-2 family </a:t>
            </a:r>
            <a:r>
              <a:rPr lang="zh-TW" altLang="en-US" b="0" dirty="0">
                <a:latin typeface="+mn-lt"/>
              </a:rPr>
              <a:t>蛋白，主要透過兩個途徑抑制內源性</a:t>
            </a:r>
            <a:r>
              <a:rPr lang="en-US" altLang="zh-TW" b="0" dirty="0">
                <a:latin typeface="+mn-lt"/>
              </a:rPr>
              <a:t>apoptosis</a:t>
            </a:r>
            <a:r>
              <a:rPr lang="zh-TW" altLang="en-US" b="0" dirty="0">
                <a:latin typeface="+mn-lt"/>
              </a:rPr>
              <a:t>：</a:t>
            </a:r>
            <a:endParaRPr lang="en-US" altLang="zh-TW" b="0" dirty="0">
              <a:latin typeface="+mn-lt"/>
            </a:endParaRPr>
          </a:p>
          <a:p>
            <a:pPr marL="685800" lvl="1" indent="-228600">
              <a:buFont typeface="+mj-lt"/>
              <a:buAutoNum type="arabicPeriod"/>
            </a:pPr>
            <a:r>
              <a:rPr lang="zh-TW" altLang="en-US" b="0" dirty="0"/>
              <a:t>與 </a:t>
            </a:r>
            <a:r>
              <a:rPr lang="en-US" altLang="zh-TW" b="0" dirty="0"/>
              <a:t>BH3-only </a:t>
            </a:r>
            <a:r>
              <a:rPr lang="zh-TW" altLang="en-US" b="0" dirty="0"/>
              <a:t>蛋白（如 </a:t>
            </a:r>
            <a:r>
              <a:rPr lang="en-US" altLang="zh-TW" b="0" dirty="0"/>
              <a:t>BIM, BID, PUMA</a:t>
            </a:r>
            <a:r>
              <a:rPr lang="zh-TW" altLang="en-US" b="0" dirty="0"/>
              <a:t>）結合 → 阻止其活化 </a:t>
            </a:r>
            <a:r>
              <a:rPr lang="en-US" altLang="zh-TW" b="0" dirty="0"/>
              <a:t>BAX/BAK</a:t>
            </a:r>
          </a:p>
          <a:p>
            <a:pPr marL="685800" lvl="1" indent="-228600">
              <a:buFont typeface="+mj-lt"/>
              <a:buAutoNum type="arabicPeriod"/>
            </a:pPr>
            <a:r>
              <a:rPr lang="zh-TW" altLang="en-US" b="0" dirty="0"/>
              <a:t>與 </a:t>
            </a:r>
            <a:r>
              <a:rPr lang="en-US" altLang="zh-TW" b="0" dirty="0"/>
              <a:t>BAX/BAK </a:t>
            </a:r>
            <a:r>
              <a:rPr lang="zh-TW" altLang="en-US" b="0" dirty="0"/>
              <a:t>結合 → 阻止它們在粒線體膜形成孔洞（抑制 </a:t>
            </a:r>
            <a:r>
              <a:rPr lang="en-US" altLang="zh-TW" b="0" dirty="0"/>
              <a:t>MOMP</a:t>
            </a:r>
            <a:r>
              <a:rPr lang="zh-TW" altLang="en-US" b="0" dirty="0"/>
              <a:t>）</a:t>
            </a:r>
            <a:endParaRPr lang="en-US" altLang="zh-TW" b="0" dirty="0"/>
          </a:p>
          <a:p>
            <a:pPr marL="285750" indent="-285750">
              <a:buFont typeface="Arial" panose="020B0604020202020204" pitchFamily="34" charset="0"/>
              <a:buChar char="•"/>
            </a:pPr>
            <a:r>
              <a:rPr lang="zh-TW" altLang="en-US" b="0" dirty="0"/>
              <a:t>第二種為</a:t>
            </a:r>
            <a:r>
              <a:rPr lang="en" altLang="zh-TW" dirty="0"/>
              <a:t>c-FLIP</a:t>
            </a:r>
            <a:r>
              <a:rPr lang="zh-TW" altLang="en-US" dirty="0"/>
              <a:t>（</a:t>
            </a:r>
            <a:r>
              <a:rPr lang="en" altLang="zh-TW" dirty="0"/>
              <a:t>cellular FLICE-inhibitory protein</a:t>
            </a:r>
            <a:r>
              <a:rPr lang="zh-TW" altLang="en-US" dirty="0"/>
              <a:t>），類似 </a:t>
            </a:r>
            <a:r>
              <a:rPr lang="en" altLang="zh-TW" dirty="0"/>
              <a:t>caspase-8 </a:t>
            </a:r>
            <a:r>
              <a:rPr lang="zh-TW" altLang="en-US" dirty="0"/>
              <a:t>結構，但缺乏催化活性，在外源性</a:t>
            </a:r>
            <a:r>
              <a:rPr lang="en-US" altLang="zh-TW" dirty="0"/>
              <a:t>apoptosis</a:t>
            </a:r>
            <a:r>
              <a:rPr lang="zh-TW" altLang="en-US" dirty="0"/>
              <a:t>中扮演 </a:t>
            </a:r>
            <a:r>
              <a:rPr lang="en-US" altLang="zh-TW" dirty="0"/>
              <a:t>caspase-8</a:t>
            </a:r>
            <a:r>
              <a:rPr lang="zh-TW" altLang="en-US" dirty="0"/>
              <a:t> 抑制劑的角色。主要功能為</a:t>
            </a:r>
            <a:r>
              <a:rPr lang="zh-TW" altLang="en-US" b="1" dirty="0"/>
              <a:t>阻止 </a:t>
            </a:r>
            <a:r>
              <a:rPr lang="en" altLang="zh-TW" b="1" dirty="0"/>
              <a:t>caspase-8 </a:t>
            </a:r>
            <a:r>
              <a:rPr lang="zh-TW" altLang="en-US" b="1" dirty="0"/>
              <a:t>在死亡誘導訊號複合體（</a:t>
            </a:r>
            <a:r>
              <a:rPr lang="en" altLang="zh-TW" b="1" dirty="0"/>
              <a:t>DISC</a:t>
            </a:r>
            <a:r>
              <a:rPr lang="zh-TW" altLang="en" b="1" dirty="0"/>
              <a:t>）</a:t>
            </a:r>
            <a:r>
              <a:rPr lang="zh-TW" altLang="en-US" b="1" dirty="0"/>
              <a:t>中活化</a:t>
            </a:r>
            <a:r>
              <a:rPr lang="zh-TW" altLang="en-US" b="0" dirty="0"/>
              <a:t>、</a:t>
            </a:r>
            <a:r>
              <a:rPr lang="zh-TW" altLang="en-US" b="1" dirty="0"/>
              <a:t>干擾 </a:t>
            </a:r>
            <a:r>
              <a:rPr lang="en" altLang="zh-TW" b="1" dirty="0" err="1"/>
              <a:t>Fas</a:t>
            </a:r>
            <a:r>
              <a:rPr lang="en" altLang="zh-TW" b="1" dirty="0"/>
              <a:t>/TNF </a:t>
            </a:r>
            <a:r>
              <a:rPr lang="zh-TW" altLang="en-US" b="1" dirty="0"/>
              <a:t>死亡訊號，以及</a:t>
            </a:r>
            <a:r>
              <a:rPr lang="zh-TW" altLang="en-US" dirty="0"/>
              <a:t>抑制 </a:t>
            </a:r>
            <a:r>
              <a:rPr lang="en" altLang="zh-TW" dirty="0"/>
              <a:t>TRAIL</a:t>
            </a:r>
            <a:r>
              <a:rPr lang="zh-TW" altLang="en" dirty="0"/>
              <a:t>、</a:t>
            </a:r>
            <a:r>
              <a:rPr lang="en" altLang="zh-TW" dirty="0"/>
              <a:t>TNF-</a:t>
            </a:r>
            <a:r>
              <a:rPr lang="el-GR" altLang="zh-TW" dirty="0"/>
              <a:t>α </a:t>
            </a:r>
            <a:r>
              <a:rPr lang="zh-TW" altLang="en-US" dirty="0"/>
              <a:t>誘導的細胞凋亡。</a:t>
            </a:r>
            <a:endParaRPr lang="en-US" altLang="zh-TW" dirty="0"/>
          </a:p>
          <a:p>
            <a:pPr marL="285750" indent="-285750">
              <a:buFont typeface="Arial" panose="020B0604020202020204" pitchFamily="34" charset="0"/>
              <a:buChar char="•"/>
            </a:pPr>
            <a:r>
              <a:rPr lang="zh-TW" altLang="en-US" dirty="0"/>
              <a:t>第三種為 </a:t>
            </a:r>
            <a:r>
              <a:rPr lang="en" altLang="zh-TW" dirty="0" err="1"/>
              <a:t>Survivin</a:t>
            </a:r>
            <a:r>
              <a:rPr lang="en" altLang="zh-TW" dirty="0"/>
              <a:t> </a:t>
            </a:r>
            <a:r>
              <a:rPr lang="zh-TW" altLang="en-US" dirty="0"/>
              <a:t>，屬於 </a:t>
            </a:r>
            <a:r>
              <a:rPr lang="en" altLang="zh-TW" b="1" dirty="0"/>
              <a:t>IAP</a:t>
            </a:r>
            <a:r>
              <a:rPr lang="zh-TW" altLang="en" b="1" dirty="0"/>
              <a:t>（</a:t>
            </a:r>
            <a:r>
              <a:rPr lang="en" altLang="zh-TW" b="1" dirty="0"/>
              <a:t>Inhibitor of Apoptosis Protein</a:t>
            </a:r>
            <a:r>
              <a:rPr lang="zh-TW" altLang="en" b="1" dirty="0"/>
              <a:t>）</a:t>
            </a:r>
            <a:r>
              <a:rPr lang="zh-TW" altLang="en-US" b="1" dirty="0"/>
              <a:t>家族，</a:t>
            </a:r>
            <a:r>
              <a:rPr lang="zh-TW" altLang="en-US" b="0" dirty="0"/>
              <a:t>功能為</a:t>
            </a:r>
            <a:r>
              <a:rPr lang="zh-TW" altLang="en-US" b="1" dirty="0"/>
              <a:t>抑制</a:t>
            </a:r>
            <a:r>
              <a:rPr lang="en" altLang="zh-TW" b="1" dirty="0"/>
              <a:t>caspase-3 </a:t>
            </a:r>
            <a:r>
              <a:rPr lang="zh-TW" altLang="en-US" b="1" dirty="0"/>
              <a:t>與 </a:t>
            </a:r>
            <a:r>
              <a:rPr lang="en" altLang="zh-TW" b="1" dirty="0"/>
              <a:t>caspase-9</a:t>
            </a:r>
            <a:r>
              <a:rPr lang="zh-TW" altLang="en-US" b="1" dirty="0"/>
              <a:t> 活化，阻斷外源性</a:t>
            </a:r>
            <a:r>
              <a:rPr lang="en-US" altLang="zh-TW" b="1" dirty="0"/>
              <a:t>apoptosis</a:t>
            </a:r>
            <a:r>
              <a:rPr lang="zh-TW" altLang="en-US" b="1" dirty="0"/>
              <a:t>進行。</a:t>
            </a:r>
            <a:r>
              <a:rPr lang="zh-TW" altLang="en-US" dirty="0"/>
              <a:t>在</a:t>
            </a:r>
            <a:r>
              <a:rPr lang="zh-TW" altLang="en-US" b="1" dirty="0"/>
              <a:t>正常成人組織中幾乎不表現</a:t>
            </a:r>
            <a:r>
              <a:rPr lang="zh-TW" altLang="en-US" dirty="0"/>
              <a:t>，但</a:t>
            </a:r>
            <a:r>
              <a:rPr lang="zh-TW" altLang="en-US" b="1" dirty="0"/>
              <a:t>在癌細胞中大量表現，同時也具有</a:t>
            </a:r>
            <a:r>
              <a:rPr lang="zh-TW" altLang="en-US" dirty="0"/>
              <a:t>促進腫瘤細胞增殖與放射</a:t>
            </a:r>
            <a:r>
              <a:rPr lang="en-US" altLang="zh-TW" dirty="0"/>
              <a:t>/</a:t>
            </a:r>
            <a:r>
              <a:rPr lang="zh-TW" altLang="en-US" dirty="0"/>
              <a:t>化療抗性的特性。</a:t>
            </a:r>
          </a:p>
          <a:p>
            <a:pPr marL="228600" indent="-228600">
              <a:buFont typeface="+mj-lt"/>
              <a:buAutoNum type="arabicPeriod"/>
            </a:pPr>
            <a:endParaRPr lang="en-US" altLang="zh-TW" b="0" dirty="0"/>
          </a:p>
          <a:p>
            <a:pPr>
              <a:buFont typeface="Arial" panose="020B0604020202020204" pitchFamily="34" charset="0"/>
              <a:buNone/>
            </a:pPr>
            <a:r>
              <a:rPr lang="zh-TW" altLang="en-US" b="0" dirty="0"/>
              <a:t>剛剛有提到</a:t>
            </a:r>
            <a:r>
              <a:rPr lang="en-US" altLang="zh-TW" b="0" dirty="0"/>
              <a:t>IAP</a:t>
            </a:r>
            <a:r>
              <a:rPr lang="zh-TW" altLang="en-US" b="0" dirty="0"/>
              <a:t>蛋白為細胞中的抗凋亡蛋白</a:t>
            </a:r>
            <a:r>
              <a:rPr lang="zh-TW" altLang="en-US" dirty="0"/>
              <a:t>，像是：</a:t>
            </a:r>
            <a:r>
              <a:rPr lang="en" altLang="zh-TW" dirty="0"/>
              <a:t>XIAP</a:t>
            </a:r>
            <a:r>
              <a:rPr lang="zh-TW" altLang="en" dirty="0"/>
              <a:t>（</a:t>
            </a:r>
            <a:r>
              <a:rPr lang="en" altLang="zh-TW" dirty="0"/>
              <a:t>X-linked IAP</a:t>
            </a:r>
            <a:r>
              <a:rPr lang="zh-TW" altLang="en" dirty="0"/>
              <a:t>）</a:t>
            </a:r>
            <a:r>
              <a:rPr lang="zh-TW" altLang="en-US" dirty="0"/>
              <a:t>或</a:t>
            </a:r>
            <a:r>
              <a:rPr lang="en" altLang="zh-TW" dirty="0"/>
              <a:t>cIAP1 / cIAP2</a:t>
            </a:r>
            <a:r>
              <a:rPr lang="zh-TW" altLang="en-US" dirty="0"/>
              <a:t>，這些 </a:t>
            </a:r>
            <a:r>
              <a:rPr lang="en" altLang="zh-TW" dirty="0"/>
              <a:t>IAP </a:t>
            </a:r>
            <a:r>
              <a:rPr lang="zh-TW" altLang="en-US" dirty="0"/>
              <a:t>蛋白會</a:t>
            </a:r>
            <a:r>
              <a:rPr lang="zh-TW" altLang="en-US" b="1" dirty="0"/>
              <a:t>抑制 </a:t>
            </a:r>
            <a:r>
              <a:rPr lang="en" altLang="zh-TW" b="1" dirty="0"/>
              <a:t>caspase </a:t>
            </a:r>
            <a:r>
              <a:rPr lang="zh-TW" altLang="en-US" b="1" dirty="0"/>
              <a:t>的活性</a:t>
            </a:r>
            <a:r>
              <a:rPr lang="zh-TW" altLang="en-US" dirty="0"/>
              <a:t>，防止細胞進入凋亡。因此</a:t>
            </a:r>
            <a:r>
              <a:rPr lang="en-US" altLang="zh-TW" dirty="0"/>
              <a:t>MOMP</a:t>
            </a:r>
            <a:r>
              <a:rPr lang="zh-TW" altLang="en-US" dirty="0"/>
              <a:t>發生時，除了會釋放</a:t>
            </a:r>
            <a:r>
              <a:rPr lang="en" altLang="zh-TW" b="0" dirty="0"/>
              <a:t>Cytochrome c</a:t>
            </a:r>
            <a:r>
              <a:rPr lang="zh-TW" altLang="en-US" b="0" dirty="0"/>
              <a:t>外，也會釋放</a:t>
            </a:r>
            <a:r>
              <a:rPr lang="en" altLang="zh-TW" dirty="0"/>
              <a:t>SMAC</a:t>
            </a:r>
            <a:r>
              <a:rPr lang="zh-TW" altLang="en" dirty="0"/>
              <a:t>（</a:t>
            </a:r>
            <a:r>
              <a:rPr lang="en" altLang="zh-TW" dirty="0"/>
              <a:t>Second Mitochondria-derived Activator of Caspases</a:t>
            </a:r>
            <a:r>
              <a:rPr lang="zh-TW" altLang="en-US" dirty="0"/>
              <a:t>），</a:t>
            </a:r>
            <a:r>
              <a:rPr lang="en" altLang="zh-TW" dirty="0"/>
              <a:t>SMAC</a:t>
            </a:r>
            <a:r>
              <a:rPr lang="zh-TW" altLang="en-US" dirty="0"/>
              <a:t>會結合到 </a:t>
            </a:r>
            <a:r>
              <a:rPr lang="en" altLang="zh-TW" b="1" dirty="0"/>
              <a:t>IAP</a:t>
            </a:r>
            <a:r>
              <a:rPr lang="zh-TW" altLang="en-US" dirty="0"/>
              <a:t>蛋白上，抑制其功能，使</a:t>
            </a:r>
            <a:r>
              <a:rPr lang="en-US" altLang="zh-TW" dirty="0"/>
              <a:t>apoptosis</a:t>
            </a:r>
            <a:r>
              <a:rPr lang="zh-TW" altLang="en-US" dirty="0"/>
              <a:t>途徑可以順利進展下去。</a:t>
            </a:r>
            <a:endParaRPr lang="en-US" altLang="zh-TW" dirty="0"/>
          </a:p>
          <a:p>
            <a:pPr>
              <a:buFont typeface="Arial" panose="020B0604020202020204" pitchFamily="34" charset="0"/>
              <a:buNone/>
            </a:pPr>
            <a:endParaRPr lang="en-US" altLang="zh-TW" b="0" dirty="0"/>
          </a:p>
          <a:p>
            <a:pPr>
              <a:buFont typeface="Arial" panose="020B0604020202020204" pitchFamily="34" charset="0"/>
              <a:buNone/>
            </a:pPr>
            <a:r>
              <a:rPr lang="zh-TW" altLang="en-US" b="0" dirty="0"/>
              <a:t>另外還有一種促凋亡蛋白叫做</a:t>
            </a:r>
            <a:r>
              <a:rPr lang="en" altLang="zh-TW" dirty="0"/>
              <a:t>NOXA</a:t>
            </a:r>
            <a:r>
              <a:rPr lang="zh-TW" altLang="en-US" dirty="0"/>
              <a:t>，是一種小型的 </a:t>
            </a:r>
            <a:r>
              <a:rPr lang="en" altLang="zh-TW" b="1" dirty="0"/>
              <a:t>BH3-only </a:t>
            </a:r>
            <a:r>
              <a:rPr lang="zh-TW" altLang="en-US" b="1" dirty="0"/>
              <a:t>蛋白質，</a:t>
            </a:r>
            <a:r>
              <a:rPr lang="zh-TW" altLang="en-US" dirty="0"/>
              <a:t>是 </a:t>
            </a:r>
            <a:r>
              <a:rPr lang="en" altLang="zh-TW" b="1" dirty="0"/>
              <a:t>p53 </a:t>
            </a:r>
            <a:r>
              <a:rPr lang="zh-TW" altLang="en-US" b="1" dirty="0"/>
              <a:t>的直接下游標靶基因，</a:t>
            </a:r>
            <a:r>
              <a:rPr lang="zh-TW" altLang="en-US" dirty="0"/>
              <a:t>主要抑制 </a:t>
            </a:r>
            <a:r>
              <a:rPr lang="en" altLang="zh-TW" b="1" dirty="0"/>
              <a:t>MCL-1</a:t>
            </a:r>
            <a:r>
              <a:rPr lang="zh-TW" altLang="en-US" b="1" dirty="0"/>
              <a:t>的作用，使</a:t>
            </a:r>
            <a:r>
              <a:rPr lang="en-US" altLang="zh-TW" b="1" dirty="0"/>
              <a:t>BAX/BAK</a:t>
            </a:r>
            <a:r>
              <a:rPr lang="zh-TW" altLang="en-US" b="1" dirty="0"/>
              <a:t>可以被活化並進行更進一步的細胞凋亡。</a:t>
            </a:r>
            <a:r>
              <a:rPr lang="zh-TW" altLang="en-US" b="0" dirty="0"/>
              <a:t>（</a:t>
            </a:r>
            <a:r>
              <a:rPr lang="zh-TW" altLang="en-US" dirty="0"/>
              <a:t>在 </a:t>
            </a:r>
            <a:r>
              <a:rPr lang="en" altLang="zh-TW" dirty="0"/>
              <a:t>DNA </a:t>
            </a:r>
            <a:r>
              <a:rPr lang="zh-TW" altLang="en-US" dirty="0"/>
              <a:t>損傷或應激狀況下，</a:t>
            </a:r>
            <a:r>
              <a:rPr lang="en" altLang="zh-TW" b="1" dirty="0"/>
              <a:t>p53 </a:t>
            </a:r>
            <a:r>
              <a:rPr lang="zh-TW" altLang="en-US" b="1" dirty="0"/>
              <a:t>活化 → 上調 </a:t>
            </a:r>
            <a:r>
              <a:rPr lang="en" altLang="zh-TW" b="1" dirty="0"/>
              <a:t>NOXA </a:t>
            </a:r>
            <a:r>
              <a:rPr lang="zh-TW" altLang="en-US" b="1" dirty="0"/>
              <a:t>表現</a:t>
            </a:r>
            <a:r>
              <a:rPr lang="zh-TW" altLang="en-US" dirty="0"/>
              <a:t>。）</a:t>
            </a:r>
            <a:endParaRPr lang="en-US" altLang="zh-TW" dirty="0"/>
          </a:p>
          <a:p>
            <a:pPr>
              <a:buFont typeface="Arial" panose="020B0604020202020204" pitchFamily="34" charset="0"/>
              <a:buNone/>
            </a:pPr>
            <a:endParaRPr kumimoji="1" lang="en-US" altLang="zh-TW" b="0" dirty="0"/>
          </a:p>
          <a:p>
            <a:pPr>
              <a:buFont typeface="Arial" panose="020B0604020202020204" pitchFamily="34" charset="0"/>
              <a:buNone/>
            </a:pPr>
            <a:endParaRPr kumimoji="1" lang="en-US" altLang="zh-TW" b="0" dirty="0"/>
          </a:p>
          <a:p>
            <a:pPr>
              <a:buFont typeface="Arial" panose="020B0604020202020204" pitchFamily="34" charset="0"/>
              <a:buChar char="•"/>
            </a:pPr>
            <a:endParaRPr lang="en-US" altLang="zh-TW" b="0" dirty="0"/>
          </a:p>
          <a:p>
            <a:pPr>
              <a:buFont typeface="Arial" panose="020B0604020202020204" pitchFamily="34" charset="0"/>
              <a:buChar char="•"/>
            </a:pPr>
            <a:r>
              <a:rPr lang="en" altLang="zh-TW" b="0" i="0" dirty="0">
                <a:solidFill>
                  <a:srgbClr val="222222"/>
                </a:solidFill>
                <a:effectLst/>
                <a:latin typeface="Arial" panose="020B0604020202020204" pitchFamily="34" charset="0"/>
              </a:rPr>
              <a:t>TNF</a:t>
            </a:r>
            <a:r>
              <a:rPr lang="zh-TW" altLang="en" b="0" i="0" dirty="0">
                <a:solidFill>
                  <a:srgbClr val="222222"/>
                </a:solidFill>
                <a:effectLst/>
                <a:latin typeface="Arial" panose="020B0604020202020204" pitchFamily="34" charset="0"/>
              </a:rPr>
              <a:t>（</a:t>
            </a:r>
            <a:r>
              <a:rPr lang="zh-TW" altLang="en-US" b="0" i="0" dirty="0">
                <a:solidFill>
                  <a:srgbClr val="222222"/>
                </a:solidFill>
                <a:effectLst/>
                <a:latin typeface="Arial" panose="020B0604020202020204" pitchFamily="34" charset="0"/>
              </a:rPr>
              <a:t>腫瘤壞死因子）、</a:t>
            </a:r>
            <a:r>
              <a:rPr lang="en" altLang="zh-TW" b="0" i="0" dirty="0">
                <a:solidFill>
                  <a:srgbClr val="222222"/>
                </a:solidFill>
                <a:effectLst/>
                <a:latin typeface="Arial" panose="020B0604020202020204" pitchFamily="34" charset="0"/>
              </a:rPr>
              <a:t>FASL</a:t>
            </a:r>
            <a:r>
              <a:rPr lang="zh-TW" altLang="en" b="0" i="0" dirty="0">
                <a:solidFill>
                  <a:srgbClr val="222222"/>
                </a:solidFill>
                <a:effectLst/>
                <a:latin typeface="Arial" panose="020B0604020202020204" pitchFamily="34" charset="0"/>
              </a:rPr>
              <a:t>（</a:t>
            </a:r>
            <a:r>
              <a:rPr lang="en" altLang="zh-TW" b="0" i="0" dirty="0">
                <a:solidFill>
                  <a:srgbClr val="222222"/>
                </a:solidFill>
                <a:effectLst/>
                <a:latin typeface="Arial" panose="020B0604020202020204" pitchFamily="34" charset="0"/>
              </a:rPr>
              <a:t>FS-7</a:t>
            </a:r>
            <a:r>
              <a:rPr lang="zh-TW" altLang="en-US" b="0" i="0" dirty="0">
                <a:solidFill>
                  <a:srgbClr val="222222"/>
                </a:solidFill>
                <a:effectLst/>
                <a:latin typeface="Arial" panose="020B0604020202020204" pitchFamily="34" charset="0"/>
              </a:rPr>
              <a:t>相關表面抗原配體）、</a:t>
            </a:r>
            <a:r>
              <a:rPr lang="en" altLang="zh-TW" b="0" i="0" dirty="0">
                <a:solidFill>
                  <a:srgbClr val="222222"/>
                </a:solidFill>
                <a:effectLst/>
                <a:latin typeface="Arial" panose="020B0604020202020204" pitchFamily="34" charset="0"/>
              </a:rPr>
              <a:t>TRAIL</a:t>
            </a:r>
            <a:r>
              <a:rPr lang="zh-TW" altLang="en" b="0" i="0" dirty="0">
                <a:solidFill>
                  <a:srgbClr val="222222"/>
                </a:solidFill>
                <a:effectLst/>
                <a:latin typeface="Arial" panose="020B0604020202020204" pitchFamily="34" charset="0"/>
              </a:rPr>
              <a:t>（</a:t>
            </a:r>
            <a:r>
              <a:rPr lang="zh-TW" altLang="en-US" b="0" i="0" dirty="0">
                <a:solidFill>
                  <a:srgbClr val="222222"/>
                </a:solidFill>
                <a:effectLst/>
                <a:latin typeface="Arial" panose="020B0604020202020204" pitchFamily="34" charset="0"/>
              </a:rPr>
              <a:t>靶向</a:t>
            </a:r>
            <a:r>
              <a:rPr lang="en" altLang="zh-TW" b="0" i="0" dirty="0">
                <a:solidFill>
                  <a:srgbClr val="222222"/>
                </a:solidFill>
                <a:effectLst/>
                <a:latin typeface="Arial" panose="020B0604020202020204" pitchFamily="34" charset="0"/>
              </a:rPr>
              <a:t>TNF</a:t>
            </a:r>
            <a:r>
              <a:rPr lang="zh-TW" altLang="en-US" b="0" i="0" dirty="0">
                <a:solidFill>
                  <a:srgbClr val="222222"/>
                </a:solidFill>
                <a:effectLst/>
                <a:latin typeface="Arial" panose="020B0604020202020204" pitchFamily="34" charset="0"/>
              </a:rPr>
              <a:t>相關凋亡誘導配體）、</a:t>
            </a:r>
            <a:r>
              <a:rPr lang="en" altLang="zh-TW" b="0" i="0" dirty="0">
                <a:solidFill>
                  <a:srgbClr val="222222"/>
                </a:solidFill>
                <a:effectLst/>
                <a:latin typeface="Arial" panose="020B0604020202020204" pitchFamily="34" charset="0"/>
              </a:rPr>
              <a:t>TNFR1</a:t>
            </a:r>
            <a:r>
              <a:rPr lang="zh-TW" altLang="en" b="0" i="0" dirty="0">
                <a:solidFill>
                  <a:srgbClr val="222222"/>
                </a:solidFill>
                <a:effectLst/>
                <a:latin typeface="Arial" panose="020B0604020202020204" pitchFamily="34" charset="0"/>
              </a:rPr>
              <a:t>（</a:t>
            </a:r>
            <a:r>
              <a:rPr lang="zh-TW" altLang="en-US" b="0" i="0" dirty="0">
                <a:solidFill>
                  <a:srgbClr val="222222"/>
                </a:solidFill>
                <a:effectLst/>
                <a:latin typeface="Arial" panose="020B0604020202020204" pitchFamily="34" charset="0"/>
              </a:rPr>
              <a:t>腫瘤壞死因子受體</a:t>
            </a:r>
            <a:r>
              <a:rPr lang="en-US" altLang="zh-TW" b="0" i="0" dirty="0">
                <a:solidFill>
                  <a:srgbClr val="222222"/>
                </a:solidFill>
                <a:effectLst/>
                <a:latin typeface="Arial" panose="020B0604020202020204" pitchFamily="34" charset="0"/>
              </a:rPr>
              <a:t>1</a:t>
            </a:r>
            <a:r>
              <a:rPr lang="zh-TW" altLang="en-US" b="0" i="0" dirty="0">
                <a:solidFill>
                  <a:srgbClr val="222222"/>
                </a:solidFill>
                <a:effectLst/>
                <a:latin typeface="Arial" panose="020B0604020202020204" pitchFamily="34" charset="0"/>
              </a:rPr>
              <a:t>）、</a:t>
            </a:r>
            <a:r>
              <a:rPr lang="en" altLang="zh-TW" b="0" i="0" dirty="0">
                <a:solidFill>
                  <a:srgbClr val="222222"/>
                </a:solidFill>
                <a:effectLst/>
                <a:latin typeface="Arial" panose="020B0604020202020204" pitchFamily="34" charset="0"/>
              </a:rPr>
              <a:t>DRS</a:t>
            </a:r>
            <a:r>
              <a:rPr lang="zh-TW" altLang="en" b="0" i="0" dirty="0">
                <a:solidFill>
                  <a:srgbClr val="222222"/>
                </a:solidFill>
                <a:effectLst/>
                <a:latin typeface="Arial" panose="020B0604020202020204" pitchFamily="34" charset="0"/>
              </a:rPr>
              <a:t>（</a:t>
            </a:r>
            <a:r>
              <a:rPr lang="zh-TW" altLang="en-US" b="0" i="0" dirty="0">
                <a:solidFill>
                  <a:srgbClr val="222222"/>
                </a:solidFill>
                <a:effectLst/>
                <a:latin typeface="Arial" panose="020B0604020202020204" pitchFamily="34" charset="0"/>
              </a:rPr>
              <a:t>死亡受體）、</a:t>
            </a:r>
            <a:r>
              <a:rPr lang="en" altLang="zh-TW" b="0" i="0" dirty="0">
                <a:solidFill>
                  <a:srgbClr val="222222"/>
                </a:solidFill>
                <a:effectLst/>
                <a:latin typeface="Arial" panose="020B0604020202020204" pitchFamily="34" charset="0"/>
              </a:rPr>
              <a:t>DISC</a:t>
            </a:r>
            <a:r>
              <a:rPr lang="zh-TW" altLang="en" b="0" i="0" dirty="0">
                <a:solidFill>
                  <a:srgbClr val="222222"/>
                </a:solidFill>
                <a:effectLst/>
                <a:latin typeface="Arial" panose="020B0604020202020204" pitchFamily="34" charset="0"/>
              </a:rPr>
              <a:t>（</a:t>
            </a:r>
            <a:r>
              <a:rPr lang="zh-TW" altLang="en-US" b="0" i="0" dirty="0">
                <a:solidFill>
                  <a:srgbClr val="222222"/>
                </a:solidFill>
                <a:effectLst/>
                <a:latin typeface="Arial" panose="020B0604020202020204" pitchFamily="34" charset="0"/>
              </a:rPr>
              <a:t>死亡誘導訊號複合物）、</a:t>
            </a:r>
            <a:r>
              <a:rPr lang="en" altLang="zh-TW" b="0" i="0" dirty="0">
                <a:solidFill>
                  <a:srgbClr val="222222"/>
                </a:solidFill>
                <a:effectLst/>
                <a:latin typeface="Arial" panose="020B0604020202020204" pitchFamily="34" charset="0"/>
              </a:rPr>
              <a:t>BID</a:t>
            </a:r>
            <a:r>
              <a:rPr lang="zh-TW" altLang="en" b="0" i="0" dirty="0">
                <a:solidFill>
                  <a:srgbClr val="222222"/>
                </a:solidFill>
                <a:effectLst/>
                <a:latin typeface="Arial" panose="020B0604020202020204" pitchFamily="34" charset="0"/>
              </a:rPr>
              <a:t>（</a:t>
            </a:r>
            <a:r>
              <a:rPr lang="en" altLang="zh-TW" b="0" i="0" dirty="0">
                <a:solidFill>
                  <a:srgbClr val="222222"/>
                </a:solidFill>
                <a:effectLst/>
                <a:latin typeface="Arial" panose="020B0604020202020204" pitchFamily="34" charset="0"/>
              </a:rPr>
              <a:t>BH3</a:t>
            </a:r>
            <a:r>
              <a:rPr lang="zh-TW" altLang="en-US" b="0" i="0" dirty="0">
                <a:solidFill>
                  <a:srgbClr val="222222"/>
                </a:solidFill>
                <a:effectLst/>
                <a:latin typeface="Arial" panose="020B0604020202020204" pitchFamily="34" charset="0"/>
              </a:rPr>
              <a:t>相互作用結構域）、</a:t>
            </a:r>
            <a:r>
              <a:rPr lang="en" altLang="zh-TW" b="0" i="0" dirty="0">
                <a:solidFill>
                  <a:srgbClr val="222222"/>
                </a:solidFill>
                <a:effectLst/>
                <a:latin typeface="Arial" panose="020B0604020202020204" pitchFamily="34" charset="0"/>
              </a:rPr>
              <a:t>MCL</a:t>
            </a:r>
            <a:r>
              <a:rPr lang="zh-TW" altLang="en" b="0" i="0" dirty="0">
                <a:solidFill>
                  <a:srgbClr val="222222"/>
                </a:solidFill>
                <a:effectLst/>
                <a:latin typeface="Arial" panose="020B0604020202020204" pitchFamily="34" charset="0"/>
              </a:rPr>
              <a:t>（</a:t>
            </a:r>
            <a:r>
              <a:rPr lang="zh-TW" altLang="en-US" b="0" i="0" dirty="0">
                <a:solidFill>
                  <a:srgbClr val="222222"/>
                </a:solidFill>
                <a:effectLst/>
                <a:latin typeface="Arial" panose="020B0604020202020204" pitchFamily="34" charset="0"/>
              </a:rPr>
              <a:t>髓性白血病細胞分化蛋白）、</a:t>
            </a:r>
            <a:r>
              <a:rPr lang="en" altLang="zh-TW" b="0" i="0" dirty="0">
                <a:solidFill>
                  <a:srgbClr val="222222"/>
                </a:solidFill>
                <a:effectLst/>
                <a:latin typeface="Arial" panose="020B0604020202020204" pitchFamily="34" charset="0"/>
              </a:rPr>
              <a:t>ER</a:t>
            </a:r>
            <a:r>
              <a:rPr lang="zh-TW" altLang="en" b="0" i="0" dirty="0">
                <a:solidFill>
                  <a:srgbClr val="222222"/>
                </a:solidFill>
                <a:effectLst/>
                <a:latin typeface="Arial" panose="020B0604020202020204" pitchFamily="34" charset="0"/>
              </a:rPr>
              <a:t>（</a:t>
            </a:r>
            <a:r>
              <a:rPr lang="zh-TW" altLang="en-US" b="0" i="0" dirty="0">
                <a:solidFill>
                  <a:srgbClr val="222222"/>
                </a:solidFill>
                <a:effectLst/>
                <a:latin typeface="Arial" panose="020B0604020202020204" pitchFamily="34" charset="0"/>
              </a:rPr>
              <a:t>內質網）、</a:t>
            </a:r>
            <a:r>
              <a:rPr lang="en" altLang="zh-TW" b="0" i="0" dirty="0">
                <a:solidFill>
                  <a:srgbClr val="222222"/>
                </a:solidFill>
                <a:effectLst/>
                <a:latin typeface="Arial" panose="020B0604020202020204" pitchFamily="34" charset="0"/>
              </a:rPr>
              <a:t>BAX</a:t>
            </a:r>
            <a:r>
              <a:rPr lang="zh-TW" altLang="en" b="0" i="0" dirty="0">
                <a:solidFill>
                  <a:srgbClr val="222222"/>
                </a:solidFill>
                <a:effectLst/>
                <a:latin typeface="Arial" panose="020B0604020202020204" pitchFamily="34" charset="0"/>
              </a:rPr>
              <a:t>（</a:t>
            </a:r>
            <a:r>
              <a:rPr lang="en" altLang="zh-TW" b="0" i="0" dirty="0">
                <a:solidFill>
                  <a:srgbClr val="222222"/>
                </a:solidFill>
                <a:effectLst/>
                <a:latin typeface="Arial" panose="020B0604020202020204" pitchFamily="34" charset="0"/>
              </a:rPr>
              <a:t>Bcl-2</a:t>
            </a:r>
            <a:r>
              <a:rPr lang="zh-TW" altLang="en-US" b="0" i="0" dirty="0">
                <a:solidFill>
                  <a:srgbClr val="222222"/>
                </a:solidFill>
                <a:effectLst/>
                <a:latin typeface="Arial" panose="020B0604020202020204" pitchFamily="34" charset="0"/>
              </a:rPr>
              <a:t>相關</a:t>
            </a:r>
            <a:r>
              <a:rPr lang="en" altLang="zh-TW" b="0" i="0" dirty="0">
                <a:solidFill>
                  <a:srgbClr val="222222"/>
                </a:solidFill>
                <a:effectLst/>
                <a:latin typeface="Arial" panose="020B0604020202020204" pitchFamily="34" charset="0"/>
              </a:rPr>
              <a:t>X</a:t>
            </a:r>
            <a:r>
              <a:rPr lang="zh-TW" altLang="en-US" b="0" i="0" dirty="0">
                <a:solidFill>
                  <a:srgbClr val="222222"/>
                </a:solidFill>
                <a:effectLst/>
                <a:latin typeface="Arial" panose="020B0604020202020204" pitchFamily="34" charset="0"/>
              </a:rPr>
              <a:t>蛋白）、</a:t>
            </a:r>
            <a:r>
              <a:rPr lang="en" altLang="zh-TW" b="0" i="0" dirty="0">
                <a:solidFill>
                  <a:srgbClr val="222222"/>
                </a:solidFill>
                <a:effectLst/>
                <a:latin typeface="Arial" panose="020B0604020202020204" pitchFamily="34" charset="0"/>
              </a:rPr>
              <a:t>BAK</a:t>
            </a:r>
            <a:r>
              <a:rPr lang="zh-TW" altLang="en" b="0" i="0" dirty="0">
                <a:solidFill>
                  <a:srgbClr val="222222"/>
                </a:solidFill>
                <a:effectLst/>
                <a:latin typeface="Arial" panose="020B0604020202020204" pitchFamily="34" charset="0"/>
              </a:rPr>
              <a:t>（</a:t>
            </a:r>
            <a:r>
              <a:rPr lang="en" altLang="zh-TW" b="0" i="0" dirty="0">
                <a:solidFill>
                  <a:srgbClr val="222222"/>
                </a:solidFill>
                <a:effectLst/>
                <a:latin typeface="Arial" panose="020B0604020202020204" pitchFamily="34" charset="0"/>
              </a:rPr>
              <a:t>B</a:t>
            </a:r>
            <a:r>
              <a:rPr lang="zh-TW" altLang="en-US" b="0" i="0" dirty="0">
                <a:solidFill>
                  <a:srgbClr val="222222"/>
                </a:solidFill>
                <a:effectLst/>
                <a:latin typeface="Arial" panose="020B0604020202020204" pitchFamily="34" charset="0"/>
              </a:rPr>
              <a:t>細胞淋巴瘤</a:t>
            </a:r>
            <a:r>
              <a:rPr lang="en-US" altLang="zh-TW" b="0" i="0" dirty="0">
                <a:solidFill>
                  <a:srgbClr val="222222"/>
                </a:solidFill>
                <a:effectLst/>
                <a:latin typeface="Arial" panose="020B0604020202020204" pitchFamily="34" charset="0"/>
              </a:rPr>
              <a:t>2</a:t>
            </a:r>
            <a:r>
              <a:rPr lang="zh-TW" altLang="en-US" b="0" i="0" dirty="0">
                <a:solidFill>
                  <a:srgbClr val="222222"/>
                </a:solidFill>
                <a:effectLst/>
                <a:latin typeface="Arial" panose="020B0604020202020204" pitchFamily="34" charset="0"/>
              </a:rPr>
              <a:t>殺手細胞）、</a:t>
            </a:r>
            <a:r>
              <a:rPr lang="en" altLang="zh-TW" b="0" i="0" dirty="0">
                <a:solidFill>
                  <a:srgbClr val="222222"/>
                </a:solidFill>
                <a:effectLst/>
                <a:latin typeface="Arial" panose="020B0604020202020204" pitchFamily="34" charset="0"/>
              </a:rPr>
              <a:t>SMAC</a:t>
            </a:r>
            <a:r>
              <a:rPr lang="zh-TW" altLang="en" b="0" i="0" dirty="0">
                <a:solidFill>
                  <a:srgbClr val="222222"/>
                </a:solidFill>
                <a:effectLst/>
                <a:latin typeface="Arial" panose="020B0604020202020204" pitchFamily="34" charset="0"/>
              </a:rPr>
              <a:t>（</a:t>
            </a:r>
            <a:r>
              <a:rPr lang="zh-TW" altLang="en-US" b="0" i="0" dirty="0">
                <a:solidFill>
                  <a:srgbClr val="222222"/>
                </a:solidFill>
                <a:effectLst/>
                <a:latin typeface="Arial" panose="020B0604020202020204" pitchFamily="34" charset="0"/>
              </a:rPr>
              <a:t>第二粒線體衍生的胱天蛋白酶活化劑）、</a:t>
            </a:r>
            <a:r>
              <a:rPr lang="en" altLang="zh-TW" b="0" i="0" dirty="0">
                <a:solidFill>
                  <a:srgbClr val="222222"/>
                </a:solidFill>
                <a:effectLst/>
                <a:latin typeface="Arial" panose="020B0604020202020204" pitchFamily="34" charset="0"/>
              </a:rPr>
              <a:t>XIAP</a:t>
            </a:r>
            <a:r>
              <a:rPr lang="zh-TW" altLang="en" b="0" i="0" dirty="0">
                <a:solidFill>
                  <a:srgbClr val="222222"/>
                </a:solidFill>
                <a:effectLst/>
                <a:latin typeface="Arial" panose="020B0604020202020204" pitchFamily="34" charset="0"/>
              </a:rPr>
              <a:t>（</a:t>
            </a:r>
            <a:r>
              <a:rPr lang="en" altLang="zh-TW" b="0" i="0" dirty="0">
                <a:solidFill>
                  <a:srgbClr val="222222"/>
                </a:solidFill>
                <a:effectLst/>
                <a:latin typeface="Arial" panose="020B0604020202020204" pitchFamily="34" charset="0"/>
              </a:rPr>
              <a:t>X</a:t>
            </a:r>
            <a:r>
              <a:rPr lang="zh-TW" altLang="en-US" b="0" i="0" dirty="0">
                <a:solidFill>
                  <a:srgbClr val="222222"/>
                </a:solidFill>
                <a:effectLst/>
                <a:latin typeface="Arial" panose="020B0604020202020204" pitchFamily="34" charset="0"/>
              </a:rPr>
              <a:t>連鎖凋亡蛋白抑制劑）、</a:t>
            </a:r>
            <a:r>
              <a:rPr lang="en" altLang="zh-TW" b="0" i="0" dirty="0">
                <a:solidFill>
                  <a:srgbClr val="222222"/>
                </a:solidFill>
                <a:effectLst/>
                <a:latin typeface="Arial" panose="020B0604020202020204" pitchFamily="34" charset="0"/>
              </a:rPr>
              <a:t>MOMP </a:t>
            </a:r>
            <a:r>
              <a:rPr lang="zh-TW" altLang="en" b="0" i="0" dirty="0">
                <a:solidFill>
                  <a:srgbClr val="222222"/>
                </a:solidFill>
                <a:effectLst/>
                <a:latin typeface="Arial" panose="020B0604020202020204" pitchFamily="34" charset="0"/>
              </a:rPr>
              <a:t>（</a:t>
            </a:r>
            <a:r>
              <a:rPr lang="zh-TW" altLang="en-US" b="0" i="0" dirty="0">
                <a:solidFill>
                  <a:srgbClr val="222222"/>
                </a:solidFill>
                <a:effectLst/>
                <a:latin typeface="Arial" panose="020B0604020202020204" pitchFamily="34" charset="0"/>
              </a:rPr>
              <a:t>粒線體外膜通透性）和 </a:t>
            </a:r>
            <a:r>
              <a:rPr lang="en" altLang="zh-TW" b="0" i="0" dirty="0">
                <a:solidFill>
                  <a:srgbClr val="222222"/>
                </a:solidFill>
                <a:effectLst/>
                <a:latin typeface="Arial" panose="020B0604020202020204" pitchFamily="34" charset="0"/>
              </a:rPr>
              <a:t>APAF</a:t>
            </a:r>
            <a:r>
              <a:rPr lang="zh-TW" altLang="en" b="0" i="0" dirty="0">
                <a:solidFill>
                  <a:srgbClr val="222222"/>
                </a:solidFill>
                <a:effectLst/>
                <a:latin typeface="Arial" panose="020B0604020202020204" pitchFamily="34" charset="0"/>
              </a:rPr>
              <a:t>（</a:t>
            </a:r>
            <a:r>
              <a:rPr lang="zh-TW" altLang="en-US" b="0" i="0" dirty="0">
                <a:solidFill>
                  <a:srgbClr val="222222"/>
                </a:solidFill>
                <a:effectLst/>
                <a:latin typeface="Arial" panose="020B0604020202020204" pitchFamily="34" charset="0"/>
              </a:rPr>
              <a:t>凋亡蛋白酶活化因子）</a:t>
            </a:r>
            <a:endParaRPr lang="zh-TW" altLang="en-US" b="0" dirty="0"/>
          </a:p>
          <a:p>
            <a:endParaRPr kumimoji="1" lang="en-US" altLang="zh-TW" dirty="0"/>
          </a:p>
        </p:txBody>
      </p:sp>
      <p:sp>
        <p:nvSpPr>
          <p:cNvPr id="4" name="投影片編號版面配置區 3">
            <a:extLst>
              <a:ext uri="{FF2B5EF4-FFF2-40B4-BE49-F238E27FC236}">
                <a16:creationId xmlns:a16="http://schemas.microsoft.com/office/drawing/2014/main" id="{C03E38A0-5F2B-BE5A-2B5D-DAF9E0E50C6D}"/>
              </a:ext>
            </a:extLst>
          </p:cNvPr>
          <p:cNvSpPr>
            <a:spLocks noGrp="1"/>
          </p:cNvSpPr>
          <p:nvPr>
            <p:ph type="sldNum" sz="quarter" idx="5"/>
          </p:nvPr>
        </p:nvSpPr>
        <p:spPr/>
        <p:txBody>
          <a:bodyPr/>
          <a:lstStyle/>
          <a:p>
            <a:fld id="{61CA63BF-C9DC-9844-BCA0-064E1D9BA987}" type="slidenum">
              <a:rPr kumimoji="1" lang="zh-TW" altLang="en-US" smtClean="0"/>
              <a:t>6</a:t>
            </a:fld>
            <a:endParaRPr kumimoji="1" lang="zh-TW" altLang="en-US"/>
          </a:p>
        </p:txBody>
      </p:sp>
    </p:spTree>
    <p:extLst>
      <p:ext uri="{BB962C8B-B14F-4D97-AF65-F5344CB8AC3E}">
        <p14:creationId xmlns:p14="http://schemas.microsoft.com/office/powerpoint/2010/main" val="12548728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633C6-BB99-C15C-F013-2FFD80C2750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32B98DA-D3D8-9FB2-4283-55D390F4DA7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8D04A50-131F-D5CF-6599-A650CFAA657C}"/>
              </a:ext>
            </a:extLst>
          </p:cNvPr>
          <p:cNvSpPr>
            <a:spLocks noGrp="1"/>
          </p:cNvSpPr>
          <p:nvPr>
            <p:ph type="body" idx="1"/>
          </p:nvPr>
        </p:nvSpPr>
        <p:spPr/>
        <p:txBody>
          <a:bodyPr/>
          <a:lstStyle/>
          <a:p>
            <a:pPr marL="0" indent="-457200">
              <a:lnSpc>
                <a:spcPct val="100000"/>
              </a:lnSpc>
              <a:buNone/>
            </a:pPr>
            <a:r>
              <a:rPr lang="zh-TW" altLang="en-US" sz="1600" b="0" kern="1200" dirty="0">
                <a:solidFill>
                  <a:schemeClr val="tx1"/>
                </a:solidFill>
                <a:latin typeface="+mn-lt"/>
                <a:ea typeface="+mn-ea"/>
                <a:cs typeface="+mn-cs"/>
              </a:rPr>
              <a:t>癌症都含有突變的 </a:t>
            </a:r>
            <a:r>
              <a:rPr lang="en" altLang="zh-TW" sz="1600" b="0" kern="1200" dirty="0">
                <a:solidFill>
                  <a:schemeClr val="tx1"/>
                </a:solidFill>
                <a:latin typeface="+mn-lt"/>
                <a:ea typeface="+mn-ea"/>
                <a:cs typeface="+mn-cs"/>
              </a:rPr>
              <a:t>p53</a:t>
            </a:r>
            <a:r>
              <a:rPr lang="zh-TW" altLang="en" sz="1600" b="0" kern="1200" dirty="0">
                <a:solidFill>
                  <a:schemeClr val="tx1"/>
                </a:solidFill>
                <a:latin typeface="+mn-lt"/>
                <a:ea typeface="+mn-ea"/>
                <a:cs typeface="+mn-cs"/>
              </a:rPr>
              <a:t>，</a:t>
            </a:r>
            <a:r>
              <a:rPr lang="zh-TW" altLang="en-US" sz="1600" b="0" kern="1200" dirty="0">
                <a:solidFill>
                  <a:schemeClr val="tx1"/>
                </a:solidFill>
                <a:latin typeface="+mn-lt"/>
                <a:ea typeface="+mn-ea"/>
                <a:cs typeface="+mn-cs"/>
              </a:rPr>
              <a:t>它是一種腫瘤抑制轉錄因子，可由多種細胞壓力激活，特別是 </a:t>
            </a:r>
            <a:r>
              <a:rPr lang="en" altLang="zh-TW" sz="1600" b="0" kern="1200" dirty="0">
                <a:solidFill>
                  <a:schemeClr val="tx1"/>
                </a:solidFill>
                <a:latin typeface="+mn-lt"/>
                <a:ea typeface="+mn-ea"/>
                <a:cs typeface="+mn-cs"/>
              </a:rPr>
              <a:t>DNA </a:t>
            </a:r>
            <a:r>
              <a:rPr lang="zh-TW" altLang="en-US" sz="1600" b="0" kern="1200" dirty="0">
                <a:solidFill>
                  <a:schemeClr val="tx1"/>
                </a:solidFill>
                <a:latin typeface="+mn-lt"/>
                <a:ea typeface="+mn-ea"/>
                <a:cs typeface="+mn-cs"/>
              </a:rPr>
              <a:t>損傷，</a:t>
            </a:r>
            <a:r>
              <a:rPr lang="en-US" altLang="zh-TW" sz="1600" b="0" kern="1200" dirty="0">
                <a:solidFill>
                  <a:schemeClr val="tx1"/>
                </a:solidFill>
                <a:latin typeface="+mn-lt"/>
                <a:ea typeface="+mn-ea"/>
                <a:cs typeface="+mn-cs"/>
              </a:rPr>
              <a:t>p</a:t>
            </a:r>
            <a:r>
              <a:rPr lang="en" altLang="zh-TW" sz="1600" b="0" kern="1200" dirty="0">
                <a:solidFill>
                  <a:schemeClr val="tx1"/>
                </a:solidFill>
                <a:latin typeface="+mn-lt"/>
                <a:ea typeface="+mn-ea"/>
                <a:cs typeface="+mn-cs"/>
              </a:rPr>
              <a:t>53</a:t>
            </a:r>
            <a:r>
              <a:rPr lang="zh-TW" altLang="en-US" sz="1600" b="0" kern="1200" dirty="0">
                <a:solidFill>
                  <a:schemeClr val="tx1"/>
                </a:solidFill>
                <a:latin typeface="+mn-lt"/>
                <a:ea typeface="+mn-ea"/>
                <a:cs typeface="+mn-cs"/>
              </a:rPr>
              <a:t>平常表現量低，受到</a:t>
            </a:r>
            <a:r>
              <a:rPr lang="en" altLang="zh-TW" sz="1600" b="0" kern="1200" dirty="0">
                <a:solidFill>
                  <a:schemeClr val="tx1"/>
                </a:solidFill>
                <a:latin typeface="+mn-lt"/>
                <a:ea typeface="+mn-ea"/>
                <a:cs typeface="+mn-cs"/>
              </a:rPr>
              <a:t>DNA</a:t>
            </a:r>
            <a:r>
              <a:rPr lang="zh-TW" altLang="en-US" sz="1600" b="0" kern="1200" dirty="0">
                <a:solidFill>
                  <a:schemeClr val="tx1"/>
                </a:solidFill>
                <a:latin typeface="+mn-lt"/>
                <a:ea typeface="+mn-ea"/>
                <a:cs typeface="+mn-cs"/>
              </a:rPr>
              <a:t>損傷刺激後活化，並在細胞核中累積，啟動細胞凋亡途徑。</a:t>
            </a:r>
            <a:endParaRPr lang="en-US" altLang="zh-TW" sz="1600" b="0" kern="1200" dirty="0">
              <a:solidFill>
                <a:schemeClr val="tx1"/>
              </a:solidFill>
              <a:latin typeface="+mn-lt"/>
              <a:ea typeface="+mn-ea"/>
              <a:cs typeface="+mn-cs"/>
            </a:endParaRPr>
          </a:p>
          <a:p>
            <a:pPr marL="0" indent="-457200">
              <a:lnSpc>
                <a:spcPct val="100000"/>
              </a:lnSpc>
              <a:buNone/>
            </a:pPr>
            <a:endParaRPr lang="en-US" altLang="zh-TW" sz="1600" b="0" kern="1200" dirty="0">
              <a:solidFill>
                <a:schemeClr val="tx1"/>
              </a:solidFill>
              <a:latin typeface="+mn-lt"/>
              <a:ea typeface="+mn-ea"/>
              <a:cs typeface="+mn-cs"/>
            </a:endParaRPr>
          </a:p>
          <a:p>
            <a:r>
              <a:rPr lang="en" altLang="zh-TW" b="0" dirty="0"/>
              <a:t>p53 </a:t>
            </a:r>
            <a:r>
              <a:rPr lang="zh-TW" altLang="en-US" b="0" dirty="0"/>
              <a:t>在</a:t>
            </a:r>
            <a:r>
              <a:rPr lang="en-US" altLang="zh-TW" b="0" dirty="0"/>
              <a:t>apoptosis</a:t>
            </a:r>
            <a:r>
              <a:rPr lang="zh-TW" altLang="en-US" b="0" dirty="0"/>
              <a:t>中上調多種 </a:t>
            </a:r>
            <a:r>
              <a:rPr lang="en" altLang="zh-TW" b="0" dirty="0"/>
              <a:t>BH3-only </a:t>
            </a:r>
            <a:r>
              <a:rPr lang="zh-TW" altLang="en-US" b="0" dirty="0"/>
              <a:t>蛋白（促凋亡蛋白）：</a:t>
            </a:r>
            <a:r>
              <a:rPr lang="en" altLang="zh-TW" b="0" dirty="0"/>
              <a:t>BIM</a:t>
            </a:r>
            <a:r>
              <a:rPr lang="zh-TW" altLang="en-US" b="0" dirty="0"/>
              <a:t>、</a:t>
            </a:r>
            <a:r>
              <a:rPr lang="en" altLang="zh-TW" b="0" dirty="0"/>
              <a:t>PUMA</a:t>
            </a:r>
            <a:r>
              <a:rPr lang="zh-TW" altLang="en" b="0" dirty="0"/>
              <a:t>、</a:t>
            </a:r>
            <a:r>
              <a:rPr lang="en" altLang="zh-TW" b="0" dirty="0"/>
              <a:t>NOXA</a:t>
            </a:r>
            <a:r>
              <a:rPr lang="zh-TW" altLang="en-US" b="0" dirty="0"/>
              <a:t>，特別是研究發現</a:t>
            </a:r>
            <a:r>
              <a:rPr lang="en-US" altLang="zh-TW" b="0" dirty="0"/>
              <a:t>p53</a:t>
            </a:r>
            <a:r>
              <a:rPr lang="zh-TW" altLang="en-US" b="0" dirty="0"/>
              <a:t>直接標靶 </a:t>
            </a:r>
            <a:r>
              <a:rPr lang="en" altLang="zh-TW" b="0" dirty="0"/>
              <a:t>PUMA </a:t>
            </a:r>
            <a:r>
              <a:rPr lang="zh-TW" altLang="en-US" b="0" dirty="0"/>
              <a:t>和 </a:t>
            </a:r>
            <a:r>
              <a:rPr lang="en" altLang="zh-TW" b="0" dirty="0"/>
              <a:t>NOXA</a:t>
            </a:r>
            <a:r>
              <a:rPr lang="zh-TW" altLang="en-US" b="0" dirty="0"/>
              <a:t>，這些促凋亡蛋白會結合並抑制 </a:t>
            </a:r>
            <a:r>
              <a:rPr lang="en" altLang="zh-TW" b="0" dirty="0"/>
              <a:t>BCL-2</a:t>
            </a:r>
            <a:r>
              <a:rPr lang="zh-TW" altLang="en" b="0" dirty="0"/>
              <a:t>、</a:t>
            </a:r>
            <a:r>
              <a:rPr lang="en" altLang="zh-TW" b="0" dirty="0"/>
              <a:t>MCL-1</a:t>
            </a:r>
            <a:r>
              <a:rPr lang="zh-TW" altLang="en" b="0" dirty="0"/>
              <a:t>、</a:t>
            </a:r>
            <a:r>
              <a:rPr lang="en" altLang="zh-TW" b="0" dirty="0"/>
              <a:t>BCL-</a:t>
            </a:r>
            <a:r>
              <a:rPr lang="en" altLang="zh-TW" b="0" dirty="0" err="1"/>
              <a:t>xL</a:t>
            </a:r>
            <a:r>
              <a:rPr lang="zh-TW" altLang="en-US" b="0" dirty="0"/>
              <a:t>，使</a:t>
            </a:r>
            <a:r>
              <a:rPr lang="en" altLang="zh-TW" b="0" dirty="0"/>
              <a:t>BAX/BAK </a:t>
            </a:r>
            <a:r>
              <a:rPr lang="zh-TW" altLang="en-US" b="0" dirty="0"/>
              <a:t>可以被活化，促進</a:t>
            </a:r>
            <a:r>
              <a:rPr lang="en-US" altLang="zh-TW" b="0" dirty="0"/>
              <a:t>MOMP</a:t>
            </a:r>
            <a:r>
              <a:rPr lang="zh-TW" altLang="en-US" b="0" dirty="0"/>
              <a:t>的產生，使</a:t>
            </a:r>
            <a:r>
              <a:rPr lang="en-US" altLang="zh-TW" b="0" dirty="0"/>
              <a:t>apoptosis</a:t>
            </a:r>
            <a:r>
              <a:rPr lang="zh-TW" altLang="en-US" b="0" dirty="0"/>
              <a:t>可以進行。</a:t>
            </a:r>
            <a:endParaRPr lang="en-US" altLang="zh-TW" b="0" dirty="0"/>
          </a:p>
          <a:p>
            <a:endParaRPr lang="en-US" altLang="zh-TW" sz="1600" b="0" kern="1200" dirty="0">
              <a:solidFill>
                <a:schemeClr val="tx1"/>
              </a:solidFill>
              <a:latin typeface="+mn-lt"/>
              <a:ea typeface="+mn-ea"/>
              <a:cs typeface="+mn-cs"/>
            </a:endParaRPr>
          </a:p>
          <a:p>
            <a:endParaRPr lang="en-US" altLang="zh-TW" sz="1600" b="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sz="1600" b="0" kern="1200" dirty="0">
                <a:solidFill>
                  <a:schemeClr val="tx1"/>
                </a:solidFill>
                <a:latin typeface="+mn-lt"/>
                <a:ea typeface="+mn-ea"/>
                <a:cs typeface="+mn-cs"/>
              </a:rPr>
              <a:t>p53 </a:t>
            </a:r>
            <a:r>
              <a:rPr lang="zh-TW" altLang="en-US" sz="1600" b="0" kern="1200" dirty="0">
                <a:solidFill>
                  <a:schemeClr val="tx1"/>
                </a:solidFill>
                <a:latin typeface="+mn-lt"/>
                <a:ea typeface="+mn-ea"/>
                <a:cs typeface="+mn-cs"/>
              </a:rPr>
              <a:t>是一種快速週轉蛋白，通常透過泛素依賴性蛋白水解的快速降解維持在低水平 。翻譯後修飾（如磷酸化）和與其他蛋白質的相互作用是穩定和激活通常壽命較短的 </a:t>
            </a:r>
            <a:r>
              <a:rPr lang="en" altLang="zh-TW" sz="1600" b="0" kern="1200" dirty="0">
                <a:solidFill>
                  <a:schemeClr val="tx1"/>
                </a:solidFill>
                <a:latin typeface="+mn-lt"/>
                <a:ea typeface="+mn-ea"/>
                <a:cs typeface="+mn-cs"/>
              </a:rPr>
              <a:t>p53 </a:t>
            </a:r>
            <a:r>
              <a:rPr lang="zh-TW" altLang="en-US" sz="1600" b="0" kern="1200" dirty="0">
                <a:solidFill>
                  <a:schemeClr val="tx1"/>
                </a:solidFill>
                <a:latin typeface="+mn-lt"/>
                <a:ea typeface="+mn-ea"/>
                <a:cs typeface="+mn-cs"/>
              </a:rPr>
              <a:t>的重要調節因素。活化導致 </a:t>
            </a:r>
            <a:r>
              <a:rPr lang="en" altLang="zh-TW" sz="1600" b="0" kern="1200" dirty="0">
                <a:solidFill>
                  <a:schemeClr val="tx1"/>
                </a:solidFill>
                <a:latin typeface="+mn-lt"/>
                <a:ea typeface="+mn-ea"/>
                <a:cs typeface="+mn-cs"/>
              </a:rPr>
              <a:t>p53 </a:t>
            </a:r>
            <a:r>
              <a:rPr lang="zh-TW" altLang="en-US" sz="1600" b="0" kern="1200" dirty="0">
                <a:solidFill>
                  <a:schemeClr val="tx1"/>
                </a:solidFill>
                <a:latin typeface="+mn-lt"/>
                <a:ea typeface="+mn-ea"/>
                <a:cs typeface="+mn-cs"/>
              </a:rPr>
              <a:t>在細胞核中積累，在那裡它調節基因表達，並最終導致兩種明確的細胞反應，即細胞週期停滯和細胞凋亡。</a:t>
            </a:r>
          </a:p>
          <a:p>
            <a:endParaRPr kumimoji="1" lang="zh-TW" altLang="en-US" dirty="0"/>
          </a:p>
        </p:txBody>
      </p:sp>
      <p:sp>
        <p:nvSpPr>
          <p:cNvPr id="4" name="投影片編號版面配置區 3">
            <a:extLst>
              <a:ext uri="{FF2B5EF4-FFF2-40B4-BE49-F238E27FC236}">
                <a16:creationId xmlns:a16="http://schemas.microsoft.com/office/drawing/2014/main" id="{27A4FBDE-9181-346B-A8B4-E535D2C0E064}"/>
              </a:ext>
            </a:extLst>
          </p:cNvPr>
          <p:cNvSpPr>
            <a:spLocks noGrp="1"/>
          </p:cNvSpPr>
          <p:nvPr>
            <p:ph type="sldNum" sz="quarter" idx="5"/>
          </p:nvPr>
        </p:nvSpPr>
        <p:spPr/>
        <p:txBody>
          <a:bodyPr/>
          <a:lstStyle/>
          <a:p>
            <a:fld id="{61CA63BF-C9DC-9844-BCA0-064E1D9BA987}" type="slidenum">
              <a:rPr kumimoji="1" lang="zh-TW" altLang="en-US" smtClean="0"/>
              <a:t>7</a:t>
            </a:fld>
            <a:endParaRPr kumimoji="1" lang="zh-TW" altLang="en-US"/>
          </a:p>
        </p:txBody>
      </p:sp>
    </p:spTree>
    <p:extLst>
      <p:ext uri="{BB962C8B-B14F-4D97-AF65-F5344CB8AC3E}">
        <p14:creationId xmlns:p14="http://schemas.microsoft.com/office/powerpoint/2010/main" val="3210704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D016E-09E4-BAE4-E489-C15EDCBD373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4735F18-0C7A-3435-D86F-6D0E5C012A5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054DF8D-087D-ADAB-8F83-C287A11C8B6B}"/>
              </a:ext>
            </a:extLst>
          </p:cNvPr>
          <p:cNvSpPr>
            <a:spLocks noGrp="1"/>
          </p:cNvSpPr>
          <p:nvPr>
            <p:ph type="body" idx="1"/>
          </p:nvPr>
        </p:nvSpPr>
        <p:spPr/>
        <p:txBody>
          <a:bodyPr/>
          <a:lstStyle/>
          <a:p>
            <a:r>
              <a:rPr kumimoji="1" lang="zh-TW" altLang="en-US" b="0" dirty="0"/>
              <a:t>接下來要介紹的是</a:t>
            </a:r>
            <a:r>
              <a:rPr kumimoji="1" lang="en-US" altLang="zh-TW" b="0" dirty="0"/>
              <a:t>DDX3X </a:t>
            </a:r>
            <a:r>
              <a:rPr kumimoji="1" lang="zh-TW" altLang="en-US" b="0" dirty="0"/>
              <a:t>，他是一種 </a:t>
            </a:r>
            <a:r>
              <a:rPr kumimoji="1" lang="en-US" altLang="zh-TW" b="0" dirty="0"/>
              <a:t>DEAD-box RNA </a:t>
            </a:r>
            <a:r>
              <a:rPr kumimoji="1" lang="zh-TW" altLang="en-US" b="0" dirty="0"/>
              <a:t>解旋酶，長度為 </a:t>
            </a:r>
            <a:r>
              <a:rPr kumimoji="1" lang="en-US" altLang="zh-TW" b="0" dirty="0"/>
              <a:t>661 </a:t>
            </a:r>
            <a:r>
              <a:rPr kumimoji="1" lang="zh-TW" altLang="en-US" b="0" dirty="0"/>
              <a:t>或 </a:t>
            </a:r>
            <a:r>
              <a:rPr kumimoji="1" lang="en-US" altLang="zh-TW" b="0" dirty="0"/>
              <a:t>662 </a:t>
            </a:r>
            <a:r>
              <a:rPr kumimoji="1" lang="zh-TW" altLang="en-US" b="0" dirty="0"/>
              <a:t>個胺基酸，分子量約 </a:t>
            </a:r>
            <a:r>
              <a:rPr kumimoji="1" lang="en-US" altLang="zh-TW" b="0" dirty="0"/>
              <a:t>55 </a:t>
            </a:r>
            <a:r>
              <a:rPr kumimoji="1" lang="en-US" altLang="zh-TW" b="0" dirty="0" err="1"/>
              <a:t>kDa</a:t>
            </a:r>
            <a:r>
              <a:rPr kumimoji="1" lang="zh-TW" altLang="en-US" b="0" dirty="0"/>
              <a:t>。</a:t>
            </a:r>
            <a:r>
              <a:rPr lang="zh-TW" altLang="en-US" b="0" dirty="0"/>
              <a:t>為多功能蛋白質，參與</a:t>
            </a:r>
            <a:r>
              <a:rPr lang="en" altLang="zh-TW" b="0" dirty="0"/>
              <a:t>RNA </a:t>
            </a:r>
            <a:r>
              <a:rPr lang="zh-TW" altLang="en-US" b="0" dirty="0"/>
              <a:t>轉譯、基因轉錄、細胞週期調控，以及腫瘤形成與發展。</a:t>
            </a:r>
          </a:p>
          <a:p>
            <a:endParaRPr kumimoji="1" lang="en-US" altLang="zh-TW" b="0" dirty="0"/>
          </a:p>
          <a:p>
            <a:r>
              <a:rPr kumimoji="1" lang="zh-TW" altLang="en-US" b="0" dirty="0"/>
              <a:t>他的結構是由兩個</a:t>
            </a:r>
            <a:r>
              <a:rPr lang="en" altLang="zh-TW" b="0" dirty="0" err="1"/>
              <a:t>RecA</a:t>
            </a:r>
            <a:r>
              <a:rPr lang="en" altLang="zh-TW" b="0" dirty="0"/>
              <a:t>-like </a:t>
            </a:r>
            <a:r>
              <a:rPr lang="zh-TW" altLang="en-US" b="0" dirty="0"/>
              <a:t>結構域所組成，裡面包含</a:t>
            </a:r>
            <a:r>
              <a:rPr lang="en-US" altLang="zh-TW" b="0" dirty="0"/>
              <a:t>12 </a:t>
            </a:r>
            <a:r>
              <a:rPr lang="zh-TW" altLang="en-US" b="0" dirty="0"/>
              <a:t>個高度保守的基序（</a:t>
            </a:r>
            <a:r>
              <a:rPr lang="en" altLang="zh-TW" b="0" dirty="0"/>
              <a:t>motifs</a:t>
            </a:r>
            <a:r>
              <a:rPr lang="zh-TW" altLang="en" b="0" dirty="0"/>
              <a:t>）</a:t>
            </a:r>
            <a:r>
              <a:rPr lang="zh-TW" altLang="en-US" b="0" dirty="0"/>
              <a:t>，這些</a:t>
            </a:r>
            <a:r>
              <a:rPr lang="en-US" altLang="zh-TW" b="0" dirty="0"/>
              <a:t>motifs</a:t>
            </a:r>
            <a:r>
              <a:rPr lang="zh-TW" altLang="en-US" b="0" dirty="0"/>
              <a:t>的功能主要為解旋 </a:t>
            </a:r>
            <a:r>
              <a:rPr lang="en" altLang="zh-TW" b="0" dirty="0"/>
              <a:t>RNA </a:t>
            </a:r>
            <a:r>
              <a:rPr lang="zh-TW" altLang="en-US" b="0" dirty="0"/>
              <a:t>雙股、水解 </a:t>
            </a:r>
            <a:r>
              <a:rPr lang="en" altLang="zh-TW" b="0" dirty="0"/>
              <a:t>ATP</a:t>
            </a:r>
            <a:r>
              <a:rPr lang="zh-TW" altLang="en" b="0" dirty="0"/>
              <a:t>、</a:t>
            </a:r>
            <a:r>
              <a:rPr lang="zh-TW" altLang="en-US" b="0" dirty="0"/>
              <a:t>調控 </a:t>
            </a:r>
            <a:r>
              <a:rPr lang="en" altLang="zh-TW" b="0" dirty="0"/>
              <a:t>RNA </a:t>
            </a:r>
            <a:r>
              <a:rPr lang="zh-TW" altLang="en-US" b="0" dirty="0"/>
              <a:t>轉譯（如 </a:t>
            </a:r>
            <a:r>
              <a:rPr lang="en" altLang="zh-TW" b="0" dirty="0"/>
              <a:t>Cyclin E1</a:t>
            </a:r>
            <a:r>
              <a:rPr lang="zh-TW" altLang="en" b="0" dirty="0"/>
              <a:t>、</a:t>
            </a:r>
            <a:r>
              <a:rPr lang="en" altLang="zh-TW" b="0" dirty="0"/>
              <a:t>Rac1</a:t>
            </a:r>
            <a:r>
              <a:rPr lang="zh-TW" altLang="en" b="0" dirty="0"/>
              <a:t>）</a:t>
            </a:r>
            <a:r>
              <a:rPr lang="zh-TW" altLang="en-US" b="0" dirty="0"/>
              <a:t>、以及調節基因轉錄（如 </a:t>
            </a:r>
            <a:r>
              <a:rPr lang="en" altLang="zh-TW" b="0" dirty="0"/>
              <a:t>P21</a:t>
            </a:r>
            <a:r>
              <a:rPr lang="zh-TW" altLang="en" b="0" dirty="0"/>
              <a:t>）</a:t>
            </a:r>
            <a:endParaRPr kumimoji="1" lang="en-US" altLang="zh-TW" b="0" dirty="0"/>
          </a:p>
          <a:p>
            <a:endParaRPr kumimoji="1" lang="en-US" altLang="zh-TW" b="0" dirty="0"/>
          </a:p>
          <a:p>
            <a:r>
              <a:rPr kumimoji="1" lang="zh-TW" altLang="en-US" b="0" dirty="0"/>
              <a:t>另外在</a:t>
            </a:r>
            <a:r>
              <a:rPr kumimoji="1" lang="en-US" altLang="zh-TW" b="0" dirty="0"/>
              <a:t>N</a:t>
            </a:r>
            <a:r>
              <a:rPr kumimoji="1" lang="zh-TW" altLang="en-US" b="0" dirty="0"/>
              <a:t>端和</a:t>
            </a:r>
            <a:r>
              <a:rPr kumimoji="1" lang="en-US" altLang="zh-TW" b="0" dirty="0"/>
              <a:t>C</a:t>
            </a:r>
            <a:r>
              <a:rPr kumimoji="1" lang="zh-TW" altLang="en-US" b="0" dirty="0"/>
              <a:t>端各有一段</a:t>
            </a:r>
            <a:r>
              <a:rPr lang="en" altLang="zh-TW" sz="1600" b="0" dirty="0"/>
              <a:t>Extensions</a:t>
            </a:r>
            <a:r>
              <a:rPr lang="zh-TW" altLang="en-US" sz="1600" b="0" dirty="0"/>
              <a:t>區域，裡面有</a:t>
            </a:r>
            <a:r>
              <a:rPr lang="en-US" altLang="zh-TW" sz="1600" b="0" dirty="0"/>
              <a:t>NTE</a:t>
            </a:r>
            <a:r>
              <a:rPr lang="zh-TW" altLang="en-US" sz="1600" b="0" dirty="0"/>
              <a:t>和</a:t>
            </a:r>
            <a:r>
              <a:rPr lang="en-US" altLang="zh-TW" sz="1600" b="0" dirty="0"/>
              <a:t>CTE</a:t>
            </a:r>
            <a:r>
              <a:rPr lang="zh-TW" altLang="en-US" sz="1600" b="0" dirty="0"/>
              <a:t>協助</a:t>
            </a:r>
            <a:r>
              <a:rPr lang="en-US" altLang="zh-TW" sz="1600" b="0" dirty="0"/>
              <a:t>Domain1/2</a:t>
            </a:r>
            <a:r>
              <a:rPr lang="zh-TW" altLang="en-US" b="0" dirty="0"/>
              <a:t>解旋 </a:t>
            </a:r>
            <a:r>
              <a:rPr lang="en" altLang="zh-TW" b="0" dirty="0"/>
              <a:t>RNA </a:t>
            </a:r>
            <a:r>
              <a:rPr lang="zh-TW" altLang="en-US" b="0" dirty="0"/>
              <a:t>雙股、水解 </a:t>
            </a:r>
            <a:r>
              <a:rPr lang="en" altLang="zh-TW" b="0" dirty="0"/>
              <a:t>ATP</a:t>
            </a:r>
            <a:r>
              <a:rPr lang="zh-TW" altLang="en-US" b="0" dirty="0"/>
              <a:t>，另外在</a:t>
            </a:r>
            <a:r>
              <a:rPr kumimoji="1" lang="en-US" altLang="zh-TW" b="0" dirty="0"/>
              <a:t>N</a:t>
            </a:r>
            <a:r>
              <a:rPr kumimoji="1" lang="zh-TW" altLang="en-US" b="0" dirty="0"/>
              <a:t>端</a:t>
            </a:r>
            <a:r>
              <a:rPr lang="zh-TW" altLang="en-US" b="0" dirty="0"/>
              <a:t>第 </a:t>
            </a:r>
            <a:r>
              <a:rPr lang="en-US" altLang="zh-TW" b="0" dirty="0"/>
              <a:t>40 </a:t>
            </a:r>
            <a:r>
              <a:rPr lang="zh-TW" altLang="en-US" b="0" dirty="0"/>
              <a:t>號胺基酸附近有一個</a:t>
            </a:r>
            <a:r>
              <a:rPr lang="en" altLang="zh-TW" b="0" dirty="0"/>
              <a:t>eIF4E </a:t>
            </a:r>
            <a:r>
              <a:rPr lang="zh-TW" altLang="en-US" b="0" dirty="0"/>
              <a:t>結合位點（其他 </a:t>
            </a:r>
            <a:r>
              <a:rPr lang="en" altLang="zh-TW" b="0" dirty="0"/>
              <a:t>DEAD-box </a:t>
            </a:r>
            <a:r>
              <a:rPr lang="zh-TW" altLang="en-US" b="0" dirty="0"/>
              <a:t>解旋酶沒有），可以將特定 </a:t>
            </a:r>
            <a:r>
              <a:rPr lang="en" altLang="zh-TW" b="0" dirty="0"/>
              <a:t>mRNA </a:t>
            </a:r>
            <a:r>
              <a:rPr lang="zh-TW" altLang="en-US" b="0" dirty="0"/>
              <a:t>引導至 </a:t>
            </a:r>
            <a:r>
              <a:rPr lang="en" altLang="zh-TW" b="0" dirty="0"/>
              <a:t>eIF4E</a:t>
            </a:r>
            <a:r>
              <a:rPr lang="zh-TW" altLang="en" b="0" dirty="0"/>
              <a:t>，</a:t>
            </a:r>
            <a:r>
              <a:rPr lang="zh-TW" altLang="en-US" b="0" dirty="0"/>
              <a:t>促進其轉譯起始。</a:t>
            </a:r>
            <a:endParaRPr lang="en-US" altLang="zh-TW" b="0" dirty="0"/>
          </a:p>
          <a:p>
            <a:endParaRPr lang="en-US" altLang="zh-TW" b="0" dirty="0"/>
          </a:p>
          <a:p>
            <a:endParaRPr lang="en-US" altLang="zh-TW" b="0" dirty="0"/>
          </a:p>
          <a:p>
            <a:endParaRPr kumimoji="1" lang="en-US" altLang="zh-TW" b="0" dirty="0"/>
          </a:p>
          <a:p>
            <a:pPr marL="285750" indent="-285750">
              <a:buFont typeface="Arial" panose="020B0604020202020204" pitchFamily="34" charset="0"/>
              <a:buChar char="•"/>
            </a:pPr>
            <a:r>
              <a:rPr kumimoji="1" lang="en-US" altLang="zh-TW" b="0" dirty="0"/>
              <a:t>NES </a:t>
            </a:r>
            <a:r>
              <a:rPr kumimoji="1" lang="zh-TW" altLang="en-US" b="0" dirty="0"/>
              <a:t>負責將 </a:t>
            </a:r>
            <a:r>
              <a:rPr kumimoji="1" lang="en-US" altLang="zh-TW" b="0" dirty="0"/>
              <a:t>DDX3X </a:t>
            </a:r>
            <a:r>
              <a:rPr kumimoji="1" lang="zh-TW" altLang="en-US" b="0" dirty="0"/>
              <a:t>及其結合的 </a:t>
            </a:r>
            <a:r>
              <a:rPr kumimoji="1" lang="en-US" altLang="zh-TW" b="0" dirty="0"/>
              <a:t>RNA </a:t>
            </a:r>
            <a:r>
              <a:rPr kumimoji="1" lang="zh-TW" altLang="en-US" b="0" dirty="0"/>
              <a:t>從細胞核輸出，</a:t>
            </a:r>
            <a:r>
              <a:rPr kumimoji="1" lang="en-US" altLang="zh-TW" b="0" dirty="0"/>
              <a:t>RS-like </a:t>
            </a:r>
            <a:r>
              <a:rPr kumimoji="1" lang="zh-TW" altLang="en-US" b="0" dirty="0"/>
              <a:t>區則強化其與 </a:t>
            </a:r>
            <a:r>
              <a:rPr kumimoji="1" lang="en-US" altLang="zh-TW" b="0" dirty="0"/>
              <a:t>RNA </a:t>
            </a:r>
            <a:r>
              <a:rPr kumimoji="1" lang="zh-TW" altLang="en-US" b="0" dirty="0"/>
              <a:t>和核輸出複合體（如 </a:t>
            </a:r>
            <a:r>
              <a:rPr kumimoji="1" lang="en-US" altLang="zh-TW" b="0" dirty="0"/>
              <a:t>TAP</a:t>
            </a:r>
            <a:r>
              <a:rPr kumimoji="1" lang="zh-TW" altLang="en-US" b="0" dirty="0"/>
              <a:t>）的互動，是 </a:t>
            </a:r>
            <a:r>
              <a:rPr kumimoji="1" lang="en-US" altLang="zh-TW" b="0" dirty="0"/>
              <a:t>DDX3X </a:t>
            </a:r>
            <a:r>
              <a:rPr kumimoji="1" lang="zh-TW" altLang="en-US" b="0" dirty="0"/>
              <a:t>執行 </a:t>
            </a:r>
            <a:r>
              <a:rPr kumimoji="1" lang="en-US" altLang="zh-TW" b="0" dirty="0"/>
              <a:t>RNA </a:t>
            </a:r>
            <a:r>
              <a:rPr kumimoji="1" lang="zh-TW" altLang="en-US" b="0" dirty="0"/>
              <a:t>輸出與轉譯功能的兩個關鍵結構元件。</a:t>
            </a:r>
            <a:endParaRPr kumimoji="1" lang="en-US" altLang="zh-TW" b="0" dirty="0"/>
          </a:p>
          <a:p>
            <a:pPr marL="285750" indent="-285750">
              <a:buFont typeface="Arial" panose="020B0604020202020204" pitchFamily="34" charset="0"/>
              <a:buChar char="•"/>
            </a:pPr>
            <a:r>
              <a:rPr lang="en" altLang="zh-TW" b="0" dirty="0"/>
              <a:t>ATP binding &amp; hydrolysis: Motifs Q, I, II (DEAD), VI</a:t>
            </a:r>
            <a:endParaRPr kumimoji="1" lang="en-US" altLang="zh-TW" b="0" dirty="0"/>
          </a:p>
          <a:p>
            <a:pPr marL="285750" indent="-285750">
              <a:buFont typeface="Arial" panose="020B0604020202020204" pitchFamily="34" charset="0"/>
              <a:buChar char="•"/>
            </a:pPr>
            <a:r>
              <a:rPr kumimoji="1" lang="en-US" altLang="zh-TW" b="0" dirty="0"/>
              <a:t>RNA binding: Motifs </a:t>
            </a:r>
            <a:r>
              <a:rPr kumimoji="1" lang="en-US" altLang="zh-TW" b="0" dirty="0" err="1"/>
              <a:t>Ia</a:t>
            </a:r>
            <a:r>
              <a:rPr kumimoji="1" lang="en-US" altLang="zh-TW" b="0" dirty="0"/>
              <a:t>, </a:t>
            </a:r>
            <a:r>
              <a:rPr kumimoji="1" lang="en-US" altLang="zh-TW" b="0" dirty="0" err="1"/>
              <a:t>Ib</a:t>
            </a:r>
            <a:r>
              <a:rPr kumimoji="1" lang="en-US" altLang="zh-TW" b="0" dirty="0"/>
              <a:t>, </a:t>
            </a:r>
            <a:r>
              <a:rPr kumimoji="1" lang="en-US" altLang="zh-TW" b="0" dirty="0" err="1"/>
              <a:t>Ic</a:t>
            </a:r>
            <a:r>
              <a:rPr kumimoji="1" lang="en-US" altLang="zh-TW" b="0" dirty="0"/>
              <a:t>, IV, </a:t>
            </a:r>
            <a:r>
              <a:rPr kumimoji="1" lang="en-US" altLang="zh-TW" b="0" dirty="0" err="1"/>
              <a:t>IVa</a:t>
            </a:r>
            <a:r>
              <a:rPr kumimoji="1" lang="en-US" altLang="zh-TW" b="0" dirty="0"/>
              <a:t>, V, VI</a:t>
            </a:r>
          </a:p>
          <a:p>
            <a:pPr marL="285750" indent="-285750">
              <a:buFont typeface="Arial" panose="020B0604020202020204" pitchFamily="34" charset="0"/>
              <a:buChar char="•"/>
            </a:pPr>
            <a:r>
              <a:rPr kumimoji="1" lang="en-US" altLang="zh-TW" b="0" dirty="0"/>
              <a:t>RNA–ATP communication: Motifs III, Iva</a:t>
            </a:r>
          </a:p>
          <a:p>
            <a:pPr marL="285750" indent="-285750">
              <a:buFont typeface="Arial" panose="020B0604020202020204" pitchFamily="34" charset="0"/>
              <a:buChar char="•"/>
            </a:pPr>
            <a:r>
              <a:rPr kumimoji="1" lang="zh-TW" altLang="en-US" b="0" dirty="0"/>
              <a:t>「</a:t>
            </a:r>
            <a:r>
              <a:rPr kumimoji="1" lang="en-US" altLang="zh-TW" b="0" dirty="0"/>
              <a:t>DEAD</a:t>
            </a:r>
            <a:r>
              <a:rPr kumimoji="1" lang="zh-TW" altLang="en-US" b="0" dirty="0"/>
              <a:t>」代表一段高度保守的胺基酸序列：</a:t>
            </a:r>
            <a:r>
              <a:rPr kumimoji="1" lang="en-US" altLang="zh-TW" b="0" dirty="0"/>
              <a:t>D–E–A–D = Asp–Glu–Ala–Asp</a:t>
            </a:r>
            <a:r>
              <a:rPr kumimoji="1" lang="zh-TW" altLang="en-US" b="0" dirty="0"/>
              <a:t>，這是 </a:t>
            </a:r>
            <a:r>
              <a:rPr kumimoji="1" lang="en-US" altLang="zh-TW" b="0" dirty="0"/>
              <a:t>DEAD-box </a:t>
            </a:r>
            <a:r>
              <a:rPr kumimoji="1" lang="zh-TW" altLang="en-US" b="0" dirty="0"/>
              <a:t>蛋白中 </a:t>
            </a:r>
            <a:r>
              <a:rPr kumimoji="1" lang="en-US" altLang="zh-TW" b="0" dirty="0"/>
              <a:t>ATP </a:t>
            </a:r>
            <a:r>
              <a:rPr kumimoji="1" lang="zh-TW" altLang="en-US" b="0" dirty="0"/>
              <a:t>結合</a:t>
            </a:r>
            <a:r>
              <a:rPr kumimoji="1" lang="en-US" altLang="zh-TW" b="0" dirty="0"/>
              <a:t>/</a:t>
            </a:r>
            <a:r>
              <a:rPr kumimoji="1" lang="zh-TW" altLang="en-US" b="0" dirty="0"/>
              <a:t>水解區的重要特徵，位於 </a:t>
            </a:r>
            <a:r>
              <a:rPr kumimoji="1" lang="en-US" altLang="zh-TW" b="0" dirty="0"/>
              <a:t>motif II</a:t>
            </a:r>
          </a:p>
          <a:p>
            <a:endParaRPr kumimoji="1" lang="en-US" altLang="zh-TW" dirty="0"/>
          </a:p>
          <a:p>
            <a:endParaRPr kumimoji="1" lang="en-US" altLang="zh-TW" dirty="0"/>
          </a:p>
        </p:txBody>
      </p:sp>
      <p:sp>
        <p:nvSpPr>
          <p:cNvPr id="4" name="投影片編號版面配置區 3">
            <a:extLst>
              <a:ext uri="{FF2B5EF4-FFF2-40B4-BE49-F238E27FC236}">
                <a16:creationId xmlns:a16="http://schemas.microsoft.com/office/drawing/2014/main" id="{DDBE1F95-D266-D4FA-5BDA-E4F5446D4F7F}"/>
              </a:ext>
            </a:extLst>
          </p:cNvPr>
          <p:cNvSpPr>
            <a:spLocks noGrp="1"/>
          </p:cNvSpPr>
          <p:nvPr>
            <p:ph type="sldNum" sz="quarter" idx="5"/>
          </p:nvPr>
        </p:nvSpPr>
        <p:spPr/>
        <p:txBody>
          <a:bodyPr/>
          <a:lstStyle/>
          <a:p>
            <a:fld id="{61CA63BF-C9DC-9844-BCA0-064E1D9BA987}" type="slidenum">
              <a:rPr kumimoji="1" lang="zh-TW" altLang="en-US" smtClean="0"/>
              <a:t>8</a:t>
            </a:fld>
            <a:endParaRPr kumimoji="1" lang="zh-TW" altLang="en-US"/>
          </a:p>
        </p:txBody>
      </p:sp>
    </p:spTree>
    <p:extLst>
      <p:ext uri="{BB962C8B-B14F-4D97-AF65-F5344CB8AC3E}">
        <p14:creationId xmlns:p14="http://schemas.microsoft.com/office/powerpoint/2010/main" val="4127153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5CCBA-CA8E-29C4-A6FB-E94FE49F9A0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5EFAD43-9DFA-4967-2ACA-32D437203D8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28D3DDB-C111-9C2E-B4CE-C6EEAAA210DC}"/>
              </a:ext>
            </a:extLst>
          </p:cNvPr>
          <p:cNvSpPr>
            <a:spLocks noGrp="1"/>
          </p:cNvSpPr>
          <p:nvPr>
            <p:ph type="body" idx="1"/>
          </p:nvPr>
        </p:nvSpPr>
        <p:spPr/>
        <p:txBody>
          <a:bodyPr/>
          <a:lstStyle/>
          <a:p>
            <a:r>
              <a:rPr lang="en-US" altLang="zh-TW" b="0" dirty="0"/>
              <a:t>❶ </a:t>
            </a:r>
            <a:r>
              <a:rPr lang="zh-TW" altLang="en-US" b="0" dirty="0"/>
              <a:t>外源性凋亡（</a:t>
            </a:r>
            <a:r>
              <a:rPr lang="en" altLang="zh-TW" b="0" dirty="0"/>
              <a:t>Extrinsic Apoptosis</a:t>
            </a:r>
            <a:r>
              <a:rPr lang="zh-TW" altLang="en" b="0" dirty="0"/>
              <a:t>）</a:t>
            </a:r>
            <a:r>
              <a:rPr lang="en" altLang="zh-TW" b="0" dirty="0"/>
              <a:t>– </a:t>
            </a:r>
            <a:r>
              <a:rPr lang="zh-TW" altLang="en-US" b="0" dirty="0"/>
              <a:t>正常情況</a:t>
            </a:r>
          </a:p>
          <a:p>
            <a:pPr>
              <a:buFont typeface="Arial" panose="020B0604020202020204" pitchFamily="34" charset="0"/>
              <a:buChar char="•"/>
            </a:pPr>
            <a:r>
              <a:rPr lang="zh-TW" altLang="en-US" b="0" dirty="0"/>
              <a:t>死亡配體（</a:t>
            </a:r>
            <a:r>
              <a:rPr lang="en" altLang="zh-TW" b="0" dirty="0"/>
              <a:t>Death ligands</a:t>
            </a:r>
            <a:r>
              <a:rPr lang="zh-TW" altLang="en" b="0" dirty="0"/>
              <a:t>）</a:t>
            </a:r>
            <a:r>
              <a:rPr lang="en" altLang="zh-TW" b="0" dirty="0"/>
              <a:t> </a:t>
            </a:r>
            <a:r>
              <a:rPr lang="zh-TW" altLang="en-US" b="0" dirty="0"/>
              <a:t>和 死亡受體（</a:t>
            </a:r>
            <a:r>
              <a:rPr lang="en" altLang="zh-TW" b="0" dirty="0"/>
              <a:t>Death receptor</a:t>
            </a:r>
            <a:r>
              <a:rPr lang="zh-TW" altLang="en" b="0" dirty="0"/>
              <a:t>）</a:t>
            </a:r>
            <a:r>
              <a:rPr lang="en" altLang="zh-TW" b="0" dirty="0"/>
              <a:t> </a:t>
            </a:r>
            <a:r>
              <a:rPr lang="zh-TW" altLang="en-US" b="0" dirty="0"/>
              <a:t>結合。</a:t>
            </a:r>
          </a:p>
          <a:p>
            <a:pPr>
              <a:buFont typeface="Arial" panose="020B0604020202020204" pitchFamily="34" charset="0"/>
              <a:buChar char="•"/>
            </a:pPr>
            <a:r>
              <a:rPr lang="zh-TW" altLang="en-US" b="0" dirty="0"/>
              <a:t>受體內部的 死亡結構域（</a:t>
            </a:r>
            <a:r>
              <a:rPr lang="en" altLang="zh-TW" b="0" dirty="0"/>
              <a:t>DD</a:t>
            </a:r>
            <a:r>
              <a:rPr lang="zh-TW" altLang="en" b="0" dirty="0"/>
              <a:t>）</a:t>
            </a:r>
            <a:r>
              <a:rPr lang="en" altLang="zh-TW" b="0" dirty="0"/>
              <a:t> </a:t>
            </a:r>
            <a:r>
              <a:rPr lang="zh-TW" altLang="en-US" b="0" dirty="0"/>
              <a:t>招募 </a:t>
            </a:r>
            <a:r>
              <a:rPr lang="en" altLang="zh-TW" b="0" dirty="0"/>
              <a:t>FADD</a:t>
            </a:r>
            <a:r>
              <a:rPr lang="zh-TW" altLang="en" b="0" dirty="0"/>
              <a:t>，</a:t>
            </a:r>
            <a:r>
              <a:rPr lang="zh-TW" altLang="en-US" b="0" dirty="0"/>
              <a:t>組成 </a:t>
            </a:r>
            <a:r>
              <a:rPr lang="en" altLang="zh-TW" b="0" dirty="0"/>
              <a:t>DISC</a:t>
            </a:r>
            <a:r>
              <a:rPr lang="zh-TW" altLang="en" b="0" dirty="0"/>
              <a:t>（</a:t>
            </a:r>
            <a:r>
              <a:rPr lang="en" altLang="zh-TW" b="0" dirty="0"/>
              <a:t>Death-inducing signaling complex</a:t>
            </a:r>
            <a:r>
              <a:rPr lang="zh-TW" altLang="en" b="0" dirty="0"/>
              <a:t>）。</a:t>
            </a:r>
          </a:p>
          <a:p>
            <a:pPr>
              <a:buFont typeface="Arial" panose="020B0604020202020204" pitchFamily="34" charset="0"/>
              <a:buChar char="•"/>
            </a:pPr>
            <a:r>
              <a:rPr lang="en" altLang="zh-TW" b="0" dirty="0"/>
              <a:t>FADD </a:t>
            </a:r>
            <a:r>
              <a:rPr lang="zh-TW" altLang="en-US" b="0" dirty="0"/>
              <a:t>活化 </a:t>
            </a:r>
            <a:r>
              <a:rPr lang="en" altLang="zh-TW" b="0" dirty="0"/>
              <a:t>Caspase-8/10</a:t>
            </a:r>
            <a:r>
              <a:rPr lang="zh-TW" altLang="en" b="0" dirty="0"/>
              <a:t>，</a:t>
            </a:r>
            <a:r>
              <a:rPr lang="zh-TW" altLang="en-US" b="0" dirty="0"/>
              <a:t>啟動下游 </a:t>
            </a:r>
            <a:r>
              <a:rPr lang="en" altLang="zh-TW" b="0" dirty="0"/>
              <a:t>caspase cascade → </a:t>
            </a:r>
            <a:r>
              <a:rPr lang="zh-TW" altLang="en-US" b="0" dirty="0"/>
              <a:t>細胞凋亡（</a:t>
            </a:r>
            <a:r>
              <a:rPr lang="en" altLang="zh-TW" b="0" dirty="0"/>
              <a:t>Apoptosis</a:t>
            </a:r>
            <a:r>
              <a:rPr lang="zh-TW" altLang="en" b="0" dirty="0"/>
              <a:t>）。</a:t>
            </a:r>
            <a:endParaRPr lang="en-US" altLang="zh-TW" b="0" dirty="0"/>
          </a:p>
          <a:p>
            <a:pPr>
              <a:buFont typeface="Arial" panose="020B0604020202020204" pitchFamily="34" charset="0"/>
              <a:buChar char="•"/>
            </a:pPr>
            <a:endParaRPr lang="zh-TW" altLang="en" b="0" dirty="0"/>
          </a:p>
          <a:p>
            <a:r>
              <a:rPr lang="en-US" altLang="zh-TW" b="0" dirty="0"/>
              <a:t>❷ </a:t>
            </a:r>
            <a:r>
              <a:rPr lang="zh-TW" altLang="en-US" b="0" dirty="0"/>
              <a:t>外源性凋亡 </a:t>
            </a:r>
            <a:r>
              <a:rPr lang="en-US" altLang="zh-TW" b="0" dirty="0"/>
              <a:t>– </a:t>
            </a:r>
            <a:r>
              <a:rPr lang="zh-TW" altLang="en-US" b="0" dirty="0"/>
              <a:t>被抑制的情況（</a:t>
            </a:r>
            <a:r>
              <a:rPr lang="en" altLang="zh-TW" b="0" dirty="0"/>
              <a:t>DDX3X/GSK3/cIAP-1 </a:t>
            </a:r>
            <a:r>
              <a:rPr lang="zh-TW" altLang="en-US" b="0" dirty="0"/>
              <a:t>複合體）</a:t>
            </a:r>
          </a:p>
          <a:p>
            <a:pPr>
              <a:buFont typeface="Arial" panose="020B0604020202020204" pitchFamily="34" charset="0"/>
              <a:buChar char="•"/>
            </a:pPr>
            <a:r>
              <a:rPr lang="zh-TW" altLang="en-US" b="0" dirty="0"/>
              <a:t>死亡受體被 </a:t>
            </a:r>
            <a:r>
              <a:rPr lang="en" altLang="zh-TW" b="0" dirty="0"/>
              <a:t>DDX3X</a:t>
            </a:r>
            <a:r>
              <a:rPr lang="zh-TW" altLang="en" b="0" dirty="0"/>
              <a:t>、</a:t>
            </a:r>
            <a:r>
              <a:rPr lang="en" altLang="zh-TW" b="0" dirty="0"/>
              <a:t>GSK3</a:t>
            </a:r>
            <a:r>
              <a:rPr lang="zh-TW" altLang="en" b="0" dirty="0"/>
              <a:t>、</a:t>
            </a:r>
            <a:r>
              <a:rPr lang="en" altLang="zh-TW" b="0" dirty="0"/>
              <a:t>cIAP-1 </a:t>
            </a:r>
            <a:r>
              <a:rPr lang="zh-TW" altLang="en-US" b="0" dirty="0"/>
              <a:t>組成的抗凋亡複合體覆蓋。</a:t>
            </a:r>
          </a:p>
          <a:p>
            <a:pPr>
              <a:buFont typeface="Arial" panose="020B0604020202020204" pitchFamily="34" charset="0"/>
              <a:buChar char="•"/>
            </a:pPr>
            <a:r>
              <a:rPr lang="zh-TW" altLang="en-US" b="0" dirty="0"/>
              <a:t>此複合體會阻止 </a:t>
            </a:r>
            <a:r>
              <a:rPr lang="en" altLang="zh-TW" b="0" dirty="0"/>
              <a:t>FADD </a:t>
            </a:r>
            <a:r>
              <a:rPr lang="zh-TW" altLang="en-US" b="0" dirty="0"/>
              <a:t>結合 → 抑制 </a:t>
            </a:r>
            <a:r>
              <a:rPr lang="en" altLang="zh-TW" b="0" dirty="0"/>
              <a:t>DISC </a:t>
            </a:r>
            <a:r>
              <a:rPr lang="zh-TW" altLang="en-US" b="0" dirty="0"/>
              <a:t>組成 → 抑制 </a:t>
            </a:r>
            <a:r>
              <a:rPr lang="en" altLang="zh-TW" b="0" dirty="0"/>
              <a:t>caspase </a:t>
            </a:r>
            <a:r>
              <a:rPr lang="zh-TW" altLang="en-US" b="0" dirty="0"/>
              <a:t>活化。</a:t>
            </a:r>
          </a:p>
          <a:p>
            <a:pPr>
              <a:buFont typeface="Arial" panose="020B0604020202020204" pitchFamily="34" charset="0"/>
              <a:buChar char="•"/>
            </a:pPr>
            <a:r>
              <a:rPr lang="zh-TW" altLang="en-US" b="0" dirty="0"/>
              <a:t>若移除此複合體（例如 </a:t>
            </a:r>
            <a:r>
              <a:rPr lang="en" altLang="zh-TW" b="0" dirty="0"/>
              <a:t>GSK3 </a:t>
            </a:r>
            <a:r>
              <a:rPr lang="zh-TW" altLang="en-US" b="0" dirty="0"/>
              <a:t>抑制劑、</a:t>
            </a:r>
            <a:r>
              <a:rPr lang="en" altLang="zh-TW" b="0" dirty="0"/>
              <a:t>DDX3X knockdown</a:t>
            </a:r>
            <a:r>
              <a:rPr lang="zh-TW" altLang="en" b="0" dirty="0"/>
              <a:t>），</a:t>
            </a:r>
            <a:r>
              <a:rPr lang="zh-TW" altLang="en-US" b="0" dirty="0"/>
              <a:t>凋亡訊號得以恢復。</a:t>
            </a:r>
            <a:endParaRPr lang="en-US" altLang="zh-TW" b="0" dirty="0"/>
          </a:p>
          <a:p>
            <a:pPr>
              <a:buFont typeface="Arial" panose="020B0604020202020204" pitchFamily="34" charset="0"/>
              <a:buChar char="•"/>
            </a:pPr>
            <a:endParaRPr lang="zh-TW" altLang="en-US" b="0" dirty="0"/>
          </a:p>
          <a:p>
            <a:r>
              <a:rPr lang="en-US" altLang="zh-TW" b="0" dirty="0"/>
              <a:t>❸ </a:t>
            </a:r>
            <a:r>
              <a:rPr lang="zh-TW" altLang="en-US" b="0" dirty="0"/>
              <a:t>內源性凋亡（</a:t>
            </a:r>
            <a:r>
              <a:rPr lang="en" altLang="zh-TW" b="0" dirty="0"/>
              <a:t>Intrinsic Apoptosis</a:t>
            </a:r>
            <a:r>
              <a:rPr lang="zh-TW" altLang="en" b="0" dirty="0"/>
              <a:t>）</a:t>
            </a:r>
            <a:r>
              <a:rPr lang="en" altLang="zh-TW" b="0" dirty="0"/>
              <a:t>– DNA </a:t>
            </a:r>
            <a:r>
              <a:rPr lang="zh-TW" altLang="en-US" b="0" dirty="0"/>
              <a:t>損傷觸發</a:t>
            </a:r>
          </a:p>
          <a:p>
            <a:pPr>
              <a:buFont typeface="Arial" panose="020B0604020202020204" pitchFamily="34" charset="0"/>
              <a:buChar char="•"/>
            </a:pPr>
            <a:r>
              <a:rPr lang="en" altLang="zh-TW" b="0" dirty="0"/>
              <a:t>DNA </a:t>
            </a:r>
            <a:r>
              <a:rPr lang="zh-TW" altLang="en-US" b="0" dirty="0"/>
              <a:t>損傷（</a:t>
            </a:r>
            <a:r>
              <a:rPr lang="en" altLang="zh-TW" b="0" dirty="0"/>
              <a:t>DNA damage</a:t>
            </a:r>
            <a:r>
              <a:rPr lang="zh-TW" altLang="en" b="0" dirty="0"/>
              <a:t>）</a:t>
            </a:r>
            <a:r>
              <a:rPr lang="en" altLang="zh-TW" b="0" dirty="0"/>
              <a:t> </a:t>
            </a:r>
            <a:r>
              <a:rPr lang="zh-TW" altLang="en-US" b="0" dirty="0"/>
              <a:t>可活化 </a:t>
            </a:r>
            <a:r>
              <a:rPr lang="en" altLang="zh-TW" b="0" dirty="0"/>
              <a:t>p53</a:t>
            </a:r>
            <a:r>
              <a:rPr lang="zh-TW" altLang="en" b="0" dirty="0"/>
              <a:t>。</a:t>
            </a:r>
          </a:p>
          <a:p>
            <a:pPr>
              <a:buFont typeface="Arial" panose="020B0604020202020204" pitchFamily="34" charset="0"/>
              <a:buChar char="•"/>
            </a:pPr>
            <a:r>
              <a:rPr lang="zh-TW" altLang="en-US" b="0" dirty="0"/>
              <a:t>活化的 </a:t>
            </a:r>
            <a:r>
              <a:rPr lang="en" altLang="zh-TW" b="0" dirty="0"/>
              <a:t>p53 </a:t>
            </a:r>
            <a:r>
              <a:rPr lang="zh-TW" altLang="en-US" b="0" dirty="0"/>
              <a:t>會誘導 </a:t>
            </a:r>
            <a:r>
              <a:rPr lang="en" altLang="zh-TW" b="0" dirty="0"/>
              <a:t>p21</a:t>
            </a:r>
            <a:r>
              <a:rPr lang="zh-TW" altLang="en" b="0" dirty="0"/>
              <a:t>、</a:t>
            </a:r>
            <a:r>
              <a:rPr lang="en" altLang="zh-TW" b="0" dirty="0"/>
              <a:t>BAX </a:t>
            </a:r>
            <a:r>
              <a:rPr lang="zh-TW" altLang="en-US" b="0" dirty="0"/>
              <a:t>等促凋亡基因 表現 → 活化 </a:t>
            </a:r>
            <a:r>
              <a:rPr lang="en" altLang="zh-TW" b="0" dirty="0"/>
              <a:t>caspase → </a:t>
            </a:r>
            <a:r>
              <a:rPr lang="zh-TW" altLang="en-US" b="0" dirty="0"/>
              <a:t>凋亡。</a:t>
            </a:r>
            <a:endParaRPr lang="en-US" altLang="zh-TW" b="0" dirty="0"/>
          </a:p>
          <a:p>
            <a:pPr>
              <a:buFont typeface="Arial" panose="020B0604020202020204" pitchFamily="34" charset="0"/>
              <a:buChar char="•"/>
            </a:pPr>
            <a:endParaRPr lang="zh-TW" altLang="en-US" b="0" dirty="0"/>
          </a:p>
          <a:p>
            <a:r>
              <a:rPr lang="en-US" altLang="zh-TW" b="0" dirty="0"/>
              <a:t>❹ </a:t>
            </a:r>
            <a:r>
              <a:rPr lang="en" altLang="zh-TW" b="0" dirty="0"/>
              <a:t>DDX3X </a:t>
            </a:r>
            <a:r>
              <a:rPr lang="zh-TW" altLang="en-US" b="0" dirty="0"/>
              <a:t>對 </a:t>
            </a:r>
            <a:r>
              <a:rPr lang="en" altLang="zh-TW" b="0" dirty="0"/>
              <a:t>p53 </a:t>
            </a:r>
            <a:r>
              <a:rPr lang="zh-TW" altLang="en-US" b="0" dirty="0"/>
              <a:t>路徑的調控</a:t>
            </a:r>
          </a:p>
          <a:p>
            <a:pPr>
              <a:buFont typeface="Arial" panose="020B0604020202020204" pitchFamily="34" charset="0"/>
              <a:buChar char="•"/>
            </a:pPr>
            <a:r>
              <a:rPr lang="en" altLang="zh-TW" b="0" dirty="0"/>
              <a:t>DDX3X </a:t>
            </a:r>
            <a:r>
              <a:rPr lang="zh-TW" altLang="en-US" b="0" dirty="0"/>
              <a:t>可與 </a:t>
            </a:r>
            <a:r>
              <a:rPr lang="en" altLang="zh-TW" b="0" dirty="0"/>
              <a:t>mutant p53 </a:t>
            </a:r>
            <a:r>
              <a:rPr lang="zh-TW" altLang="en-US" b="0" dirty="0"/>
              <a:t>結合，抑制其凋亡活性（右中）。</a:t>
            </a:r>
          </a:p>
          <a:p>
            <a:pPr>
              <a:buFont typeface="Arial" panose="020B0604020202020204" pitchFamily="34" charset="0"/>
              <a:buChar char="•"/>
            </a:pPr>
            <a:r>
              <a:rPr lang="en" altLang="zh-TW" b="0" dirty="0"/>
              <a:t>DDX3X </a:t>
            </a:r>
            <a:r>
              <a:rPr lang="zh-TW" altLang="en-US" b="0" dirty="0"/>
              <a:t>的磷酸化（</a:t>
            </a:r>
            <a:r>
              <a:rPr lang="en" altLang="zh-TW" b="0" dirty="0"/>
              <a:t>P</a:t>
            </a:r>
            <a:r>
              <a:rPr lang="zh-TW" altLang="en" b="0" dirty="0"/>
              <a:t>）</a:t>
            </a:r>
            <a:r>
              <a:rPr lang="zh-TW" altLang="en-US" b="0" dirty="0"/>
              <a:t>可能干擾 </a:t>
            </a:r>
            <a:r>
              <a:rPr lang="en" altLang="zh-TW" b="0" dirty="0"/>
              <a:t>SA</a:t>
            </a:r>
            <a:r>
              <a:rPr lang="zh-TW" altLang="en" b="0" dirty="0"/>
              <a:t>（</a:t>
            </a:r>
            <a:r>
              <a:rPr lang="en" altLang="zh-TW" b="0" dirty="0"/>
              <a:t>Stress Agent</a:t>
            </a:r>
            <a:r>
              <a:rPr lang="zh-TW" altLang="en" b="0" dirty="0"/>
              <a:t>）→ </a:t>
            </a:r>
            <a:r>
              <a:rPr lang="en" altLang="zh-TW" b="0" dirty="0"/>
              <a:t>p21 </a:t>
            </a:r>
            <a:r>
              <a:rPr lang="zh-TW" altLang="en-US" b="0" dirty="0"/>
              <a:t>路徑。</a:t>
            </a:r>
          </a:p>
          <a:p>
            <a:pPr>
              <a:buFont typeface="Arial" panose="020B0604020202020204" pitchFamily="34" charset="0"/>
              <a:buChar char="•"/>
            </a:pPr>
            <a:r>
              <a:rPr lang="zh-TW" altLang="en-US" b="0" dirty="0"/>
              <a:t>這些作用會抑制 </a:t>
            </a:r>
            <a:r>
              <a:rPr lang="en" altLang="zh-TW" b="0" dirty="0"/>
              <a:t>caspase cascade</a:t>
            </a:r>
            <a:r>
              <a:rPr lang="zh-TW" altLang="en" b="0" dirty="0"/>
              <a:t>，</a:t>
            </a:r>
            <a:r>
              <a:rPr lang="zh-TW" altLang="en-US" b="0" dirty="0"/>
              <a:t>降低凋亡發生。</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1B1B1B"/>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1B1B1B"/>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TW" dirty="0">
              <a:solidFill>
                <a:srgbClr val="1B1B1B"/>
              </a:solidFill>
            </a:endParaRPr>
          </a:p>
        </p:txBody>
      </p:sp>
      <p:sp>
        <p:nvSpPr>
          <p:cNvPr id="4" name="投影片編號版面配置區 3">
            <a:extLst>
              <a:ext uri="{FF2B5EF4-FFF2-40B4-BE49-F238E27FC236}">
                <a16:creationId xmlns:a16="http://schemas.microsoft.com/office/drawing/2014/main" id="{1B078B96-C4A6-6431-C4DE-D55EC23F15E3}"/>
              </a:ext>
            </a:extLst>
          </p:cNvPr>
          <p:cNvSpPr>
            <a:spLocks noGrp="1"/>
          </p:cNvSpPr>
          <p:nvPr>
            <p:ph type="sldNum" sz="quarter" idx="5"/>
          </p:nvPr>
        </p:nvSpPr>
        <p:spPr/>
        <p:txBody>
          <a:bodyPr/>
          <a:lstStyle/>
          <a:p>
            <a:fld id="{61CA63BF-C9DC-9844-BCA0-064E1D9BA987}" type="slidenum">
              <a:rPr kumimoji="1" lang="zh-TW" altLang="en-US" smtClean="0"/>
              <a:t>9</a:t>
            </a:fld>
            <a:endParaRPr kumimoji="1" lang="zh-TW" altLang="en-US"/>
          </a:p>
        </p:txBody>
      </p:sp>
    </p:spTree>
    <p:extLst>
      <p:ext uri="{BB962C8B-B14F-4D97-AF65-F5344CB8AC3E}">
        <p14:creationId xmlns:p14="http://schemas.microsoft.com/office/powerpoint/2010/main" val="26618525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C3699-7F56-6F5C-CA1B-E138402A71D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2102229-81FE-9946-5C5A-9A023E610AF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E9D8EAF-0358-8220-7396-F6B612B0D54A}"/>
              </a:ext>
            </a:extLst>
          </p:cNvPr>
          <p:cNvSpPr>
            <a:spLocks noGrp="1"/>
          </p:cNvSpPr>
          <p:nvPr>
            <p:ph type="body" idx="1"/>
          </p:nvPr>
        </p:nvSpPr>
        <p:spPr/>
        <p:txBody>
          <a:bodyPr/>
          <a:lstStyle/>
          <a:p>
            <a:r>
              <a:rPr kumimoji="1" lang="zh-TW" altLang="en-US" dirty="0"/>
              <a:t>第二個部分是介紹有關</a:t>
            </a:r>
            <a:r>
              <a:rPr kumimoji="1" lang="en-US" altLang="zh-TW" dirty="0"/>
              <a:t>DDX3</a:t>
            </a:r>
            <a:r>
              <a:rPr kumimoji="1" lang="zh-TW" altLang="en-US" dirty="0"/>
              <a:t>如何作用在</a:t>
            </a:r>
            <a:r>
              <a:rPr kumimoji="1" lang="en-US" altLang="zh-TW" dirty="0"/>
              <a:t>Apoptosis pathway</a:t>
            </a:r>
            <a:r>
              <a:rPr kumimoji="1" lang="zh-TW" altLang="en-US" dirty="0"/>
              <a:t>的相關研究</a:t>
            </a:r>
          </a:p>
        </p:txBody>
      </p:sp>
      <p:sp>
        <p:nvSpPr>
          <p:cNvPr id="4" name="投影片編號版面配置區 3">
            <a:extLst>
              <a:ext uri="{FF2B5EF4-FFF2-40B4-BE49-F238E27FC236}">
                <a16:creationId xmlns:a16="http://schemas.microsoft.com/office/drawing/2014/main" id="{B2D967FE-F65A-DC00-9285-4696D1B26FB1}"/>
              </a:ext>
            </a:extLst>
          </p:cNvPr>
          <p:cNvSpPr>
            <a:spLocks noGrp="1"/>
          </p:cNvSpPr>
          <p:nvPr>
            <p:ph type="sldNum" sz="quarter" idx="5"/>
          </p:nvPr>
        </p:nvSpPr>
        <p:spPr/>
        <p:txBody>
          <a:bodyPr/>
          <a:lstStyle/>
          <a:p>
            <a:fld id="{61CA63BF-C9DC-9844-BCA0-064E1D9BA987}" type="slidenum">
              <a:rPr kumimoji="1" lang="zh-TW" altLang="en-US" smtClean="0"/>
              <a:t>10</a:t>
            </a:fld>
            <a:endParaRPr kumimoji="1" lang="zh-TW" altLang="en-US"/>
          </a:p>
        </p:txBody>
      </p:sp>
    </p:spTree>
    <p:extLst>
      <p:ext uri="{BB962C8B-B14F-4D97-AF65-F5344CB8AC3E}">
        <p14:creationId xmlns:p14="http://schemas.microsoft.com/office/powerpoint/2010/main" val="23842870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CB1F2-9E15-576D-F557-161822C5F9E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1924DBA-C104-BE3E-A17C-63652AFDEB2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AF11C55-3D87-954B-4711-B881061C329D}"/>
              </a:ext>
            </a:extLst>
          </p:cNvPr>
          <p:cNvSpPr>
            <a:spLocks noGrp="1"/>
          </p:cNvSpPr>
          <p:nvPr>
            <p:ph type="body" idx="1"/>
          </p:nvPr>
        </p:nvSpPr>
        <p:spPr/>
        <p:txBody>
          <a:bodyPr/>
          <a:lstStyle/>
          <a:p>
            <a:r>
              <a:rPr kumimoji="1" lang="zh-TW" altLang="en-US" dirty="0"/>
              <a:t>這次我總共找了篇</a:t>
            </a:r>
          </a:p>
        </p:txBody>
      </p:sp>
      <p:sp>
        <p:nvSpPr>
          <p:cNvPr id="4" name="投影片編號版面配置區 3">
            <a:extLst>
              <a:ext uri="{FF2B5EF4-FFF2-40B4-BE49-F238E27FC236}">
                <a16:creationId xmlns:a16="http://schemas.microsoft.com/office/drawing/2014/main" id="{9CEA9EF7-8E4B-AA70-8135-741E7623C724}"/>
              </a:ext>
            </a:extLst>
          </p:cNvPr>
          <p:cNvSpPr>
            <a:spLocks noGrp="1"/>
          </p:cNvSpPr>
          <p:nvPr>
            <p:ph type="sldNum" sz="quarter" idx="5"/>
          </p:nvPr>
        </p:nvSpPr>
        <p:spPr/>
        <p:txBody>
          <a:bodyPr/>
          <a:lstStyle/>
          <a:p>
            <a:fld id="{61CA63BF-C9DC-9844-BCA0-064E1D9BA987}" type="slidenum">
              <a:rPr kumimoji="1" lang="zh-TW" altLang="en-US" smtClean="0"/>
              <a:t>11</a:t>
            </a:fld>
            <a:endParaRPr kumimoji="1" lang="zh-TW" altLang="en-US"/>
          </a:p>
        </p:txBody>
      </p:sp>
    </p:spTree>
    <p:extLst>
      <p:ext uri="{BB962C8B-B14F-4D97-AF65-F5344CB8AC3E}">
        <p14:creationId xmlns:p14="http://schemas.microsoft.com/office/powerpoint/2010/main" val="3924164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93C6F-09BB-B796-487C-BB956512B86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F08C9C2-79C6-6AA2-7CC9-69E2871766B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3E5EB92-65A7-C073-E559-E43EE51C6D5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600" b="0" i="0" u="none" kern="1200" dirty="0">
                <a:solidFill>
                  <a:srgbClr val="1F1F1F"/>
                </a:solidFill>
                <a:effectLst/>
                <a:latin typeface="+mn-lt"/>
                <a:ea typeface="+mn-ea"/>
                <a:cs typeface="+mn-cs"/>
              </a:rPr>
              <a:t>第一篇是</a:t>
            </a:r>
            <a:r>
              <a:rPr lang="en" altLang="zh-TW" sz="1600" dirty="0">
                <a:solidFill>
                  <a:srgbClr val="1F1F1F"/>
                </a:solidFill>
                <a:latin typeface="+mj-lt"/>
              </a:rPr>
              <a:t>Identification of an antiapoptotic protein complex at death receptors</a:t>
            </a:r>
            <a:r>
              <a:rPr lang="zh-TW" altLang="en-US" sz="1600" dirty="0">
                <a:solidFill>
                  <a:srgbClr val="1F1F1F"/>
                </a:solidFill>
                <a:latin typeface="+mj-lt"/>
              </a:rPr>
              <a:t>，中文是</a:t>
            </a:r>
            <a:r>
              <a:rPr lang="zh-TW" altLang="en-US" b="0" i="0" dirty="0">
                <a:solidFill>
                  <a:srgbClr val="222222"/>
                </a:solidFill>
                <a:effectLst/>
                <a:latin typeface="-apple-system"/>
              </a:rPr>
              <a:t>死亡受體上抗凋亡蛋白複合物的鑑定，這篇研究主要是想</a:t>
            </a:r>
            <a:r>
              <a:rPr lang="zh-TW" altLang="en-US" sz="1600" b="0" i="0" u="none" kern="1200" dirty="0">
                <a:solidFill>
                  <a:srgbClr val="1F1F1F"/>
                </a:solidFill>
                <a:effectLst/>
                <a:latin typeface="+mn-lt"/>
                <a:ea typeface="+mn-ea"/>
                <a:cs typeface="+mn-cs"/>
              </a:rPr>
              <a:t>鑑定出一種與死亡受體相關的抗凋亡蛋白複合物，這種蛋白複合物是由</a:t>
            </a:r>
            <a:r>
              <a:rPr lang="en-US" altLang="zh-TW" sz="1600" b="0" i="0" u="none" kern="1200" dirty="0">
                <a:solidFill>
                  <a:srgbClr val="1F1F1F"/>
                </a:solidFill>
                <a:effectLst/>
                <a:latin typeface="+mn-lt"/>
                <a:ea typeface="+mn-ea"/>
                <a:cs typeface="+mn-cs"/>
              </a:rPr>
              <a:t>GSK3</a:t>
            </a:r>
            <a:r>
              <a:rPr lang="zh-TW" altLang="en-US" sz="1600" b="0" i="0" u="none" kern="1200" dirty="0">
                <a:solidFill>
                  <a:srgbClr val="1F1F1F"/>
                </a:solidFill>
                <a:effectLst/>
                <a:latin typeface="+mn-lt"/>
                <a:ea typeface="+mn-ea"/>
                <a:cs typeface="+mn-cs"/>
              </a:rPr>
              <a:t>、</a:t>
            </a:r>
            <a:r>
              <a:rPr lang="en-US" altLang="zh-TW" sz="1600" b="0" i="0" u="none" kern="1200" dirty="0">
                <a:solidFill>
                  <a:srgbClr val="1F1F1F"/>
                </a:solidFill>
                <a:effectLst/>
                <a:latin typeface="+mn-lt"/>
                <a:ea typeface="+mn-ea"/>
                <a:cs typeface="+mn-cs"/>
              </a:rPr>
              <a:t>DDX3 </a:t>
            </a:r>
            <a:r>
              <a:rPr lang="zh-TW" altLang="en-US" sz="1600" b="0" i="0" u="none" kern="1200" dirty="0">
                <a:solidFill>
                  <a:srgbClr val="1F1F1F"/>
                </a:solidFill>
                <a:effectLst/>
                <a:latin typeface="+mn-lt"/>
                <a:ea typeface="+mn-ea"/>
                <a:cs typeface="+mn-cs"/>
              </a:rPr>
              <a:t>和</a:t>
            </a:r>
            <a:r>
              <a:rPr lang="en-US" altLang="zh-TW" sz="1600" b="0" i="0" u="none" kern="1200" dirty="0">
                <a:solidFill>
                  <a:srgbClr val="1F1F1F"/>
                </a:solidFill>
                <a:effectLst/>
                <a:latin typeface="+mn-lt"/>
                <a:ea typeface="+mn-ea"/>
                <a:cs typeface="+mn-cs"/>
              </a:rPr>
              <a:t>cIAP-1</a:t>
            </a:r>
            <a:r>
              <a:rPr lang="zh-TW" altLang="en-US" sz="1600" b="0" i="0" u="none" kern="1200" dirty="0">
                <a:solidFill>
                  <a:srgbClr val="1F1F1F"/>
                </a:solidFill>
                <a:effectLst/>
                <a:latin typeface="+mn-lt"/>
                <a:ea typeface="+mn-ea"/>
                <a:cs typeface="+mn-cs"/>
              </a:rPr>
              <a:t>所組成。透過</a:t>
            </a:r>
            <a:r>
              <a:rPr lang="zh-TW" altLang="en-US" b="0" i="0" dirty="0">
                <a:solidFill>
                  <a:srgbClr val="222222"/>
                </a:solidFill>
                <a:effectLst/>
                <a:latin typeface="-apple-system"/>
              </a:rPr>
              <a:t>拮抗死亡訊號傳導</a:t>
            </a:r>
            <a:r>
              <a:rPr lang="zh-TW" altLang="en-US" sz="1600" b="0" i="0" u="none" kern="1200" dirty="0">
                <a:solidFill>
                  <a:srgbClr val="1F1F1F"/>
                </a:solidFill>
                <a:effectLst/>
                <a:latin typeface="+mn-lt"/>
                <a:ea typeface="+mn-ea"/>
                <a:cs typeface="+mn-cs"/>
              </a:rPr>
              <a:t>來達到抑制凋亡的作用。這篇的主要重點是想提及</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對外源性</a:t>
            </a:r>
            <a:r>
              <a:rPr lang="en-US" altLang="zh-TW" sz="1600" b="0" i="0" u="none" kern="1200" dirty="0">
                <a:solidFill>
                  <a:srgbClr val="1F1F1F"/>
                </a:solidFill>
                <a:effectLst/>
                <a:latin typeface="+mn-lt"/>
                <a:ea typeface="+mn-ea"/>
                <a:cs typeface="+mn-cs"/>
              </a:rPr>
              <a:t>apoptosis</a:t>
            </a:r>
            <a:r>
              <a:rPr lang="zh-TW" altLang="en-US" sz="1600" b="0" i="0" u="none" kern="1200" dirty="0">
                <a:solidFill>
                  <a:srgbClr val="1F1F1F"/>
                </a:solidFill>
                <a:effectLst/>
                <a:latin typeface="+mn-lt"/>
                <a:ea typeface="+mn-ea"/>
                <a:cs typeface="+mn-cs"/>
              </a:rPr>
              <a:t>的抗凋亡作用，只會說到</a:t>
            </a:r>
            <a:r>
              <a:rPr lang="en" altLang="zh-TW" b="0" i="0" dirty="0">
                <a:solidFill>
                  <a:srgbClr val="222222"/>
                </a:solidFill>
                <a:effectLst/>
                <a:latin typeface="-apple-system"/>
              </a:rPr>
              <a:t>GSK3 </a:t>
            </a:r>
            <a:r>
              <a:rPr lang="zh-TW" altLang="en-US" b="0" i="0" dirty="0">
                <a:solidFill>
                  <a:srgbClr val="222222"/>
                </a:solidFill>
                <a:effectLst/>
                <a:latin typeface="-apple-system"/>
              </a:rPr>
              <a:t>和 </a:t>
            </a:r>
            <a:r>
              <a:rPr lang="en" altLang="zh-TW" b="0" i="0" dirty="0">
                <a:solidFill>
                  <a:srgbClr val="222222"/>
                </a:solidFill>
                <a:effectLst/>
                <a:latin typeface="-apple-system"/>
              </a:rPr>
              <a:t>DDX3 </a:t>
            </a:r>
            <a:r>
              <a:rPr lang="zh-TW" altLang="en-US" b="0" i="0" dirty="0">
                <a:solidFill>
                  <a:srgbClr val="222222"/>
                </a:solidFill>
                <a:effectLst/>
                <a:latin typeface="-apple-system"/>
              </a:rPr>
              <a:t>是否協同作用以抑制 </a:t>
            </a:r>
            <a:r>
              <a:rPr lang="en" altLang="zh-TW" b="0" i="0" dirty="0">
                <a:solidFill>
                  <a:srgbClr val="222222"/>
                </a:solidFill>
                <a:effectLst/>
                <a:latin typeface="-apple-system"/>
              </a:rPr>
              <a:t>TRAIL-R2 </a:t>
            </a:r>
            <a:r>
              <a:rPr lang="zh-TW" altLang="en-US" b="0" i="0" dirty="0">
                <a:solidFill>
                  <a:srgbClr val="222222"/>
                </a:solidFill>
                <a:effectLst/>
                <a:latin typeface="-apple-system"/>
              </a:rPr>
              <a:t>誘導的凋亡訊號傳導，</a:t>
            </a:r>
            <a:r>
              <a:rPr lang="zh-TW" altLang="en-US" sz="1600" b="0" i="0" u="none" kern="1200" dirty="0">
                <a:solidFill>
                  <a:srgbClr val="1F1F1F"/>
                </a:solidFill>
                <a:effectLst/>
                <a:latin typeface="+mn-lt"/>
                <a:ea typeface="+mn-ea"/>
                <a:cs typeface="+mn-cs"/>
              </a:rPr>
              <a:t>因次後面有關</a:t>
            </a:r>
            <a:r>
              <a:rPr lang="en" altLang="zh-TW" b="0" i="0" dirty="0">
                <a:solidFill>
                  <a:srgbClr val="222222"/>
                </a:solidFill>
                <a:effectLst/>
                <a:latin typeface="-apple-system"/>
              </a:rPr>
              <a:t>TRAIL-R2</a:t>
            </a:r>
            <a:r>
              <a:rPr lang="zh-TW" altLang="en-US" b="0" i="0" dirty="0">
                <a:solidFill>
                  <a:srgbClr val="222222"/>
                </a:solidFill>
                <a:effectLst/>
                <a:latin typeface="-apple-system"/>
              </a:rPr>
              <a:t>對</a:t>
            </a:r>
            <a:r>
              <a:rPr lang="en" altLang="zh-TW" b="0" i="0" dirty="0">
                <a:solidFill>
                  <a:srgbClr val="222222"/>
                </a:solidFill>
                <a:effectLst/>
                <a:latin typeface="-apple-system"/>
              </a:rPr>
              <a:t>GSK3</a:t>
            </a:r>
            <a:r>
              <a:rPr lang="zh-TW" altLang="en-US" b="0" i="0" dirty="0">
                <a:solidFill>
                  <a:srgbClr val="222222"/>
                </a:solidFill>
                <a:effectLst/>
                <a:latin typeface="-apple-system"/>
              </a:rPr>
              <a:t>的結合與活性影響不會做太多說明。</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600" b="0" i="0" u="none" kern="1200" dirty="0">
              <a:solidFill>
                <a:srgbClr val="1F1F1F"/>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600" b="0" i="0" u="none" kern="1200" dirty="0">
              <a:solidFill>
                <a:srgbClr val="1F1F1F"/>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600" b="0" i="0" u="none" kern="1200" dirty="0">
              <a:solidFill>
                <a:srgbClr val="1F1F1F"/>
              </a:solidFill>
              <a:effectLst/>
              <a:latin typeface="+mn-lt"/>
              <a:ea typeface="+mn-ea"/>
              <a:cs typeface="+mn-cs"/>
            </a:endParaRPr>
          </a:p>
          <a:p>
            <a:r>
              <a:rPr lang="zh-TW" altLang="en-US" b="0" i="0" dirty="0">
                <a:solidFill>
                  <a:srgbClr val="222222"/>
                </a:solidFill>
                <a:effectLst/>
                <a:latin typeface="-apple-system"/>
              </a:rPr>
              <a:t>進一步研究了</a:t>
            </a:r>
            <a:r>
              <a:rPr lang="en" altLang="zh-TW" b="0" i="0" dirty="0">
                <a:solidFill>
                  <a:srgbClr val="222222"/>
                </a:solidFill>
                <a:effectLst/>
                <a:latin typeface="-apple-system"/>
              </a:rPr>
              <a:t>GSK3</a:t>
            </a:r>
            <a:r>
              <a:rPr lang="zh-TW" altLang="en-US" b="0" i="0" dirty="0">
                <a:solidFill>
                  <a:srgbClr val="222222"/>
                </a:solidFill>
                <a:effectLst/>
                <a:latin typeface="-apple-system"/>
              </a:rPr>
              <a:t>和</a:t>
            </a:r>
            <a:r>
              <a:rPr lang="en" altLang="zh-TW" b="0" i="0" dirty="0">
                <a:solidFill>
                  <a:srgbClr val="222222"/>
                </a:solidFill>
                <a:effectLst/>
                <a:latin typeface="-apple-system"/>
              </a:rPr>
              <a:t>DDX3</a:t>
            </a:r>
            <a:r>
              <a:rPr lang="zh-TW" altLang="en-US" b="0" i="0" dirty="0">
                <a:solidFill>
                  <a:srgbClr val="222222"/>
                </a:solidFill>
                <a:effectLst/>
                <a:latin typeface="-apple-system"/>
              </a:rPr>
              <a:t>拮抗死亡受體訊號傳導從而抑制凋亡訊號傳導的可能性，並專注於</a:t>
            </a:r>
            <a:r>
              <a:rPr lang="en" altLang="zh-TW" b="0" i="0" dirty="0">
                <a:solidFill>
                  <a:srgbClr val="222222"/>
                </a:solidFill>
                <a:effectLst/>
                <a:latin typeface="-apple-system"/>
              </a:rPr>
              <a:t>TRAIL-R2</a:t>
            </a:r>
            <a:r>
              <a:rPr lang="zh-TW" altLang="en-US" b="0" i="0" dirty="0">
                <a:solidFill>
                  <a:srgbClr val="222222"/>
                </a:solidFill>
                <a:effectLst/>
                <a:latin typeface="-apple-system"/>
              </a:rPr>
              <a:t>介導的訊號傳導。</a:t>
            </a:r>
            <a:endParaRPr kumimoji="1" lang="zh-TW" altLang="en-US" dirty="0"/>
          </a:p>
        </p:txBody>
      </p:sp>
      <p:sp>
        <p:nvSpPr>
          <p:cNvPr id="4" name="投影片編號版面配置區 3">
            <a:extLst>
              <a:ext uri="{FF2B5EF4-FFF2-40B4-BE49-F238E27FC236}">
                <a16:creationId xmlns:a16="http://schemas.microsoft.com/office/drawing/2014/main" id="{63814CF3-B05C-D173-A7E8-F1B4A6C2D30D}"/>
              </a:ext>
            </a:extLst>
          </p:cNvPr>
          <p:cNvSpPr>
            <a:spLocks noGrp="1"/>
          </p:cNvSpPr>
          <p:nvPr>
            <p:ph type="sldNum" sz="quarter" idx="5"/>
          </p:nvPr>
        </p:nvSpPr>
        <p:spPr/>
        <p:txBody>
          <a:bodyPr/>
          <a:lstStyle/>
          <a:p>
            <a:fld id="{61CA63BF-C9DC-9844-BCA0-064E1D9BA987}" type="slidenum">
              <a:rPr kumimoji="1" lang="zh-TW" altLang="en-US" smtClean="0"/>
              <a:t>12</a:t>
            </a:fld>
            <a:endParaRPr kumimoji="1" lang="zh-TW" altLang="en-US"/>
          </a:p>
        </p:txBody>
      </p:sp>
    </p:spTree>
    <p:extLst>
      <p:ext uri="{BB962C8B-B14F-4D97-AF65-F5344CB8AC3E}">
        <p14:creationId xmlns:p14="http://schemas.microsoft.com/office/powerpoint/2010/main" val="3844097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011C4-E794-0B4E-62D1-81B57A82B00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57FF900-2C8C-E397-D681-D75DA1ACD64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6335169-3DE9-5C2D-A192-B48896275608}"/>
              </a:ext>
            </a:extLst>
          </p:cNvPr>
          <p:cNvSpPr>
            <a:spLocks noGrp="1"/>
          </p:cNvSpPr>
          <p:nvPr>
            <p:ph type="body" idx="1"/>
          </p:nvPr>
        </p:nvSpPr>
        <p:spPr/>
        <p:txBody>
          <a:bodyPr/>
          <a:lstStyle/>
          <a:p>
            <a:pPr marL="0" indent="0">
              <a:buNone/>
            </a:pPr>
            <a:r>
              <a:rPr lang="zh-TW" altLang="en-US" b="0" i="0" dirty="0">
                <a:solidFill>
                  <a:srgbClr val="222222"/>
                </a:solidFill>
                <a:effectLst/>
                <a:latin typeface="-apple-system"/>
              </a:rPr>
              <a:t>外源性凋亡的訊號傳遞，是由活化死亡受體啟動，導致細胞死亡。最常見的能夠誘導細胞凋亡的死亡受體是 </a:t>
            </a:r>
            <a:r>
              <a:rPr lang="en" altLang="zh-TW" b="0" i="0" dirty="0" err="1">
                <a:solidFill>
                  <a:srgbClr val="222222"/>
                </a:solidFill>
                <a:effectLst/>
                <a:latin typeface="-apple-system"/>
              </a:rPr>
              <a:t>Fas</a:t>
            </a:r>
            <a:r>
              <a:rPr lang="en" altLang="zh-TW" b="0" i="0" dirty="0">
                <a:solidFill>
                  <a:srgbClr val="222222"/>
                </a:solidFill>
                <a:effectLst/>
                <a:latin typeface="-apple-system"/>
              </a:rPr>
              <a:t> </a:t>
            </a:r>
            <a:r>
              <a:rPr lang="zh-TW" altLang="en" b="0" i="0" dirty="0">
                <a:solidFill>
                  <a:srgbClr val="222222"/>
                </a:solidFill>
                <a:effectLst/>
                <a:latin typeface="-apple-system"/>
              </a:rPr>
              <a:t>、</a:t>
            </a:r>
            <a:r>
              <a:rPr lang="en" altLang="zh-TW" b="0" i="0" dirty="0">
                <a:solidFill>
                  <a:srgbClr val="222222"/>
                </a:solidFill>
                <a:effectLst/>
                <a:latin typeface="-apple-system"/>
              </a:rPr>
              <a:t>TNF-R1</a:t>
            </a:r>
            <a:r>
              <a:rPr lang="zh-TW" altLang="en" b="0" i="0" dirty="0">
                <a:solidFill>
                  <a:srgbClr val="222222"/>
                </a:solidFill>
                <a:effectLst/>
                <a:latin typeface="-apple-system"/>
              </a:rPr>
              <a:t>、</a:t>
            </a:r>
            <a:r>
              <a:rPr lang="zh-TW" altLang="en-US" b="0" i="0" dirty="0">
                <a:solidFill>
                  <a:srgbClr val="222222"/>
                </a:solidFill>
                <a:effectLst/>
                <a:latin typeface="-apple-system"/>
              </a:rPr>
              <a:t>相關凋亡誘導配體受體</a:t>
            </a:r>
            <a:r>
              <a:rPr lang="en-US" altLang="zh-TW" b="0" i="0" dirty="0">
                <a:solidFill>
                  <a:srgbClr val="222222"/>
                </a:solidFill>
                <a:effectLst/>
                <a:latin typeface="-apple-system"/>
              </a:rPr>
              <a:t> (</a:t>
            </a:r>
            <a:r>
              <a:rPr lang="en" altLang="zh-TW" b="0" i="0" dirty="0">
                <a:solidFill>
                  <a:srgbClr val="222222"/>
                </a:solidFill>
                <a:effectLst/>
                <a:latin typeface="-apple-system"/>
              </a:rPr>
              <a:t>TRAIL-R1</a:t>
            </a:r>
            <a:r>
              <a:rPr lang="en-US" altLang="zh-TW" b="0" i="0" dirty="0">
                <a:solidFill>
                  <a:srgbClr val="222222"/>
                </a:solidFill>
                <a:effectLst/>
                <a:latin typeface="-apple-system"/>
              </a:rPr>
              <a:t>/</a:t>
            </a:r>
            <a:r>
              <a:rPr lang="en" altLang="zh-TW" b="0" i="0" dirty="0">
                <a:solidFill>
                  <a:srgbClr val="222222"/>
                </a:solidFill>
                <a:effectLst/>
                <a:latin typeface="-apple-system"/>
              </a:rPr>
              <a:t>TRAIL-R2)</a:t>
            </a:r>
            <a:r>
              <a:rPr lang="zh-TW" altLang="en" b="0" i="0" dirty="0">
                <a:solidFill>
                  <a:srgbClr val="222222"/>
                </a:solidFill>
                <a:effectLst/>
                <a:latin typeface="-apple-system"/>
              </a:rPr>
              <a:t>。</a:t>
            </a:r>
            <a:r>
              <a:rPr lang="zh-TW" altLang="en-US" b="0" i="0" dirty="0">
                <a:solidFill>
                  <a:srgbClr val="222222"/>
                </a:solidFill>
                <a:effectLst/>
                <a:latin typeface="-apple-system"/>
              </a:rPr>
              <a:t>這些死亡受體的刺激會導致受體三聚化，隨後募集 </a:t>
            </a:r>
            <a:r>
              <a:rPr lang="en" altLang="zh-TW" b="0" i="0" dirty="0">
                <a:solidFill>
                  <a:srgbClr val="222222"/>
                </a:solidFill>
                <a:effectLst/>
                <a:latin typeface="-apple-system"/>
              </a:rPr>
              <a:t>FADD</a:t>
            </a:r>
            <a:r>
              <a:rPr lang="zh-TW" altLang="en-US" b="0" i="0" dirty="0">
                <a:solidFill>
                  <a:srgbClr val="222222"/>
                </a:solidFill>
                <a:effectLst/>
                <a:latin typeface="-apple-system"/>
              </a:rPr>
              <a:t>和 </a:t>
            </a:r>
            <a:r>
              <a:rPr lang="en" altLang="zh-TW" b="0" i="0" dirty="0">
                <a:solidFill>
                  <a:srgbClr val="222222"/>
                </a:solidFill>
                <a:effectLst/>
                <a:latin typeface="-apple-system"/>
              </a:rPr>
              <a:t>caspase-8</a:t>
            </a:r>
            <a:r>
              <a:rPr lang="zh-TW" altLang="en" b="0" i="0" dirty="0">
                <a:solidFill>
                  <a:srgbClr val="222222"/>
                </a:solidFill>
                <a:effectLst/>
                <a:latin typeface="-apple-system"/>
              </a:rPr>
              <a:t>，</a:t>
            </a:r>
            <a:r>
              <a:rPr lang="zh-TW" altLang="en-US" b="0" i="0" dirty="0">
                <a:solidFill>
                  <a:srgbClr val="222222"/>
                </a:solidFill>
                <a:effectLst/>
                <a:latin typeface="-apple-system"/>
              </a:rPr>
              <a:t>形成死亡誘導訊號複合物 </a:t>
            </a:r>
            <a:r>
              <a:rPr lang="en-US" altLang="zh-TW" b="0" i="0" dirty="0">
                <a:solidFill>
                  <a:srgbClr val="222222"/>
                </a:solidFill>
                <a:effectLst/>
                <a:latin typeface="-apple-system"/>
              </a:rPr>
              <a:t>(</a:t>
            </a:r>
            <a:r>
              <a:rPr lang="en" altLang="zh-TW" b="0" i="0" dirty="0">
                <a:solidFill>
                  <a:srgbClr val="222222"/>
                </a:solidFill>
                <a:effectLst/>
                <a:latin typeface="-apple-system"/>
              </a:rPr>
              <a:t>DISC)</a:t>
            </a:r>
            <a:r>
              <a:rPr lang="zh-TW" altLang="en" b="0" i="0" dirty="0">
                <a:solidFill>
                  <a:srgbClr val="222222"/>
                </a:solidFill>
                <a:effectLst/>
                <a:latin typeface="-apple-system"/>
              </a:rPr>
              <a:t>。</a:t>
            </a:r>
            <a:r>
              <a:rPr lang="en" altLang="zh-TW" b="0" i="0" dirty="0">
                <a:solidFill>
                  <a:srgbClr val="222222"/>
                </a:solidFill>
                <a:effectLst/>
                <a:latin typeface="-apple-system"/>
              </a:rPr>
              <a:t>DISC </a:t>
            </a:r>
            <a:r>
              <a:rPr lang="zh-TW" altLang="en-US" b="0" i="0" dirty="0">
                <a:solidFill>
                  <a:srgbClr val="222222"/>
                </a:solidFill>
                <a:effectLst/>
                <a:latin typeface="-apple-system"/>
              </a:rPr>
              <a:t>的形成促進了 </a:t>
            </a:r>
            <a:r>
              <a:rPr lang="en" altLang="zh-TW" b="0" i="0" dirty="0">
                <a:solidFill>
                  <a:srgbClr val="222222"/>
                </a:solidFill>
                <a:effectLst/>
                <a:latin typeface="-apple-system"/>
              </a:rPr>
              <a:t>caspase-8/10 </a:t>
            </a:r>
            <a:r>
              <a:rPr lang="zh-TW" altLang="en-US" b="0" i="0" dirty="0">
                <a:solidFill>
                  <a:srgbClr val="222222"/>
                </a:solidFill>
                <a:effectLst/>
                <a:latin typeface="-apple-system"/>
              </a:rPr>
              <a:t>的自身激活，以及隨後效應 </a:t>
            </a:r>
            <a:r>
              <a:rPr lang="en" altLang="zh-TW" b="0" i="0" dirty="0">
                <a:solidFill>
                  <a:srgbClr val="222222"/>
                </a:solidFill>
                <a:effectLst/>
                <a:latin typeface="-apple-system"/>
              </a:rPr>
              <a:t>caspase</a:t>
            </a:r>
            <a:r>
              <a:rPr lang="zh-TW" altLang="en" b="0" i="0" dirty="0">
                <a:solidFill>
                  <a:srgbClr val="222222"/>
                </a:solidFill>
                <a:effectLst/>
                <a:latin typeface="-apple-system"/>
              </a:rPr>
              <a:t>（</a:t>
            </a:r>
            <a:r>
              <a:rPr lang="zh-TW" altLang="en-US" b="0" i="0" dirty="0">
                <a:solidFill>
                  <a:srgbClr val="222222"/>
                </a:solidFill>
                <a:effectLst/>
                <a:latin typeface="-apple-system"/>
              </a:rPr>
              <a:t>主要是 </a:t>
            </a:r>
            <a:r>
              <a:rPr lang="en" altLang="zh-TW" b="0" i="0" dirty="0">
                <a:solidFill>
                  <a:srgbClr val="222222"/>
                </a:solidFill>
                <a:effectLst/>
                <a:latin typeface="-apple-system"/>
              </a:rPr>
              <a:t>caspase-3</a:t>
            </a:r>
            <a:r>
              <a:rPr lang="zh-TW" altLang="en" b="0" i="0" dirty="0">
                <a:solidFill>
                  <a:srgbClr val="222222"/>
                </a:solidFill>
                <a:effectLst/>
                <a:latin typeface="-apple-system"/>
              </a:rPr>
              <a:t>、</a:t>
            </a:r>
            <a:r>
              <a:rPr lang="en" altLang="zh-TW" b="0" i="0" dirty="0">
                <a:solidFill>
                  <a:srgbClr val="222222"/>
                </a:solidFill>
                <a:effectLst/>
                <a:latin typeface="-apple-system"/>
              </a:rPr>
              <a:t>-6 </a:t>
            </a:r>
            <a:r>
              <a:rPr lang="zh-TW" altLang="en-US" b="0" i="0" dirty="0">
                <a:solidFill>
                  <a:srgbClr val="222222"/>
                </a:solidFill>
                <a:effectLst/>
                <a:latin typeface="-apple-system"/>
              </a:rPr>
              <a:t>和 </a:t>
            </a:r>
            <a:r>
              <a:rPr lang="en-US" altLang="zh-TW" b="0" i="0" dirty="0">
                <a:solidFill>
                  <a:srgbClr val="222222"/>
                </a:solidFill>
                <a:effectLst/>
                <a:latin typeface="-apple-system"/>
              </a:rPr>
              <a:t>-7</a:t>
            </a:r>
            <a:r>
              <a:rPr lang="zh-TW" altLang="en-US" b="0" i="0" dirty="0">
                <a:solidFill>
                  <a:srgbClr val="222222"/>
                </a:solidFill>
                <a:effectLst/>
                <a:latin typeface="-apple-system"/>
              </a:rPr>
              <a:t>）的激活，從而執行細胞死亡程序。</a:t>
            </a:r>
            <a:r>
              <a:rPr lang="zh-TW" altLang="en-US" sz="1600" b="0" i="0" u="none" kern="1200" dirty="0">
                <a:solidFill>
                  <a:srgbClr val="1F1F1F"/>
                </a:solidFill>
                <a:effectLst/>
                <a:latin typeface="+mn-lt"/>
                <a:ea typeface="+mn-ea"/>
                <a:cs typeface="+mn-cs"/>
              </a:rPr>
              <a:t>於是研究團隊想鑑定出一種與死亡受體相關的抗凋亡蛋白複合物，可用來抵銷死亡受體誘導的凋亡訊號傳遞。</a:t>
            </a:r>
            <a:endParaRPr lang="en-US" altLang="zh-TW" sz="1600" b="0" i="0" u="none" kern="1200" dirty="0">
              <a:solidFill>
                <a:srgbClr val="1F1F1F"/>
              </a:solidFill>
              <a:effectLst/>
              <a:latin typeface="+mn-lt"/>
              <a:ea typeface="+mn-ea"/>
              <a:cs typeface="+mn-cs"/>
            </a:endParaRPr>
          </a:p>
          <a:p>
            <a:pPr marL="0" indent="0">
              <a:buNone/>
            </a:pPr>
            <a:endParaRPr lang="en-US" altLang="zh-TW" sz="1600" b="0" i="0" u="none" kern="1200" dirty="0">
              <a:solidFill>
                <a:srgbClr val="1F1F1F"/>
              </a:solidFill>
              <a:effectLst/>
              <a:latin typeface="+mn-lt"/>
              <a:ea typeface="+mn-ea"/>
              <a:cs typeface="+mn-cs"/>
            </a:endParaRPr>
          </a:p>
          <a:p>
            <a:pPr marL="0" indent="0">
              <a:buNone/>
            </a:pPr>
            <a:endParaRPr lang="en-US" altLang="zh-TW" sz="1600" b="0" i="0" u="none" kern="1200" dirty="0">
              <a:solidFill>
                <a:srgbClr val="1F1F1F"/>
              </a:solidFill>
              <a:effectLst/>
              <a:latin typeface="+mn-lt"/>
              <a:ea typeface="+mn-ea"/>
              <a:cs typeface="+mn-cs"/>
            </a:endParaRPr>
          </a:p>
          <a:p>
            <a:pPr marL="0" indent="0">
              <a:buNone/>
            </a:pPr>
            <a:endParaRPr lang="en-US" altLang="zh-TW" sz="1600" b="0" i="0" u="none" kern="1200" dirty="0">
              <a:solidFill>
                <a:srgbClr val="1F1F1F"/>
              </a:solidFill>
              <a:effectLst/>
              <a:latin typeface="+mn-lt"/>
              <a:ea typeface="+mn-ea"/>
              <a:cs typeface="+mn-cs"/>
            </a:endParaRPr>
          </a:p>
          <a:p>
            <a:pPr marL="0" indent="0">
              <a:buNone/>
            </a:pPr>
            <a:r>
              <a:rPr lang="zh-TW" altLang="en-US" b="0" i="0" dirty="0">
                <a:solidFill>
                  <a:srgbClr val="222222"/>
                </a:solidFill>
                <a:effectLst/>
                <a:latin typeface="-apple-system"/>
              </a:rPr>
              <a:t>進一步研究了</a:t>
            </a:r>
            <a:r>
              <a:rPr lang="en" altLang="zh-TW" b="0" i="0" dirty="0">
                <a:solidFill>
                  <a:srgbClr val="222222"/>
                </a:solidFill>
                <a:effectLst/>
                <a:latin typeface="-apple-system"/>
              </a:rPr>
              <a:t>GSK3</a:t>
            </a:r>
            <a:r>
              <a:rPr lang="zh-TW" altLang="en-US" b="0" i="0" dirty="0">
                <a:solidFill>
                  <a:srgbClr val="222222"/>
                </a:solidFill>
                <a:effectLst/>
                <a:latin typeface="-apple-system"/>
              </a:rPr>
              <a:t>和</a:t>
            </a:r>
            <a:r>
              <a:rPr lang="en" altLang="zh-TW" b="0" i="0" dirty="0">
                <a:solidFill>
                  <a:srgbClr val="222222"/>
                </a:solidFill>
                <a:effectLst/>
                <a:latin typeface="-apple-system"/>
              </a:rPr>
              <a:t>DDX3</a:t>
            </a:r>
            <a:r>
              <a:rPr lang="zh-TW" altLang="en-US" b="0" i="0" dirty="0">
                <a:solidFill>
                  <a:srgbClr val="222222"/>
                </a:solidFill>
                <a:effectLst/>
                <a:latin typeface="-apple-system"/>
              </a:rPr>
              <a:t>拮抗死亡受體訊號傳導從而抑制凋亡訊號傳導的可能性，並專注於</a:t>
            </a:r>
            <a:r>
              <a:rPr lang="en" altLang="zh-TW" b="0" i="0" dirty="0">
                <a:solidFill>
                  <a:srgbClr val="222222"/>
                </a:solidFill>
                <a:effectLst/>
                <a:latin typeface="-apple-system"/>
              </a:rPr>
              <a:t>TRAIL-R2</a:t>
            </a:r>
            <a:r>
              <a:rPr lang="zh-TW" altLang="en-US" b="0" i="0" dirty="0">
                <a:solidFill>
                  <a:srgbClr val="222222"/>
                </a:solidFill>
                <a:effectLst/>
                <a:latin typeface="-apple-system"/>
              </a:rPr>
              <a:t>介導的訊號傳導。</a:t>
            </a:r>
            <a:endParaRPr kumimoji="1" lang="zh-TW" altLang="en-US" dirty="0"/>
          </a:p>
          <a:p>
            <a:pPr marL="0" indent="0">
              <a:buNone/>
            </a:pPr>
            <a:r>
              <a:rPr lang="en" altLang="zh-TW" b="0" i="0" dirty="0">
                <a:solidFill>
                  <a:srgbClr val="222222"/>
                </a:solidFill>
                <a:effectLst/>
                <a:latin typeface="-apple-system"/>
              </a:rPr>
              <a:t>GSK3</a:t>
            </a:r>
            <a:r>
              <a:rPr lang="zh-TW" altLang="en-US" b="0" i="0" dirty="0">
                <a:solidFill>
                  <a:srgbClr val="222222"/>
                </a:solidFill>
                <a:effectLst/>
                <a:latin typeface="-apple-system"/>
              </a:rPr>
              <a:t>抑制</a:t>
            </a:r>
            <a:r>
              <a:rPr lang="en" altLang="zh-TW" b="0" i="0" dirty="0">
                <a:solidFill>
                  <a:srgbClr val="222222"/>
                </a:solidFill>
                <a:effectLst/>
                <a:latin typeface="-apple-system"/>
              </a:rPr>
              <a:t>DISC</a:t>
            </a:r>
            <a:r>
              <a:rPr lang="zh-TW" altLang="en-US" b="0" i="0" dirty="0">
                <a:solidFill>
                  <a:srgbClr val="222222"/>
                </a:solidFill>
                <a:effectLst/>
                <a:latin typeface="-apple-system"/>
              </a:rPr>
              <a:t>的形成，且</a:t>
            </a:r>
            <a:r>
              <a:rPr lang="en" altLang="zh-TW" b="0" i="0" dirty="0">
                <a:solidFill>
                  <a:srgbClr val="222222"/>
                </a:solidFill>
                <a:effectLst/>
                <a:latin typeface="-apple-system"/>
              </a:rPr>
              <a:t>GSK3</a:t>
            </a:r>
            <a:r>
              <a:rPr lang="zh-TW" altLang="en-US" b="0" i="0" dirty="0">
                <a:solidFill>
                  <a:srgbClr val="222222"/>
                </a:solidFill>
                <a:effectLst/>
                <a:latin typeface="-apple-system"/>
              </a:rPr>
              <a:t>與</a:t>
            </a:r>
            <a:r>
              <a:rPr lang="en" altLang="zh-TW" b="0" i="0" dirty="0">
                <a:solidFill>
                  <a:srgbClr val="222222"/>
                </a:solidFill>
                <a:effectLst/>
                <a:latin typeface="-apple-system"/>
              </a:rPr>
              <a:t>TRAIL-R2</a:t>
            </a:r>
            <a:r>
              <a:rPr lang="zh-TW" altLang="en" b="0" i="0" dirty="0">
                <a:solidFill>
                  <a:srgbClr val="222222"/>
                </a:solidFill>
                <a:effectLst/>
                <a:latin typeface="-apple-system"/>
              </a:rPr>
              <a:t>、</a:t>
            </a:r>
            <a:r>
              <a:rPr lang="en" altLang="zh-TW" b="0" i="0" dirty="0">
                <a:solidFill>
                  <a:srgbClr val="222222"/>
                </a:solidFill>
                <a:effectLst/>
                <a:latin typeface="-apple-system"/>
              </a:rPr>
              <a:t>DDX3</a:t>
            </a:r>
            <a:r>
              <a:rPr lang="zh-TW" altLang="en-US" b="0" i="0" dirty="0">
                <a:solidFill>
                  <a:srgbClr val="222222"/>
                </a:solidFill>
                <a:effectLst/>
                <a:latin typeface="-apple-system"/>
              </a:rPr>
              <a:t>和</a:t>
            </a:r>
            <a:r>
              <a:rPr lang="en" altLang="zh-TW" b="0" i="0" dirty="0">
                <a:solidFill>
                  <a:srgbClr val="222222"/>
                </a:solidFill>
                <a:effectLst/>
                <a:latin typeface="-apple-system"/>
              </a:rPr>
              <a:t>cIAP-1</a:t>
            </a:r>
            <a:r>
              <a:rPr lang="zh-TW" altLang="en-US" b="0" i="0" dirty="0">
                <a:solidFill>
                  <a:srgbClr val="222222"/>
                </a:solidFill>
                <a:effectLst/>
                <a:latin typeface="-apple-system"/>
              </a:rPr>
              <a:t>在受體上結合。</a:t>
            </a:r>
            <a:endParaRPr lang="en-US" altLang="zh-TW" b="0" i="0" dirty="0">
              <a:solidFill>
                <a:srgbClr val="22222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222222"/>
                </a:solidFill>
                <a:effectLst/>
                <a:latin typeface="-apple-system"/>
              </a:rPr>
              <a:t>這些發現表明，</a:t>
            </a:r>
            <a:r>
              <a:rPr lang="en" altLang="zh-TW" b="0" i="0" dirty="0">
                <a:solidFill>
                  <a:srgbClr val="222222"/>
                </a:solidFill>
                <a:effectLst/>
                <a:latin typeface="-apple-system"/>
              </a:rPr>
              <a:t>GSK3</a:t>
            </a:r>
            <a:r>
              <a:rPr lang="zh-TW" altLang="en" b="0" i="0" dirty="0">
                <a:solidFill>
                  <a:srgbClr val="222222"/>
                </a:solidFill>
                <a:effectLst/>
                <a:latin typeface="-apple-system"/>
              </a:rPr>
              <a:t>、</a:t>
            </a:r>
            <a:r>
              <a:rPr lang="en" altLang="zh-TW" b="0" i="0" dirty="0">
                <a:solidFill>
                  <a:srgbClr val="222222"/>
                </a:solidFill>
                <a:effectLst/>
                <a:latin typeface="-apple-system"/>
              </a:rPr>
              <a:t>DDX3</a:t>
            </a:r>
            <a:r>
              <a:rPr lang="zh-TW" altLang="en-US" b="0" i="0" dirty="0">
                <a:solidFill>
                  <a:srgbClr val="222222"/>
                </a:solidFill>
                <a:effectLst/>
                <a:latin typeface="-apple-system"/>
              </a:rPr>
              <a:t>和</a:t>
            </a:r>
            <a:r>
              <a:rPr lang="en" altLang="zh-TW" b="0" i="0" dirty="0">
                <a:solidFill>
                  <a:srgbClr val="222222"/>
                </a:solidFill>
                <a:effectLst/>
                <a:latin typeface="-apple-system"/>
              </a:rPr>
              <a:t>cIAP-1</a:t>
            </a:r>
            <a:r>
              <a:rPr lang="zh-TW" altLang="en-US" b="0" i="0" dirty="0">
                <a:solidFill>
                  <a:srgbClr val="222222"/>
                </a:solidFill>
                <a:effectLst/>
                <a:latin typeface="-apple-system"/>
              </a:rPr>
              <a:t>在死亡受體上形成一種拮抗死亡訊號傳導的複合物，從而抑制凋亡訊號傳導。</a:t>
            </a:r>
            <a:endParaRPr lang="en-US" altLang="zh-TW" b="0" i="0" dirty="0">
              <a:solidFill>
                <a:srgbClr val="222222"/>
              </a:solidFill>
              <a:effectLst/>
              <a:latin typeface="-apple-system"/>
            </a:endParaRPr>
          </a:p>
          <a:p>
            <a:pPr marL="0" indent="0">
              <a:buNone/>
            </a:pPr>
            <a:endParaRPr lang="en-US" altLang="zh-TW" b="0" i="0" dirty="0">
              <a:solidFill>
                <a:srgbClr val="222222"/>
              </a:solidFill>
              <a:effectLst/>
              <a:latin typeface="-apple-system"/>
            </a:endParaRPr>
          </a:p>
          <a:p>
            <a:pPr marL="0" indent="0">
              <a:buNone/>
            </a:pPr>
            <a:r>
              <a:rPr lang="zh-TW" altLang="en-US" sz="1600" b="0" i="0" u="none" kern="1200" dirty="0">
                <a:solidFill>
                  <a:srgbClr val="1F1F1F"/>
                </a:solidFill>
                <a:effectLst/>
                <a:latin typeface="+mn-lt"/>
                <a:ea typeface="+mn-ea"/>
                <a:cs typeface="+mn-cs"/>
              </a:rPr>
              <a:t>該複合物包含糖原合成酶激酶</a:t>
            </a:r>
            <a:r>
              <a:rPr lang="en-US" altLang="zh-TW" sz="1600" b="0" i="0" u="none" kern="1200" dirty="0">
                <a:solidFill>
                  <a:srgbClr val="1F1F1F"/>
                </a:solidFill>
                <a:effectLst/>
                <a:latin typeface="+mn-lt"/>
                <a:ea typeface="+mn-ea"/>
                <a:cs typeface="+mn-cs"/>
              </a:rPr>
              <a:t>3 (GSK3)</a:t>
            </a:r>
            <a:r>
              <a:rPr lang="zh-TW" altLang="en-US" sz="1600" b="0" i="0" u="none" kern="1200" dirty="0">
                <a:solidFill>
                  <a:srgbClr val="1F1F1F"/>
                </a:solidFill>
                <a:effectLst/>
                <a:latin typeface="+mn-lt"/>
                <a:ea typeface="+mn-ea"/>
                <a:cs typeface="+mn-cs"/>
              </a:rPr>
              <a:t>、</a:t>
            </a:r>
            <a:r>
              <a:rPr lang="en-US" altLang="zh-TW" sz="1600" b="0" i="0" u="none" kern="1200" dirty="0">
                <a:solidFill>
                  <a:srgbClr val="1F1F1F"/>
                </a:solidFill>
                <a:effectLst/>
                <a:latin typeface="+mn-lt"/>
                <a:ea typeface="+mn-ea"/>
                <a:cs typeface="+mn-cs"/>
              </a:rPr>
              <a:t>DDX3 </a:t>
            </a:r>
            <a:r>
              <a:rPr lang="zh-TW" altLang="en-US" sz="1600" b="0" i="0" u="none" kern="1200" dirty="0">
                <a:solidFill>
                  <a:srgbClr val="1F1F1F"/>
                </a:solidFill>
                <a:effectLst/>
                <a:latin typeface="+mn-lt"/>
                <a:ea typeface="+mn-ea"/>
                <a:cs typeface="+mn-cs"/>
              </a:rPr>
              <a:t>和細胞凋亡抑制蛋白</a:t>
            </a:r>
            <a:r>
              <a:rPr lang="en-US" altLang="zh-TW" sz="1600" b="0" i="0" u="none" kern="1200" dirty="0">
                <a:solidFill>
                  <a:srgbClr val="1F1F1F"/>
                </a:solidFill>
                <a:effectLst/>
                <a:latin typeface="+mn-lt"/>
                <a:ea typeface="+mn-ea"/>
                <a:cs typeface="+mn-cs"/>
              </a:rPr>
              <a:t>1 (cIAP-1)</a:t>
            </a:r>
            <a:r>
              <a:rPr lang="zh-TW" altLang="en-US" sz="1600" b="0" i="0" u="none" kern="1200" dirty="0">
                <a:solidFill>
                  <a:srgbClr val="1F1F1F"/>
                </a:solidFill>
                <a:effectLst/>
                <a:latin typeface="+mn-lt"/>
                <a:ea typeface="+mn-ea"/>
                <a:cs typeface="+mn-cs"/>
              </a:rPr>
              <a:t>。</a:t>
            </a:r>
            <a:endParaRPr lang="en-US" altLang="zh-TW" b="0" i="0" dirty="0">
              <a:solidFill>
                <a:srgbClr val="222222"/>
              </a:solidFill>
              <a:effectLst/>
              <a:latin typeface="-apple-system"/>
            </a:endParaRPr>
          </a:p>
          <a:p>
            <a:r>
              <a:rPr lang="zh-TW" altLang="en-US" b="0" i="0" dirty="0">
                <a:solidFill>
                  <a:srgbClr val="222222"/>
                </a:solidFill>
                <a:effectLst/>
                <a:latin typeface="-apple-system"/>
              </a:rPr>
              <a:t>是 </a:t>
            </a:r>
            <a:r>
              <a:rPr lang="en" altLang="zh-TW" b="0" i="0" dirty="0" err="1">
                <a:solidFill>
                  <a:srgbClr val="222222"/>
                </a:solidFill>
                <a:effectLst/>
                <a:latin typeface="-apple-system"/>
              </a:rPr>
              <a:t>Fas</a:t>
            </a:r>
            <a:r>
              <a:rPr lang="en" altLang="zh-TW" b="0" i="0" dirty="0">
                <a:solidFill>
                  <a:srgbClr val="222222"/>
                </a:solidFill>
                <a:effectLst/>
                <a:latin typeface="-apple-system"/>
              </a:rPr>
              <a:t> (CD95/Apo1)</a:t>
            </a:r>
            <a:r>
              <a:rPr lang="zh-TW" altLang="en" b="0" i="0" dirty="0">
                <a:solidFill>
                  <a:srgbClr val="222222"/>
                </a:solidFill>
                <a:effectLst/>
                <a:latin typeface="-apple-system"/>
              </a:rPr>
              <a:t>、</a:t>
            </a:r>
            <a:r>
              <a:rPr lang="en" altLang="zh-TW" b="0" i="0" dirty="0">
                <a:solidFill>
                  <a:srgbClr val="222222"/>
                </a:solidFill>
                <a:effectLst/>
                <a:latin typeface="-apple-system"/>
              </a:rPr>
              <a:t>TNF-R1 (p55/CD120a)</a:t>
            </a:r>
            <a:r>
              <a:rPr lang="zh-TW" altLang="en" b="0" i="0" dirty="0">
                <a:solidFill>
                  <a:srgbClr val="222222"/>
                </a:solidFill>
                <a:effectLst/>
                <a:latin typeface="-apple-system"/>
              </a:rPr>
              <a:t>、</a:t>
            </a:r>
            <a:r>
              <a:rPr lang="en" altLang="zh-TW" b="0" i="0" dirty="0">
                <a:solidFill>
                  <a:srgbClr val="222222"/>
                </a:solidFill>
                <a:effectLst/>
                <a:latin typeface="-apple-system"/>
              </a:rPr>
              <a:t>TNF </a:t>
            </a:r>
            <a:r>
              <a:rPr lang="zh-TW" altLang="en-US" b="0" i="0" dirty="0">
                <a:solidFill>
                  <a:srgbClr val="222222"/>
                </a:solidFill>
                <a:effectLst/>
                <a:latin typeface="-apple-system"/>
              </a:rPr>
              <a:t>相關凋亡誘導配體受體</a:t>
            </a:r>
            <a:r>
              <a:rPr lang="en-US" altLang="zh-TW" b="0" i="0" dirty="0">
                <a:solidFill>
                  <a:srgbClr val="222222"/>
                </a:solidFill>
                <a:effectLst/>
                <a:latin typeface="-apple-system"/>
              </a:rPr>
              <a:t>1 (</a:t>
            </a:r>
            <a:r>
              <a:rPr lang="en" altLang="zh-TW" b="0" i="0" dirty="0">
                <a:solidFill>
                  <a:srgbClr val="222222"/>
                </a:solidFill>
                <a:effectLst/>
                <a:latin typeface="-apple-system"/>
              </a:rPr>
              <a:t>TRAIL-R1/DR4) </a:t>
            </a:r>
            <a:r>
              <a:rPr lang="zh-TW" altLang="en-US" b="0" i="0" dirty="0">
                <a:solidFill>
                  <a:srgbClr val="222222"/>
                </a:solidFill>
                <a:effectLst/>
                <a:latin typeface="-apple-system"/>
              </a:rPr>
              <a:t>和 </a:t>
            </a:r>
            <a:r>
              <a:rPr lang="en" altLang="zh-TW" b="0" i="0" dirty="0">
                <a:solidFill>
                  <a:srgbClr val="222222"/>
                </a:solidFill>
                <a:effectLst/>
                <a:latin typeface="-apple-system"/>
              </a:rPr>
              <a:t>TRAIL-R2 </a:t>
            </a:r>
            <a:endParaRPr kumimoji="1" lang="zh-TW" altLang="en-US" dirty="0"/>
          </a:p>
        </p:txBody>
      </p:sp>
      <p:sp>
        <p:nvSpPr>
          <p:cNvPr id="4" name="投影片編號版面配置區 3">
            <a:extLst>
              <a:ext uri="{FF2B5EF4-FFF2-40B4-BE49-F238E27FC236}">
                <a16:creationId xmlns:a16="http://schemas.microsoft.com/office/drawing/2014/main" id="{F41705FA-0BB7-FB0E-4347-9D4F0F0A34A1}"/>
              </a:ext>
            </a:extLst>
          </p:cNvPr>
          <p:cNvSpPr>
            <a:spLocks noGrp="1"/>
          </p:cNvSpPr>
          <p:nvPr>
            <p:ph type="sldNum" sz="quarter" idx="5"/>
          </p:nvPr>
        </p:nvSpPr>
        <p:spPr/>
        <p:txBody>
          <a:bodyPr/>
          <a:lstStyle/>
          <a:p>
            <a:fld id="{61CA63BF-C9DC-9844-BCA0-064E1D9BA987}" type="slidenum">
              <a:rPr kumimoji="1" lang="zh-TW" altLang="en-US" smtClean="0"/>
              <a:t>13</a:t>
            </a:fld>
            <a:endParaRPr kumimoji="1" lang="zh-TW" altLang="en-US"/>
          </a:p>
        </p:txBody>
      </p:sp>
    </p:spTree>
    <p:extLst>
      <p:ext uri="{BB962C8B-B14F-4D97-AF65-F5344CB8AC3E}">
        <p14:creationId xmlns:p14="http://schemas.microsoft.com/office/powerpoint/2010/main" val="40644108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F2DD5-566E-B71D-6DE8-B82D09B1BE1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2A70757-952D-DD62-382C-62C7567410D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3E07462-8F9F-86FA-FFC3-D087D2B04B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222222"/>
                </a:solidFill>
                <a:effectLst/>
                <a:latin typeface="-apple-system"/>
              </a:rPr>
              <a:t>首先他們想先確定</a:t>
            </a:r>
            <a:r>
              <a:rPr lang="en" altLang="zh-TW" b="0" i="0" dirty="0">
                <a:solidFill>
                  <a:srgbClr val="222222"/>
                </a:solidFill>
                <a:effectLst/>
                <a:latin typeface="-apple-system"/>
              </a:rPr>
              <a:t>GSK3</a:t>
            </a:r>
            <a:r>
              <a:rPr lang="zh-TW" altLang="en-US" b="0" i="0" dirty="0">
                <a:solidFill>
                  <a:srgbClr val="222222"/>
                </a:solidFill>
                <a:effectLst/>
                <a:latin typeface="-apple-system"/>
              </a:rPr>
              <a:t>是否對外源性</a:t>
            </a:r>
            <a:r>
              <a:rPr lang="en-US" altLang="zh-TW" b="0" i="0" dirty="0">
                <a:solidFill>
                  <a:srgbClr val="222222"/>
                </a:solidFill>
                <a:effectLst/>
                <a:latin typeface="-apple-system"/>
              </a:rPr>
              <a:t>apoptosis </a:t>
            </a:r>
            <a:r>
              <a:rPr lang="zh-TW" altLang="en-US" b="0" i="0" dirty="0">
                <a:solidFill>
                  <a:srgbClr val="222222"/>
                </a:solidFill>
                <a:effectLst/>
                <a:latin typeface="-apple-system"/>
              </a:rPr>
              <a:t>途徑具有抗凋亡作用</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222222"/>
                </a:solidFill>
                <a:effectLst/>
                <a:latin typeface="-apple-system"/>
              </a:rPr>
              <a:t>簡單介紹一下</a:t>
            </a:r>
            <a:r>
              <a:rPr lang="en" altLang="zh-TW" b="0" i="0" dirty="0">
                <a:solidFill>
                  <a:srgbClr val="222222"/>
                </a:solidFill>
                <a:effectLst/>
                <a:latin typeface="-apple-system"/>
              </a:rPr>
              <a:t>GSK3</a:t>
            </a:r>
            <a:r>
              <a:rPr lang="zh-TW" altLang="en" b="0" i="0" dirty="0">
                <a:solidFill>
                  <a:srgbClr val="222222"/>
                </a:solidFill>
                <a:effectLst/>
                <a:latin typeface="-apple-system"/>
              </a:rPr>
              <a:t>，</a:t>
            </a:r>
            <a:r>
              <a:rPr lang="zh-TW" altLang="en-US" b="0" i="0" dirty="0">
                <a:solidFill>
                  <a:srgbClr val="222222"/>
                </a:solidFill>
                <a:effectLst/>
                <a:latin typeface="-apple-system"/>
              </a:rPr>
              <a:t>由 </a:t>
            </a:r>
            <a:r>
              <a:rPr lang="en" altLang="zh-TW" b="0" i="0" dirty="0">
                <a:solidFill>
                  <a:srgbClr val="222222"/>
                </a:solidFill>
                <a:effectLst/>
                <a:latin typeface="-apple-system"/>
              </a:rPr>
              <a:t>GSK3 </a:t>
            </a:r>
            <a:r>
              <a:rPr lang="el-GR" altLang="zh-TW" b="0" i="0" dirty="0">
                <a:solidFill>
                  <a:srgbClr val="222222"/>
                </a:solidFill>
                <a:effectLst/>
                <a:latin typeface="-apple-system"/>
              </a:rPr>
              <a:t>α </a:t>
            </a:r>
            <a:r>
              <a:rPr lang="zh-TW" altLang="en-US" b="0" i="0" dirty="0">
                <a:solidFill>
                  <a:srgbClr val="222222"/>
                </a:solidFill>
                <a:effectLst/>
                <a:latin typeface="-apple-system"/>
              </a:rPr>
              <a:t>和 </a:t>
            </a:r>
            <a:r>
              <a:rPr lang="en" altLang="zh-TW" b="0" i="0" dirty="0">
                <a:solidFill>
                  <a:srgbClr val="222222"/>
                </a:solidFill>
                <a:effectLst/>
                <a:latin typeface="-apple-system"/>
              </a:rPr>
              <a:t>GSK3 </a:t>
            </a:r>
            <a:r>
              <a:rPr lang="el-GR" altLang="zh-TW" b="0" i="0" dirty="0">
                <a:solidFill>
                  <a:srgbClr val="222222"/>
                </a:solidFill>
                <a:effectLst/>
                <a:latin typeface="-apple-system"/>
              </a:rPr>
              <a:t>β </a:t>
            </a:r>
            <a:r>
              <a:rPr lang="zh-TW" altLang="en-US" b="0" i="0" dirty="0">
                <a:solidFill>
                  <a:srgbClr val="222222"/>
                </a:solidFill>
                <a:effectLst/>
                <a:latin typeface="-apple-system"/>
              </a:rPr>
              <a:t>同功酶組成的激素，對死亡受體誘導的凋亡訊號具有抗凋亡作用，並且根據現前的研究發現，鋰可以選擇性地抑制 </a:t>
            </a:r>
            <a:r>
              <a:rPr lang="en" altLang="zh-TW" b="0" i="0" dirty="0">
                <a:solidFill>
                  <a:srgbClr val="222222"/>
                </a:solidFill>
                <a:effectLst/>
                <a:latin typeface="-apple-system"/>
              </a:rPr>
              <a:t>GSK3</a:t>
            </a:r>
            <a:r>
              <a:rPr lang="zh-TW" altLang="en-US" b="0" i="0" dirty="0">
                <a:solidFill>
                  <a:srgbClr val="222222"/>
                </a:solidFill>
                <a:effectLst/>
                <a:latin typeface="-apple-system"/>
              </a:rPr>
              <a:t>，作為</a:t>
            </a:r>
            <a:r>
              <a:rPr lang="en" altLang="zh-TW" b="0" i="0" dirty="0">
                <a:solidFill>
                  <a:srgbClr val="222222"/>
                </a:solidFill>
                <a:effectLst/>
                <a:latin typeface="-apple-system"/>
              </a:rPr>
              <a:t>GSK3</a:t>
            </a:r>
            <a:r>
              <a:rPr lang="zh-TW" altLang="en-US" b="0" i="0" dirty="0">
                <a:solidFill>
                  <a:srgbClr val="222222"/>
                </a:solidFill>
                <a:effectLst/>
                <a:latin typeface="-apple-system"/>
              </a:rPr>
              <a:t>的抑制劑。</a:t>
            </a:r>
            <a:endParaRPr lang="en" altLang="zh-TW" b="0" i="0" dirty="0">
              <a:solidFill>
                <a:srgbClr val="22222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222222"/>
              </a:solidFill>
              <a:effectLst/>
              <a:latin typeface="-apple-system"/>
            </a:endParaRPr>
          </a:p>
          <a:p>
            <a:pPr marL="0" indent="0">
              <a:buNone/>
            </a:pPr>
            <a:r>
              <a:rPr lang="en-US" altLang="zh-TW" sz="1600" b="0" i="0" u="none" kern="1200" dirty="0">
                <a:solidFill>
                  <a:srgbClr val="1F1F1F"/>
                </a:solidFill>
                <a:effectLst/>
                <a:latin typeface="+mn-lt"/>
                <a:ea typeface="+mn-ea"/>
                <a:cs typeface="+mn-cs"/>
              </a:rPr>
              <a:t>A</a:t>
            </a:r>
            <a:r>
              <a:rPr lang="zh-TW" altLang="en-US" sz="1600" b="0" i="0" u="none" kern="1200" dirty="0">
                <a:solidFill>
                  <a:srgbClr val="1F1F1F"/>
                </a:solidFill>
                <a:effectLst/>
                <a:latin typeface="+mn-lt"/>
                <a:ea typeface="+mn-ea"/>
                <a:cs typeface="+mn-cs"/>
              </a:rPr>
              <a:t>左：他們的實驗設計是先利用</a:t>
            </a:r>
            <a:r>
              <a:rPr lang="en" altLang="zh-TW" b="0" i="0" dirty="0">
                <a:solidFill>
                  <a:srgbClr val="222222"/>
                </a:solidFill>
                <a:effectLst/>
                <a:latin typeface="-apple-system"/>
              </a:rPr>
              <a:t>TRA-8 </a:t>
            </a:r>
            <a:r>
              <a:rPr lang="zh-TW" altLang="en-US" b="0" i="0" dirty="0">
                <a:solidFill>
                  <a:srgbClr val="222222"/>
                </a:solidFill>
                <a:effectLst/>
                <a:latin typeface="-apple-system"/>
              </a:rPr>
              <a:t>特異性刺激 </a:t>
            </a:r>
            <a:r>
              <a:rPr lang="en" altLang="zh-TW" b="0" i="0" dirty="0">
                <a:solidFill>
                  <a:srgbClr val="222222"/>
                </a:solidFill>
                <a:effectLst/>
                <a:latin typeface="-apple-system"/>
              </a:rPr>
              <a:t>MDA-MB-231 </a:t>
            </a:r>
            <a:r>
              <a:rPr lang="zh-TW" altLang="en-US" b="0" i="0" dirty="0">
                <a:solidFill>
                  <a:srgbClr val="222222"/>
                </a:solidFill>
                <a:effectLst/>
                <a:latin typeface="-apple-system"/>
              </a:rPr>
              <a:t>細胞中的 </a:t>
            </a:r>
            <a:r>
              <a:rPr lang="en" altLang="zh-TW" b="0" i="0" dirty="0">
                <a:solidFill>
                  <a:srgbClr val="222222"/>
                </a:solidFill>
                <a:effectLst/>
                <a:latin typeface="-apple-system"/>
              </a:rPr>
              <a:t>TRAIL-R2</a:t>
            </a:r>
            <a:r>
              <a:rPr lang="zh-TW" altLang="en-US" b="0" i="0" dirty="0">
                <a:solidFill>
                  <a:srgbClr val="222222"/>
                </a:solidFill>
                <a:effectLst/>
                <a:latin typeface="-apple-system"/>
              </a:rPr>
              <a:t>，誘導外源性</a:t>
            </a:r>
            <a:r>
              <a:rPr lang="en-US" altLang="zh-TW" b="0" i="0" dirty="0">
                <a:solidFill>
                  <a:srgbClr val="222222"/>
                </a:solidFill>
                <a:effectLst/>
                <a:latin typeface="-apple-system"/>
              </a:rPr>
              <a:t>apoptosis</a:t>
            </a:r>
            <a:r>
              <a:rPr lang="zh-TW" altLang="en-US" b="0" i="0" dirty="0">
                <a:solidFill>
                  <a:srgbClr val="222222"/>
                </a:solidFill>
                <a:effectLst/>
                <a:latin typeface="-apple-system"/>
              </a:rPr>
              <a:t>的產生。接著將實驗分成有添加</a:t>
            </a:r>
            <a:r>
              <a:rPr lang="en" altLang="zh-TW" b="0" i="0" dirty="0">
                <a:solidFill>
                  <a:srgbClr val="222222"/>
                </a:solidFill>
                <a:effectLst/>
                <a:latin typeface="-apple-system"/>
              </a:rPr>
              <a:t>GSK3</a:t>
            </a:r>
            <a:r>
              <a:rPr lang="zh-TW" altLang="en-US" b="0" i="0" dirty="0">
                <a:solidFill>
                  <a:srgbClr val="222222"/>
                </a:solidFill>
                <a:effectLst/>
                <a:latin typeface="-apple-system"/>
              </a:rPr>
              <a:t>鋰抑制劑和沒添加的組別，可以發現在抑制</a:t>
            </a:r>
            <a:r>
              <a:rPr lang="en" altLang="zh-TW" b="0" i="0" dirty="0">
                <a:solidFill>
                  <a:srgbClr val="222222"/>
                </a:solidFill>
                <a:effectLst/>
                <a:latin typeface="-apple-system"/>
              </a:rPr>
              <a:t>GSK3</a:t>
            </a:r>
            <a:r>
              <a:rPr lang="zh-TW" altLang="en-US" b="0" i="0" dirty="0">
                <a:solidFill>
                  <a:srgbClr val="222222"/>
                </a:solidFill>
                <a:effectLst/>
                <a:latin typeface="-apple-system"/>
              </a:rPr>
              <a:t>的組別中， </a:t>
            </a:r>
            <a:r>
              <a:rPr lang="en" altLang="zh-TW" b="0" i="0" dirty="0">
                <a:solidFill>
                  <a:srgbClr val="222222"/>
                </a:solidFill>
                <a:effectLst/>
                <a:latin typeface="-apple-system"/>
              </a:rPr>
              <a:t>caspase-3 </a:t>
            </a:r>
            <a:r>
              <a:rPr lang="zh-TW" altLang="en-US" b="0" i="0" dirty="0">
                <a:solidFill>
                  <a:srgbClr val="222222"/>
                </a:solidFill>
                <a:effectLst/>
                <a:latin typeface="-apple-system"/>
              </a:rPr>
              <a:t>活性提高 </a:t>
            </a:r>
            <a:r>
              <a:rPr lang="en-US" altLang="zh-TW" b="0" i="0" dirty="0">
                <a:solidFill>
                  <a:srgbClr val="222222"/>
                </a:solidFill>
                <a:effectLst/>
                <a:latin typeface="-apple-system"/>
              </a:rPr>
              <a:t>2 </a:t>
            </a:r>
            <a:r>
              <a:rPr lang="zh-TW" altLang="en-US" b="0" i="0" dirty="0">
                <a:solidFill>
                  <a:srgbClr val="222222"/>
                </a:solidFill>
                <a:effectLst/>
                <a:latin typeface="-apple-system"/>
              </a:rPr>
              <a:t>至 </a:t>
            </a:r>
            <a:r>
              <a:rPr lang="en-US" altLang="zh-TW" b="0" i="0" dirty="0">
                <a:solidFill>
                  <a:srgbClr val="222222"/>
                </a:solidFill>
                <a:effectLst/>
                <a:latin typeface="-apple-system"/>
              </a:rPr>
              <a:t>4 </a:t>
            </a:r>
            <a:r>
              <a:rPr lang="zh-TW" altLang="en-US" b="0" i="0" dirty="0">
                <a:solidFill>
                  <a:srgbClr val="222222"/>
                </a:solidFill>
                <a:effectLst/>
                <a:latin typeface="-apple-system"/>
              </a:rPr>
              <a:t>倍，且在較低濃度的 </a:t>
            </a:r>
            <a:r>
              <a:rPr lang="en" altLang="zh-TW" b="0" i="0" dirty="0">
                <a:solidFill>
                  <a:srgbClr val="222222"/>
                </a:solidFill>
                <a:effectLst/>
                <a:latin typeface="-apple-system"/>
              </a:rPr>
              <a:t>TRA-8 </a:t>
            </a:r>
            <a:r>
              <a:rPr lang="zh-TW" altLang="en-US" b="0" i="0" dirty="0">
                <a:solidFill>
                  <a:srgbClr val="222222"/>
                </a:solidFill>
                <a:effectLst/>
                <a:latin typeface="-apple-system"/>
              </a:rPr>
              <a:t>下增強效果最明顯。</a:t>
            </a:r>
            <a:endParaRPr lang="en-US" altLang="zh-TW" b="0" i="0" dirty="0">
              <a:solidFill>
                <a:srgbClr val="222222"/>
              </a:solidFill>
              <a:effectLst/>
              <a:latin typeface="-apple-system"/>
            </a:endParaRPr>
          </a:p>
          <a:p>
            <a:pPr marL="0" indent="0">
              <a:buNone/>
            </a:pPr>
            <a:r>
              <a:rPr lang="en-US" altLang="zh-TW" b="0" i="0" dirty="0">
                <a:solidFill>
                  <a:srgbClr val="222222"/>
                </a:solidFill>
                <a:effectLst/>
                <a:latin typeface="-apple-system"/>
              </a:rPr>
              <a:t>A</a:t>
            </a:r>
            <a:r>
              <a:rPr lang="zh-TW" altLang="en-US" b="0" i="0" dirty="0">
                <a:solidFill>
                  <a:srgbClr val="222222"/>
                </a:solidFill>
                <a:effectLst/>
                <a:latin typeface="-apple-system"/>
              </a:rPr>
              <a:t>右：另外他們設計了</a:t>
            </a:r>
            <a:r>
              <a:rPr lang="en" altLang="zh-TW" b="0" i="0" dirty="0">
                <a:solidFill>
                  <a:srgbClr val="222222"/>
                </a:solidFill>
                <a:effectLst/>
                <a:latin typeface="-apple-system"/>
              </a:rPr>
              <a:t>TRA-8</a:t>
            </a:r>
            <a:r>
              <a:rPr lang="zh-TW" altLang="en-US" b="0" i="0" dirty="0">
                <a:solidFill>
                  <a:srgbClr val="222222"/>
                </a:solidFill>
                <a:effectLst/>
                <a:latin typeface="-apple-system"/>
              </a:rPr>
              <a:t>抗藥性</a:t>
            </a:r>
            <a:r>
              <a:rPr lang="en" altLang="zh-TW" b="0" i="0" dirty="0">
                <a:solidFill>
                  <a:srgbClr val="222222"/>
                </a:solidFill>
                <a:effectLst/>
                <a:latin typeface="-apple-system"/>
              </a:rPr>
              <a:t>MDA-MB-231</a:t>
            </a:r>
            <a:r>
              <a:rPr lang="zh-TW" altLang="en-US" b="0" i="0" dirty="0">
                <a:solidFill>
                  <a:srgbClr val="222222"/>
                </a:solidFill>
                <a:effectLst/>
                <a:latin typeface="-apple-system"/>
              </a:rPr>
              <a:t>細胞的組別，也得到和左邊類似的結果，抑制</a:t>
            </a:r>
            <a:r>
              <a:rPr lang="en" altLang="zh-TW" b="0" i="0" dirty="0">
                <a:solidFill>
                  <a:srgbClr val="222222"/>
                </a:solidFill>
                <a:effectLst/>
                <a:latin typeface="-apple-system"/>
              </a:rPr>
              <a:t>GSK3</a:t>
            </a:r>
            <a:r>
              <a:rPr lang="zh-TW" altLang="en-US" b="0" i="0" dirty="0">
                <a:solidFill>
                  <a:srgbClr val="222222"/>
                </a:solidFill>
                <a:effectLst/>
                <a:latin typeface="-apple-system"/>
              </a:rPr>
              <a:t>仍能使</a:t>
            </a:r>
            <a:r>
              <a:rPr lang="en" altLang="zh-TW" b="0" i="0" dirty="0">
                <a:solidFill>
                  <a:srgbClr val="222222"/>
                </a:solidFill>
                <a:effectLst/>
                <a:latin typeface="-apple-system"/>
              </a:rPr>
              <a:t>TRA-8</a:t>
            </a:r>
            <a:r>
              <a:rPr lang="zh-TW" altLang="en-US" b="0" i="0" dirty="0">
                <a:solidFill>
                  <a:srgbClr val="222222"/>
                </a:solidFill>
                <a:effectLst/>
                <a:latin typeface="-apple-system"/>
              </a:rPr>
              <a:t>誘導的</a:t>
            </a:r>
            <a:r>
              <a:rPr lang="en" altLang="zh-TW" b="0" i="0" dirty="0">
                <a:solidFill>
                  <a:srgbClr val="222222"/>
                </a:solidFill>
                <a:effectLst/>
                <a:latin typeface="-apple-system"/>
              </a:rPr>
              <a:t>caspase-3</a:t>
            </a:r>
            <a:r>
              <a:rPr lang="zh-TW" altLang="en-US" b="0" i="0" dirty="0">
                <a:solidFill>
                  <a:srgbClr val="222222"/>
                </a:solidFill>
                <a:effectLst/>
                <a:latin typeface="-apple-system"/>
              </a:rPr>
              <a:t>活化增加約三倍。</a:t>
            </a:r>
            <a:endParaRPr lang="en-US" altLang="zh-TW" b="0" i="0" dirty="0">
              <a:solidFill>
                <a:srgbClr val="222222"/>
              </a:solidFill>
              <a:effectLst/>
              <a:latin typeface="-apple-system"/>
            </a:endParaRPr>
          </a:p>
          <a:p>
            <a:pPr marL="0" indent="0">
              <a:buNone/>
            </a:pPr>
            <a:r>
              <a:rPr lang="zh-TW" altLang="en-US" b="0" i="0" dirty="0">
                <a:solidFill>
                  <a:srgbClr val="222222"/>
                </a:solidFill>
                <a:effectLst/>
                <a:latin typeface="-apple-system"/>
              </a:rPr>
              <a:t>因此，不論是在抗藥性還是非抗藥性的</a:t>
            </a:r>
            <a:r>
              <a:rPr lang="en" altLang="zh-TW" b="0" i="0" dirty="0">
                <a:solidFill>
                  <a:srgbClr val="222222"/>
                </a:solidFill>
                <a:effectLst/>
                <a:latin typeface="-apple-system"/>
              </a:rPr>
              <a:t>MDA-MB-231</a:t>
            </a:r>
            <a:r>
              <a:rPr lang="zh-TW" altLang="en-US" b="0" i="0" dirty="0">
                <a:solidFill>
                  <a:srgbClr val="222222"/>
                </a:solidFill>
                <a:effectLst/>
                <a:latin typeface="-apple-system"/>
              </a:rPr>
              <a:t>細胞中，抑制</a:t>
            </a:r>
            <a:r>
              <a:rPr lang="en" altLang="zh-TW" b="0" i="0" dirty="0">
                <a:solidFill>
                  <a:srgbClr val="222222"/>
                </a:solidFill>
                <a:effectLst/>
                <a:latin typeface="-apple-system"/>
              </a:rPr>
              <a:t>GSK3</a:t>
            </a:r>
            <a:r>
              <a:rPr lang="zh-TW" altLang="en-US" b="0" i="0" dirty="0">
                <a:solidFill>
                  <a:srgbClr val="222222"/>
                </a:solidFill>
                <a:effectLst/>
                <a:latin typeface="-apple-system"/>
              </a:rPr>
              <a:t>均能顯著促進</a:t>
            </a:r>
            <a:r>
              <a:rPr lang="en" altLang="zh-TW" b="0" i="0" dirty="0">
                <a:solidFill>
                  <a:srgbClr val="222222"/>
                </a:solidFill>
                <a:effectLst/>
                <a:latin typeface="-apple-system"/>
              </a:rPr>
              <a:t>TRAIL-R2</a:t>
            </a:r>
            <a:r>
              <a:rPr lang="zh-TW" altLang="en-US" b="0" i="0" dirty="0">
                <a:solidFill>
                  <a:srgbClr val="222222"/>
                </a:solidFill>
                <a:effectLst/>
                <a:latin typeface="-apple-system"/>
              </a:rPr>
              <a:t>刺激所誘導的外源性凋亡訊號傳導。</a:t>
            </a:r>
            <a:endParaRPr lang="en-US" altLang="zh-TW" b="0" i="0" dirty="0">
              <a:solidFill>
                <a:srgbClr val="222222"/>
              </a:solidFill>
              <a:effectLst/>
              <a:latin typeface="-apple-system"/>
            </a:endParaRPr>
          </a:p>
          <a:p>
            <a:pPr marL="0" indent="0">
              <a:buNone/>
            </a:pPr>
            <a:endParaRPr lang="en-US" altLang="zh-TW" sz="1600" b="0" i="0" u="none" kern="1200" dirty="0">
              <a:solidFill>
                <a:srgbClr val="222222"/>
              </a:solidFill>
              <a:effectLst/>
              <a:latin typeface="-apple-system"/>
              <a:ea typeface="+mn-ea"/>
              <a:cs typeface="+mn-cs"/>
            </a:endParaRPr>
          </a:p>
          <a:p>
            <a:pPr marL="0" indent="0">
              <a:buNone/>
            </a:pPr>
            <a:r>
              <a:rPr lang="en" altLang="zh-TW" sz="1600" b="0" i="0" u="none" kern="1200" dirty="0">
                <a:solidFill>
                  <a:srgbClr val="222222"/>
                </a:solidFill>
                <a:effectLst/>
                <a:latin typeface="-apple-system"/>
                <a:ea typeface="+mn-ea"/>
                <a:cs typeface="+mn-cs"/>
              </a:rPr>
              <a:t>B</a:t>
            </a:r>
            <a:r>
              <a:rPr lang="zh-TW" altLang="en-US" sz="1600" b="0" i="0" u="none" kern="1200" dirty="0">
                <a:solidFill>
                  <a:srgbClr val="222222"/>
                </a:solidFill>
                <a:effectLst/>
                <a:latin typeface="-apple-system"/>
                <a:ea typeface="+mn-ea"/>
                <a:cs typeface="+mn-cs"/>
              </a:rPr>
              <a:t>：接著他們還用了另一種細胞</a:t>
            </a:r>
            <a:r>
              <a:rPr lang="en" altLang="zh-TW" b="0" i="0" dirty="0">
                <a:solidFill>
                  <a:srgbClr val="222222"/>
                </a:solidFill>
                <a:effectLst/>
                <a:latin typeface="-apple-system"/>
              </a:rPr>
              <a:t>1321N1 </a:t>
            </a:r>
            <a:r>
              <a:rPr lang="zh-TW" altLang="en-US" b="0" i="0" dirty="0">
                <a:solidFill>
                  <a:srgbClr val="222222"/>
                </a:solidFill>
                <a:effectLst/>
                <a:latin typeface="-apple-system"/>
              </a:rPr>
              <a:t>細胞，得到了和</a:t>
            </a:r>
            <a:r>
              <a:rPr lang="en" altLang="zh-TW" b="0" i="0" dirty="0">
                <a:solidFill>
                  <a:srgbClr val="222222"/>
                </a:solidFill>
                <a:effectLst/>
                <a:latin typeface="-apple-system"/>
              </a:rPr>
              <a:t>MDA-MB-231 </a:t>
            </a:r>
            <a:r>
              <a:rPr lang="zh-TW" altLang="en-US" b="0" i="0" dirty="0">
                <a:solidFill>
                  <a:srgbClr val="222222"/>
                </a:solidFill>
                <a:effectLst/>
                <a:latin typeface="-apple-system"/>
              </a:rPr>
              <a:t>細胞類似的結果，從</a:t>
            </a:r>
            <a:r>
              <a:rPr lang="en-US" altLang="zh-TW" b="0" i="0" dirty="0">
                <a:solidFill>
                  <a:srgbClr val="222222"/>
                </a:solidFill>
                <a:effectLst/>
                <a:latin typeface="-apple-system"/>
              </a:rPr>
              <a:t>western</a:t>
            </a:r>
            <a:r>
              <a:rPr lang="zh-TW" altLang="en-US" b="0" i="0" dirty="0">
                <a:solidFill>
                  <a:srgbClr val="222222"/>
                </a:solidFill>
                <a:effectLst/>
                <a:latin typeface="-apple-system"/>
              </a:rPr>
              <a:t>也可看見抑制</a:t>
            </a:r>
            <a:r>
              <a:rPr lang="en" altLang="zh-TW" b="0" i="0" dirty="0">
                <a:solidFill>
                  <a:srgbClr val="222222"/>
                </a:solidFill>
                <a:effectLst/>
                <a:latin typeface="-apple-system"/>
              </a:rPr>
              <a:t>GSK3</a:t>
            </a:r>
            <a:r>
              <a:rPr lang="zh-TW" altLang="en-US" b="0" i="0" dirty="0">
                <a:solidFill>
                  <a:srgbClr val="222222"/>
                </a:solidFill>
                <a:effectLst/>
                <a:latin typeface="-apple-system"/>
              </a:rPr>
              <a:t>的情況下，</a:t>
            </a:r>
            <a:r>
              <a:rPr lang="en-US" altLang="zh-TW" b="0" i="0" dirty="0">
                <a:solidFill>
                  <a:srgbClr val="222222"/>
                </a:solidFill>
                <a:effectLst/>
                <a:latin typeface="-apple-system"/>
              </a:rPr>
              <a:t>caspase3</a:t>
            </a:r>
            <a:r>
              <a:rPr lang="zh-TW" altLang="en-US" b="0" i="0" dirty="0">
                <a:solidFill>
                  <a:srgbClr val="222222"/>
                </a:solidFill>
                <a:effectLst/>
                <a:latin typeface="-apple-system"/>
              </a:rPr>
              <a:t>活化量相較非抑制的組別明顯增加。</a:t>
            </a:r>
            <a:endParaRPr lang="en" altLang="zh-TW" sz="1600" b="0" i="0" u="none" kern="1200" dirty="0">
              <a:solidFill>
                <a:srgbClr val="222222"/>
              </a:solidFill>
              <a:effectLst/>
              <a:latin typeface="-apple-system"/>
              <a:ea typeface="+mn-ea"/>
              <a:cs typeface="+mn-cs"/>
            </a:endParaRPr>
          </a:p>
          <a:p>
            <a:pPr marL="0" indent="0">
              <a:buNone/>
            </a:pPr>
            <a:endParaRPr lang="en-US" altLang="zh-TW" sz="1600" b="0" i="0" u="none" kern="1200" dirty="0">
              <a:solidFill>
                <a:srgbClr val="1F1F1F"/>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222222"/>
                </a:solidFill>
                <a:effectLst/>
                <a:latin typeface="-apple-system"/>
              </a:rPr>
              <a:t>C</a:t>
            </a:r>
            <a:r>
              <a:rPr lang="zh-TW" altLang="en-US" b="0" i="0" dirty="0">
                <a:solidFill>
                  <a:srgbClr val="222222"/>
                </a:solidFill>
                <a:effectLst/>
                <a:latin typeface="-apple-system"/>
              </a:rPr>
              <a:t>：先前是利用鋰可作為</a:t>
            </a:r>
            <a:r>
              <a:rPr lang="en" altLang="zh-TW" b="0" i="0" dirty="0">
                <a:solidFill>
                  <a:srgbClr val="222222"/>
                </a:solidFill>
                <a:effectLst/>
                <a:latin typeface="-apple-system"/>
              </a:rPr>
              <a:t>GSK3</a:t>
            </a:r>
            <a:r>
              <a:rPr lang="zh-TW" altLang="en-US" b="0" i="0" dirty="0">
                <a:solidFill>
                  <a:srgbClr val="222222"/>
                </a:solidFill>
                <a:effectLst/>
                <a:latin typeface="-apple-system"/>
              </a:rPr>
              <a:t>的抑制劑，另外他們也用了一組結構多樣的</a:t>
            </a:r>
            <a:r>
              <a:rPr lang="en" altLang="zh-TW" b="0" i="0" dirty="0">
                <a:solidFill>
                  <a:srgbClr val="222222"/>
                </a:solidFill>
                <a:effectLst/>
                <a:latin typeface="-apple-system"/>
              </a:rPr>
              <a:t>GSK3</a:t>
            </a:r>
            <a:r>
              <a:rPr lang="zh-TW" altLang="en-US" b="0" i="0" dirty="0">
                <a:solidFill>
                  <a:srgbClr val="222222"/>
                </a:solidFill>
                <a:effectLst/>
                <a:latin typeface="-apple-system"/>
              </a:rPr>
              <a:t>選擇性抑制劑，來增強</a:t>
            </a:r>
            <a:r>
              <a:rPr lang="en" altLang="zh-TW" b="0" i="0" dirty="0">
                <a:solidFill>
                  <a:srgbClr val="222222"/>
                </a:solidFill>
                <a:effectLst/>
                <a:latin typeface="-apple-system"/>
              </a:rPr>
              <a:t>TRAIL-R2</a:t>
            </a:r>
            <a:r>
              <a:rPr lang="zh-TW" altLang="en-US" b="0" i="0" dirty="0">
                <a:solidFill>
                  <a:srgbClr val="222222"/>
                </a:solidFill>
                <a:effectLst/>
                <a:latin typeface="-apple-system"/>
              </a:rPr>
              <a:t>誘導</a:t>
            </a:r>
            <a:r>
              <a:rPr lang="en" altLang="zh-TW" b="0" i="0" dirty="0">
                <a:solidFill>
                  <a:srgbClr val="222222"/>
                </a:solidFill>
                <a:effectLst/>
                <a:latin typeface="-apple-system"/>
              </a:rPr>
              <a:t>caspase-3</a:t>
            </a:r>
            <a:r>
              <a:rPr lang="zh-TW" altLang="en-US" b="0" i="0" dirty="0">
                <a:solidFill>
                  <a:srgbClr val="222222"/>
                </a:solidFill>
                <a:effectLst/>
                <a:latin typeface="-apple-system"/>
              </a:rPr>
              <a:t>活化，結果顯示添加抑制劑的組別中會</a:t>
            </a:r>
            <a:r>
              <a:rPr lang="en-US" altLang="zh-TW" b="0" i="0" dirty="0">
                <a:solidFill>
                  <a:srgbClr val="222222"/>
                </a:solidFill>
                <a:effectLst/>
                <a:latin typeface="-apple-system"/>
              </a:rPr>
              <a:t>caspase3</a:t>
            </a:r>
            <a:r>
              <a:rPr lang="zh-TW" altLang="en-US" b="0" i="0" dirty="0">
                <a:solidFill>
                  <a:srgbClr val="222222"/>
                </a:solidFill>
                <a:effectLst/>
                <a:latin typeface="-apple-system"/>
              </a:rPr>
              <a:t>活化量增加。</a:t>
            </a:r>
            <a:endParaRPr lang="en-US" altLang="zh-TW" b="0" i="0" dirty="0">
              <a:solidFill>
                <a:srgbClr val="22222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222222"/>
                </a:solidFill>
                <a:effectLst/>
                <a:latin typeface="-apple-system"/>
              </a:rPr>
              <a:t>這些結果證明內源性</a:t>
            </a:r>
            <a:r>
              <a:rPr lang="en" altLang="zh-TW" b="0" i="0" dirty="0">
                <a:solidFill>
                  <a:srgbClr val="222222"/>
                </a:solidFill>
                <a:effectLst/>
                <a:latin typeface="-apple-system"/>
              </a:rPr>
              <a:t>GSK3</a:t>
            </a:r>
            <a:r>
              <a:rPr lang="zh-TW" altLang="en-US" b="0" i="0" dirty="0">
                <a:solidFill>
                  <a:srgbClr val="222222"/>
                </a:solidFill>
                <a:effectLst/>
                <a:latin typeface="-apple-system"/>
              </a:rPr>
              <a:t>對</a:t>
            </a:r>
            <a:r>
              <a:rPr lang="en" altLang="zh-TW" b="0" i="0" dirty="0">
                <a:solidFill>
                  <a:srgbClr val="222222"/>
                </a:solidFill>
                <a:effectLst/>
                <a:latin typeface="-apple-system"/>
              </a:rPr>
              <a:t>TRAIL-R2</a:t>
            </a:r>
            <a:r>
              <a:rPr lang="zh-TW" altLang="en-US" b="0" i="0" dirty="0">
                <a:solidFill>
                  <a:srgbClr val="222222"/>
                </a:solidFill>
                <a:effectLst/>
                <a:latin typeface="-apple-system"/>
              </a:rPr>
              <a:t>介導的凋亡訊號傳導具有強大的抗凋亡調控作用。</a:t>
            </a:r>
            <a:endParaRPr lang="en-US" altLang="zh-TW" b="0" i="0" dirty="0">
              <a:solidFill>
                <a:srgbClr val="22222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22222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22222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222222"/>
              </a:solidFill>
              <a:effectLst/>
              <a:latin typeface="-apple-system"/>
            </a:endParaRPr>
          </a:p>
          <a:p>
            <a:pPr algn="l">
              <a:spcAft>
                <a:spcPts val="1800"/>
              </a:spcAft>
            </a:pPr>
            <a:r>
              <a:rPr lang="en-US" altLang="zh-TW" b="0" i="0" dirty="0">
                <a:solidFill>
                  <a:srgbClr val="222222"/>
                </a:solidFill>
                <a:effectLst/>
                <a:latin typeface="-apple-system"/>
              </a:rPr>
              <a:t>20 mM</a:t>
            </a:r>
            <a:r>
              <a:rPr lang="zh-TW" altLang="en-US" b="0" i="0" dirty="0">
                <a:solidFill>
                  <a:srgbClr val="222222"/>
                </a:solidFill>
                <a:effectLst/>
                <a:latin typeface="-apple-system"/>
              </a:rPr>
              <a:t>鋰（</a:t>
            </a:r>
            <a:r>
              <a:rPr lang="en-US" altLang="zh-TW" b="0" i="0" dirty="0">
                <a:solidFill>
                  <a:srgbClr val="222222"/>
                </a:solidFill>
                <a:effectLst/>
                <a:latin typeface="-apple-system"/>
              </a:rPr>
              <a:t>Li</a:t>
            </a:r>
            <a:r>
              <a:rPr lang="zh-TW" altLang="en-US" b="0" i="0" dirty="0">
                <a:solidFill>
                  <a:srgbClr val="222222"/>
                </a:solidFill>
                <a:effectLst/>
                <a:latin typeface="-apple-system"/>
              </a:rPr>
              <a:t>）、</a:t>
            </a:r>
            <a:r>
              <a:rPr lang="en-US" altLang="zh-TW" b="0" i="0" dirty="0">
                <a:solidFill>
                  <a:srgbClr val="222222"/>
                </a:solidFill>
                <a:effectLst/>
                <a:latin typeface="-apple-system"/>
              </a:rPr>
              <a:t>5  </a:t>
            </a:r>
            <a:r>
              <a:rPr lang="el-GR" altLang="zh-TW" b="0" i="0" dirty="0">
                <a:solidFill>
                  <a:srgbClr val="222222"/>
                </a:solidFill>
                <a:effectLst/>
                <a:latin typeface="-apple-system"/>
              </a:rPr>
              <a:t>μ </a:t>
            </a:r>
            <a:r>
              <a:rPr lang="en-US" altLang="zh-TW" b="0" i="0" dirty="0">
                <a:solidFill>
                  <a:srgbClr val="222222"/>
                </a:solidFill>
                <a:effectLst/>
                <a:latin typeface="-apple-system"/>
              </a:rPr>
              <a:t>M</a:t>
            </a:r>
            <a:r>
              <a:rPr lang="zh-TW" altLang="en-US" b="0" i="0" dirty="0">
                <a:solidFill>
                  <a:srgbClr val="222222"/>
                </a:solidFill>
                <a:effectLst/>
                <a:latin typeface="-apple-system"/>
              </a:rPr>
              <a:t>靛玉紅</a:t>
            </a:r>
            <a:r>
              <a:rPr lang="en-US" altLang="zh-TW" b="0" i="0" dirty="0">
                <a:solidFill>
                  <a:srgbClr val="222222"/>
                </a:solidFill>
                <a:effectLst/>
                <a:latin typeface="-apple-system"/>
              </a:rPr>
              <a:t>-3′-</a:t>
            </a:r>
            <a:r>
              <a:rPr lang="zh-TW" altLang="en-US" b="0" i="0" dirty="0">
                <a:solidFill>
                  <a:srgbClr val="222222"/>
                </a:solidFill>
                <a:effectLst/>
                <a:latin typeface="-apple-system"/>
              </a:rPr>
              <a:t>單肟（</a:t>
            </a:r>
            <a:r>
              <a:rPr lang="en-US" altLang="zh-TW" b="0" i="0" dirty="0">
                <a:solidFill>
                  <a:srgbClr val="222222"/>
                </a:solidFill>
                <a:effectLst/>
                <a:latin typeface="-apple-system"/>
              </a:rPr>
              <a:t>In</a:t>
            </a:r>
            <a:r>
              <a:rPr lang="zh-TW" altLang="en-US" b="0" i="0" dirty="0">
                <a:solidFill>
                  <a:srgbClr val="222222"/>
                </a:solidFill>
                <a:effectLst/>
                <a:latin typeface="-apple-system"/>
              </a:rPr>
              <a:t>）、</a:t>
            </a:r>
            <a:r>
              <a:rPr lang="en-US" altLang="zh-TW" b="0" i="0" dirty="0">
                <a:solidFill>
                  <a:srgbClr val="222222"/>
                </a:solidFill>
                <a:effectLst/>
                <a:latin typeface="-apple-system"/>
              </a:rPr>
              <a:t>5  </a:t>
            </a:r>
            <a:r>
              <a:rPr lang="el-GR" altLang="zh-TW" b="0" i="0" dirty="0">
                <a:solidFill>
                  <a:srgbClr val="222222"/>
                </a:solidFill>
                <a:effectLst/>
                <a:latin typeface="-apple-system"/>
              </a:rPr>
              <a:t>μ </a:t>
            </a:r>
            <a:r>
              <a:rPr lang="en-US" altLang="zh-TW" b="0" i="0" dirty="0">
                <a:solidFill>
                  <a:srgbClr val="222222"/>
                </a:solidFill>
                <a:effectLst/>
                <a:latin typeface="-apple-system"/>
              </a:rPr>
              <a:t>M</a:t>
            </a:r>
            <a:r>
              <a:rPr lang="zh-TW" altLang="en-US" b="0" i="0" dirty="0">
                <a:solidFill>
                  <a:srgbClr val="222222"/>
                </a:solidFill>
                <a:effectLst/>
                <a:latin typeface="-apple-system"/>
              </a:rPr>
              <a:t>肯保酮（</a:t>
            </a:r>
            <a:r>
              <a:rPr lang="en-US" altLang="zh-TW" b="0" i="0" dirty="0">
                <a:solidFill>
                  <a:srgbClr val="222222"/>
                </a:solidFill>
                <a:effectLst/>
                <a:latin typeface="-apple-system"/>
              </a:rPr>
              <a:t>Ke</a:t>
            </a:r>
            <a:r>
              <a:rPr lang="zh-TW" altLang="en-US" b="0" i="0" dirty="0">
                <a:solidFill>
                  <a:srgbClr val="222222"/>
                </a:solidFill>
                <a:effectLst/>
                <a:latin typeface="-apple-system"/>
              </a:rPr>
              <a:t>）或</a:t>
            </a:r>
            <a:r>
              <a:rPr lang="en-US" altLang="zh-TW" b="0" i="0" dirty="0">
                <a:solidFill>
                  <a:srgbClr val="222222"/>
                </a:solidFill>
                <a:effectLst/>
                <a:latin typeface="-apple-system"/>
              </a:rPr>
              <a:t>50  </a:t>
            </a:r>
            <a:r>
              <a:rPr lang="el-GR" altLang="zh-TW" b="0" i="0" dirty="0">
                <a:solidFill>
                  <a:srgbClr val="222222"/>
                </a:solidFill>
                <a:effectLst/>
                <a:latin typeface="-apple-system"/>
              </a:rPr>
              <a:t>μ </a:t>
            </a:r>
            <a:r>
              <a:rPr lang="en-US" altLang="zh-TW" b="0" i="0" dirty="0">
                <a:solidFill>
                  <a:srgbClr val="222222"/>
                </a:solidFill>
                <a:effectLst/>
                <a:latin typeface="-apple-system"/>
              </a:rPr>
              <a:t>M GSK3</a:t>
            </a:r>
            <a:r>
              <a:rPr lang="zh-TW" altLang="en-US" b="0" i="0" dirty="0">
                <a:solidFill>
                  <a:srgbClr val="222222"/>
                </a:solidFill>
                <a:effectLst/>
                <a:latin typeface="-apple-system"/>
              </a:rPr>
              <a:t>抑制劑</a:t>
            </a:r>
            <a:r>
              <a:rPr lang="en-US" altLang="zh-TW" b="0" i="0" dirty="0">
                <a:solidFill>
                  <a:srgbClr val="222222"/>
                </a:solidFill>
                <a:effectLst/>
                <a:latin typeface="-apple-system"/>
              </a:rPr>
              <a:t>1</a:t>
            </a:r>
            <a:r>
              <a:rPr lang="zh-TW" altLang="en-US" b="0" i="0" dirty="0">
                <a:solidFill>
                  <a:srgbClr val="222222"/>
                </a:solidFill>
                <a:effectLst/>
                <a:latin typeface="-apple-system"/>
              </a:rPr>
              <a:t>（</a:t>
            </a:r>
            <a:r>
              <a:rPr lang="en-US" altLang="zh-TW" b="0" i="0" dirty="0">
                <a:solidFill>
                  <a:srgbClr val="222222"/>
                </a:solidFill>
                <a:effectLst/>
                <a:latin typeface="-apple-system"/>
              </a:rPr>
              <a:t>i-1</a:t>
            </a:r>
            <a:r>
              <a:rPr lang="zh-TW" altLang="en-US" b="0" i="0" dirty="0">
                <a:solidFill>
                  <a:srgbClr val="222222"/>
                </a:solidFill>
                <a:effectLst/>
                <a:latin typeface="-apple-system"/>
              </a:rPr>
              <a:t>）。</a:t>
            </a:r>
            <a:endParaRPr lang="en-US" altLang="zh-TW" b="0" i="0" dirty="0">
              <a:solidFill>
                <a:srgbClr val="22222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222222"/>
              </a:solidFill>
              <a:effectLst/>
              <a:latin typeface="-apple-system"/>
            </a:endParaRPr>
          </a:p>
          <a:p>
            <a:r>
              <a:rPr lang="en" altLang="zh-TW" b="1" dirty="0"/>
              <a:t>TRA-8 </a:t>
            </a:r>
            <a:r>
              <a:rPr lang="zh-TW" altLang="en-US" b="1" dirty="0"/>
              <a:t>與 </a:t>
            </a:r>
            <a:r>
              <a:rPr lang="en" altLang="zh-TW" b="1" dirty="0"/>
              <a:t>DR5</a:t>
            </a:r>
            <a:r>
              <a:rPr lang="zh-TW" altLang="en" b="1" dirty="0"/>
              <a:t>（</a:t>
            </a:r>
            <a:r>
              <a:rPr lang="en" altLang="zh-TW" b="1" dirty="0"/>
              <a:t>TRAIL-R2</a:t>
            </a:r>
            <a:r>
              <a:rPr lang="zh-TW" altLang="en" b="1" dirty="0"/>
              <a:t>）</a:t>
            </a:r>
            <a:r>
              <a:rPr lang="zh-TW" altLang="en-US" b="1" dirty="0"/>
              <a:t>結合</a:t>
            </a:r>
            <a:endParaRPr lang="zh-TW" altLang="en-US" dirty="0"/>
          </a:p>
          <a:p>
            <a:r>
              <a:rPr lang="zh-TW" altLang="en-US" dirty="0"/>
              <a:t>引發 </a:t>
            </a:r>
            <a:r>
              <a:rPr lang="en" altLang="zh-TW" dirty="0"/>
              <a:t>DR5 </a:t>
            </a:r>
            <a:r>
              <a:rPr lang="zh-TW" altLang="en-US" dirty="0"/>
              <a:t>的構型改變 → 聚合（</a:t>
            </a:r>
            <a:r>
              <a:rPr lang="en" altLang="zh-TW" dirty="0"/>
              <a:t>trimerization</a:t>
            </a:r>
            <a:r>
              <a:rPr lang="zh-TW" altLang="en" dirty="0"/>
              <a:t>）</a:t>
            </a:r>
          </a:p>
          <a:p>
            <a:r>
              <a:rPr lang="zh-TW" altLang="en-US" dirty="0"/>
              <a:t>招募 </a:t>
            </a:r>
            <a:r>
              <a:rPr lang="en" altLang="zh-TW" b="1" dirty="0"/>
              <a:t>FADD</a:t>
            </a:r>
            <a:r>
              <a:rPr lang="zh-TW" altLang="en" b="1" dirty="0"/>
              <a:t>（</a:t>
            </a:r>
            <a:r>
              <a:rPr lang="en" altLang="zh-TW" b="1" dirty="0" err="1"/>
              <a:t>Fas</a:t>
            </a:r>
            <a:r>
              <a:rPr lang="en" altLang="zh-TW" b="1" dirty="0"/>
              <a:t>-associated death domain protein</a:t>
            </a:r>
            <a:r>
              <a:rPr lang="zh-TW" altLang="en" b="1" dirty="0"/>
              <a:t>）</a:t>
            </a:r>
            <a:endParaRPr lang="en" altLang="zh-TW" dirty="0"/>
          </a:p>
          <a:p>
            <a:r>
              <a:rPr lang="zh-TW" altLang="en-US" dirty="0"/>
              <a:t>活化 </a:t>
            </a:r>
            <a:r>
              <a:rPr lang="en" altLang="zh-TW" b="1" dirty="0"/>
              <a:t>caspase-8</a:t>
            </a:r>
            <a:r>
              <a:rPr lang="zh-TW" altLang="en" dirty="0"/>
              <a:t>（</a:t>
            </a:r>
            <a:r>
              <a:rPr lang="en" altLang="zh-TW" dirty="0"/>
              <a:t>initiator caspase</a:t>
            </a:r>
            <a:r>
              <a:rPr lang="zh-TW" altLang="en" dirty="0"/>
              <a:t>）</a:t>
            </a:r>
          </a:p>
          <a:p>
            <a:r>
              <a:rPr lang="zh-TW" altLang="en-US" dirty="0"/>
              <a:t>啟動外在性細胞凋亡途徑 → 活化 </a:t>
            </a:r>
            <a:r>
              <a:rPr lang="en" altLang="zh-TW" b="1" dirty="0"/>
              <a:t>caspase-3, -7</a:t>
            </a:r>
            <a:r>
              <a:rPr lang="en" altLang="zh-TW" dirty="0"/>
              <a:t> </a:t>
            </a:r>
            <a:r>
              <a:rPr lang="zh-TW" altLang="en-US" dirty="0"/>
              <a:t>等執行 </a:t>
            </a:r>
            <a:r>
              <a:rPr lang="en" altLang="zh-TW" dirty="0"/>
              <a:t>caspase</a:t>
            </a:r>
          </a:p>
          <a:p>
            <a:pPr marL="0" indent="0">
              <a:buNone/>
            </a:pPr>
            <a:endParaRPr lang="zh-TW" altLang="en-US" sz="1600" b="0" i="0" u="none" kern="1200" dirty="0">
              <a:solidFill>
                <a:srgbClr val="1F1F1F"/>
              </a:solidFill>
              <a:effectLst/>
              <a:latin typeface="+mn-lt"/>
              <a:ea typeface="+mn-ea"/>
              <a:cs typeface="+mn-cs"/>
            </a:endParaRPr>
          </a:p>
          <a:p>
            <a:pPr marL="0" indent="0">
              <a:buNone/>
            </a:pPr>
            <a:endParaRPr lang="en-US" altLang="zh-TW" sz="1600" b="0" i="0" u="none" kern="1200" dirty="0">
              <a:solidFill>
                <a:srgbClr val="1F1F1F"/>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91FCFC03-51BC-36CB-FC84-8B7344766BD6}"/>
              </a:ext>
            </a:extLst>
          </p:cNvPr>
          <p:cNvSpPr>
            <a:spLocks noGrp="1"/>
          </p:cNvSpPr>
          <p:nvPr>
            <p:ph type="sldNum" sz="quarter" idx="5"/>
          </p:nvPr>
        </p:nvSpPr>
        <p:spPr/>
        <p:txBody>
          <a:bodyPr/>
          <a:lstStyle/>
          <a:p>
            <a:fld id="{61CA63BF-C9DC-9844-BCA0-064E1D9BA987}" type="slidenum">
              <a:rPr kumimoji="1" lang="zh-TW" altLang="en-US" smtClean="0"/>
              <a:t>14</a:t>
            </a:fld>
            <a:endParaRPr kumimoji="1" lang="zh-TW" altLang="en-US"/>
          </a:p>
        </p:txBody>
      </p:sp>
    </p:spTree>
    <p:extLst>
      <p:ext uri="{BB962C8B-B14F-4D97-AF65-F5344CB8AC3E}">
        <p14:creationId xmlns:p14="http://schemas.microsoft.com/office/powerpoint/2010/main" val="4657671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961D7-6E74-5471-7895-EFA9138F526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1909689-919B-C792-04B3-3938BCC0B22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E8D73F9-0EB8-A9C4-5C0A-1FA7EE4E575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222222"/>
                </a:solidFill>
                <a:effectLst/>
                <a:latin typeface="-apple-system"/>
              </a:rPr>
              <a:t>內源性</a:t>
            </a:r>
            <a:r>
              <a:rPr lang="en" altLang="zh-TW" b="0" i="0" dirty="0">
                <a:solidFill>
                  <a:srgbClr val="222222"/>
                </a:solidFill>
                <a:effectLst/>
                <a:latin typeface="-apple-system"/>
              </a:rPr>
              <a:t>GSK3</a:t>
            </a:r>
            <a:r>
              <a:rPr lang="zh-TW" altLang="en-US" b="0" i="0" dirty="0">
                <a:solidFill>
                  <a:srgbClr val="222222"/>
                </a:solidFill>
                <a:effectLst/>
                <a:latin typeface="-apple-system"/>
              </a:rPr>
              <a:t>對</a:t>
            </a:r>
            <a:r>
              <a:rPr lang="en" altLang="zh-TW" b="0" i="0" dirty="0">
                <a:solidFill>
                  <a:srgbClr val="222222"/>
                </a:solidFill>
                <a:effectLst/>
                <a:latin typeface="-apple-system"/>
              </a:rPr>
              <a:t>TRAIL-R2</a:t>
            </a:r>
            <a:r>
              <a:rPr lang="zh-TW" altLang="en-US" b="0" i="0" dirty="0">
                <a:solidFill>
                  <a:srgbClr val="222222"/>
                </a:solidFill>
                <a:effectLst/>
                <a:latin typeface="-apple-system"/>
              </a:rPr>
              <a:t>介導的凋亡訊號傳導具有強大的抗凋亡調控作用。</a:t>
            </a:r>
            <a:endParaRPr lang="en-US" altLang="zh-TW" b="0" i="0" dirty="0">
              <a:solidFill>
                <a:srgbClr val="222222"/>
              </a:solidFill>
              <a:effectLst/>
              <a:latin typeface="-apple-system"/>
            </a:endParaRPr>
          </a:p>
        </p:txBody>
      </p:sp>
      <p:sp>
        <p:nvSpPr>
          <p:cNvPr id="4" name="投影片編號版面配置區 3">
            <a:extLst>
              <a:ext uri="{FF2B5EF4-FFF2-40B4-BE49-F238E27FC236}">
                <a16:creationId xmlns:a16="http://schemas.microsoft.com/office/drawing/2014/main" id="{8287B16B-031E-64A1-FE41-8C06271D3E1E}"/>
              </a:ext>
            </a:extLst>
          </p:cNvPr>
          <p:cNvSpPr>
            <a:spLocks noGrp="1"/>
          </p:cNvSpPr>
          <p:nvPr>
            <p:ph type="sldNum" sz="quarter" idx="5"/>
          </p:nvPr>
        </p:nvSpPr>
        <p:spPr/>
        <p:txBody>
          <a:bodyPr/>
          <a:lstStyle/>
          <a:p>
            <a:fld id="{61CA63BF-C9DC-9844-BCA0-064E1D9BA987}" type="slidenum">
              <a:rPr kumimoji="1" lang="zh-TW" altLang="en-US" smtClean="0"/>
              <a:t>15</a:t>
            </a:fld>
            <a:endParaRPr kumimoji="1" lang="zh-TW" altLang="en-US"/>
          </a:p>
        </p:txBody>
      </p:sp>
    </p:spTree>
    <p:extLst>
      <p:ext uri="{BB962C8B-B14F-4D97-AF65-F5344CB8AC3E}">
        <p14:creationId xmlns:p14="http://schemas.microsoft.com/office/powerpoint/2010/main" val="32606402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B4575-CB42-3CFB-73E5-619460FC336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91D3D67-F0CE-6141-033A-427C6283634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8BD50F0-BAB2-0350-8755-A4F9FAF4D3A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i="0" u="none" kern="1200" dirty="0">
                <a:solidFill>
                  <a:srgbClr val="1F1F1F"/>
                </a:solidFill>
                <a:effectLst/>
                <a:latin typeface="+mn-lt"/>
                <a:ea typeface="+mn-ea"/>
                <a:cs typeface="+mn-cs"/>
              </a:rPr>
              <a:t>D: </a:t>
            </a:r>
            <a:r>
              <a:rPr lang="zh-TW" altLang="en-US" sz="1600" b="0" i="0" u="none" kern="1200" dirty="0">
                <a:solidFill>
                  <a:srgbClr val="1F1F1F"/>
                </a:solidFill>
                <a:effectLst/>
                <a:latin typeface="+mn-lt"/>
                <a:ea typeface="+mn-ea"/>
                <a:cs typeface="+mn-cs"/>
              </a:rPr>
              <a:t>前面他們探討</a:t>
            </a:r>
            <a:r>
              <a:rPr lang="zh-TW" altLang="en-US" b="0" i="0" dirty="0">
                <a:solidFill>
                  <a:srgbClr val="222222"/>
                </a:solidFill>
                <a:effectLst/>
                <a:latin typeface="-apple-system"/>
              </a:rPr>
              <a:t>抑制</a:t>
            </a:r>
            <a:r>
              <a:rPr lang="en" altLang="zh-TW" b="0" i="0" dirty="0">
                <a:solidFill>
                  <a:srgbClr val="222222"/>
                </a:solidFill>
                <a:effectLst/>
                <a:latin typeface="-apple-system"/>
              </a:rPr>
              <a:t>GSK3</a:t>
            </a:r>
            <a:r>
              <a:rPr lang="zh-TW" altLang="en-US" sz="1600" b="0" i="0" u="none" kern="1200" dirty="0">
                <a:solidFill>
                  <a:srgbClr val="1F1F1F"/>
                </a:solidFill>
                <a:effectLst/>
                <a:latin typeface="+mn-lt"/>
                <a:ea typeface="+mn-ea"/>
                <a:cs typeface="+mn-cs"/>
              </a:rPr>
              <a:t>在刺激</a:t>
            </a:r>
            <a:r>
              <a:rPr lang="en" altLang="zh-TW" b="0" i="0" dirty="0">
                <a:solidFill>
                  <a:srgbClr val="222222"/>
                </a:solidFill>
                <a:effectLst/>
                <a:latin typeface="-apple-system"/>
              </a:rPr>
              <a:t>TRAIL-R2</a:t>
            </a:r>
            <a:r>
              <a:rPr lang="zh-TW" altLang="en-US" b="0" i="0" dirty="0">
                <a:solidFill>
                  <a:srgbClr val="222222"/>
                </a:solidFill>
                <a:effectLst/>
                <a:latin typeface="-apple-system"/>
              </a:rPr>
              <a:t>誘導的細胞凋亡中會促進</a:t>
            </a:r>
            <a:r>
              <a:rPr lang="en-US" altLang="zh-TW" b="0" i="0" dirty="0">
                <a:solidFill>
                  <a:srgbClr val="222222"/>
                </a:solidFill>
                <a:effectLst/>
                <a:latin typeface="-apple-system"/>
              </a:rPr>
              <a:t>caspase-3</a:t>
            </a:r>
            <a:r>
              <a:rPr lang="zh-TW" altLang="en-US" b="0" i="0" dirty="0">
                <a:solidFill>
                  <a:srgbClr val="222222"/>
                </a:solidFill>
                <a:effectLst/>
                <a:latin typeface="-apple-system"/>
              </a:rPr>
              <a:t>活化，接著他們想探討抑制 </a:t>
            </a:r>
            <a:r>
              <a:rPr lang="en" altLang="zh-TW" b="0" i="0" dirty="0">
                <a:solidFill>
                  <a:srgbClr val="222222"/>
                </a:solidFill>
                <a:effectLst/>
                <a:latin typeface="-apple-system"/>
              </a:rPr>
              <a:t>GSK3 </a:t>
            </a:r>
            <a:r>
              <a:rPr lang="zh-TW" altLang="en-US" b="0" i="0" dirty="0">
                <a:solidFill>
                  <a:srgbClr val="222222"/>
                </a:solidFill>
                <a:effectLst/>
                <a:latin typeface="-apple-system"/>
              </a:rPr>
              <a:t>會不會在刺激其他死亡受體後促進 </a:t>
            </a:r>
            <a:r>
              <a:rPr lang="en" altLang="zh-TW" b="0" i="0" dirty="0">
                <a:solidFill>
                  <a:srgbClr val="222222"/>
                </a:solidFill>
                <a:effectLst/>
                <a:latin typeface="-apple-system"/>
              </a:rPr>
              <a:t>caspase-3 </a:t>
            </a:r>
            <a:r>
              <a:rPr lang="zh-TW" altLang="en-US" b="0" i="0" dirty="0">
                <a:solidFill>
                  <a:srgbClr val="222222"/>
                </a:solidFill>
                <a:effectLst/>
                <a:latin typeface="-apple-system"/>
              </a:rPr>
              <a:t>活化</a:t>
            </a:r>
            <a:r>
              <a:rPr lang="zh-TW" altLang="en" b="0" i="0" dirty="0">
                <a:solidFill>
                  <a:srgbClr val="222222"/>
                </a:solidFill>
                <a:effectLst/>
                <a:latin typeface="-apple-system"/>
              </a:rPr>
              <a:t>。</a:t>
            </a:r>
            <a:endParaRPr lang="en-US" altLang="zh-TW" b="0" i="0" dirty="0">
              <a:solidFill>
                <a:srgbClr val="22222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222222"/>
              </a:solidFill>
              <a:effectLst/>
              <a:latin typeface="-apple-system"/>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zh-TW" altLang="en-US" dirty="0"/>
              <a:t>第一種為用 </a:t>
            </a:r>
            <a:r>
              <a:rPr lang="en-US" altLang="zh-TW" dirty="0"/>
              <a:t>2</a:t>
            </a:r>
            <a:r>
              <a:rPr lang="en" altLang="zh-TW" dirty="0"/>
              <a:t>E-12 </a:t>
            </a:r>
            <a:r>
              <a:rPr lang="zh-TW" altLang="en-US" dirty="0"/>
              <a:t>刺激 </a:t>
            </a:r>
            <a:r>
              <a:rPr lang="en" altLang="zh-TW" dirty="0"/>
              <a:t>TRAIL-R1 </a:t>
            </a:r>
            <a:r>
              <a:rPr lang="zh-TW" altLang="en-US" dirty="0"/>
              <a:t>，只會輕微活化 </a:t>
            </a:r>
            <a:r>
              <a:rPr lang="en" altLang="zh-TW" dirty="0"/>
              <a:t>caspase-3 </a:t>
            </a:r>
            <a:r>
              <a:rPr lang="zh-TW" altLang="en-US" dirty="0"/>
              <a:t>並導致 </a:t>
            </a:r>
            <a:r>
              <a:rPr lang="en" altLang="zh-TW" dirty="0"/>
              <a:t>PARP </a:t>
            </a:r>
            <a:r>
              <a:rPr lang="zh-TW" altLang="en-US" dirty="0"/>
              <a:t>裂解，但在加了抑制劑後會明顯增強活化量。</a:t>
            </a:r>
            <a:endParaRPr lang="en" altLang="zh-TW" b="0" i="0" dirty="0">
              <a:solidFill>
                <a:srgbClr val="222222"/>
              </a:solidFill>
              <a:effectLst/>
              <a:latin typeface="-apple-system"/>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zh-TW" altLang="en-US" b="0" i="0" dirty="0">
                <a:solidFill>
                  <a:srgbClr val="222222"/>
                </a:solidFill>
                <a:effectLst/>
                <a:latin typeface="-apple-system"/>
              </a:rPr>
              <a:t>第二種為刺激 </a:t>
            </a:r>
            <a:r>
              <a:rPr lang="en-US" altLang="zh-TW" b="0" i="0" dirty="0">
                <a:solidFill>
                  <a:srgbClr val="222222"/>
                </a:solidFill>
                <a:effectLst/>
                <a:latin typeface="-apple-system"/>
              </a:rPr>
              <a:t>1321</a:t>
            </a:r>
            <a:r>
              <a:rPr lang="en" altLang="zh-TW" b="0" i="0" dirty="0">
                <a:solidFill>
                  <a:srgbClr val="222222"/>
                </a:solidFill>
                <a:effectLst/>
                <a:latin typeface="-apple-system"/>
              </a:rPr>
              <a:t>N1 </a:t>
            </a:r>
            <a:r>
              <a:rPr lang="zh-TW" altLang="en-US" b="0" i="0" dirty="0">
                <a:solidFill>
                  <a:srgbClr val="222222"/>
                </a:solidFill>
                <a:effectLst/>
                <a:latin typeface="-apple-system"/>
              </a:rPr>
              <a:t>細胞中的 </a:t>
            </a:r>
            <a:r>
              <a:rPr lang="en" altLang="zh-TW" b="0" i="0" dirty="0" err="1">
                <a:solidFill>
                  <a:srgbClr val="222222"/>
                </a:solidFill>
                <a:effectLst/>
                <a:latin typeface="-apple-system"/>
              </a:rPr>
              <a:t>Fas</a:t>
            </a:r>
            <a:r>
              <a:rPr lang="en" altLang="zh-TW" b="0" i="0" dirty="0">
                <a:solidFill>
                  <a:srgbClr val="222222"/>
                </a:solidFill>
                <a:effectLst/>
                <a:latin typeface="-apple-system"/>
              </a:rPr>
              <a:t> </a:t>
            </a:r>
            <a:r>
              <a:rPr lang="zh-TW" altLang="en-US" b="0" i="0" dirty="0">
                <a:solidFill>
                  <a:srgbClr val="222222"/>
                </a:solidFill>
                <a:effectLst/>
                <a:latin typeface="-apple-system"/>
              </a:rPr>
              <a:t>，添加抑制劑會增強 </a:t>
            </a:r>
            <a:r>
              <a:rPr lang="en" altLang="zh-TW" b="0" i="0" dirty="0">
                <a:solidFill>
                  <a:srgbClr val="222222"/>
                </a:solidFill>
                <a:effectLst/>
                <a:latin typeface="-apple-system"/>
              </a:rPr>
              <a:t>caspase-3 </a:t>
            </a:r>
            <a:r>
              <a:rPr lang="zh-TW" altLang="en-US" b="0" i="0" dirty="0">
                <a:solidFill>
                  <a:srgbClr val="222222"/>
                </a:solidFill>
                <a:effectLst/>
                <a:latin typeface="-apple-system"/>
              </a:rPr>
              <a:t>活化和 </a:t>
            </a:r>
            <a:r>
              <a:rPr lang="en" altLang="zh-TW" b="0" i="0" dirty="0">
                <a:solidFill>
                  <a:srgbClr val="222222"/>
                </a:solidFill>
                <a:effectLst/>
                <a:latin typeface="-apple-system"/>
              </a:rPr>
              <a:t>PARP </a:t>
            </a:r>
            <a:r>
              <a:rPr lang="zh-TW" altLang="en-US" b="0" i="0" dirty="0">
                <a:solidFill>
                  <a:srgbClr val="222222"/>
                </a:solidFill>
                <a:effectLst/>
                <a:latin typeface="-apple-system"/>
              </a:rPr>
              <a:t>裂解。</a:t>
            </a:r>
            <a:endParaRPr lang="en-US" altLang="zh-TW" b="0" i="0" dirty="0">
              <a:solidFill>
                <a:srgbClr val="222222"/>
              </a:solidFill>
              <a:effectLst/>
              <a:latin typeface="-apple-system"/>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zh-TW" altLang="en-US" b="0" i="0" dirty="0">
                <a:solidFill>
                  <a:srgbClr val="222222"/>
                </a:solidFill>
                <a:effectLst/>
                <a:latin typeface="-apple-system"/>
              </a:rPr>
              <a:t>第三種是以 </a:t>
            </a:r>
            <a:r>
              <a:rPr lang="en" altLang="zh-TW" b="0" i="0" dirty="0">
                <a:solidFill>
                  <a:srgbClr val="222222"/>
                </a:solidFill>
                <a:effectLst/>
                <a:latin typeface="-apple-system"/>
              </a:rPr>
              <a:t>TNF </a:t>
            </a:r>
            <a:r>
              <a:rPr lang="el-GR" altLang="zh-TW" b="0" i="1" dirty="0">
                <a:solidFill>
                  <a:srgbClr val="222222"/>
                </a:solidFill>
                <a:effectLst/>
                <a:latin typeface="-apple-system"/>
              </a:rPr>
              <a:t>α</a:t>
            </a:r>
            <a:r>
              <a:rPr lang="zh-TW" altLang="en-US" b="0" i="0" dirty="0">
                <a:solidFill>
                  <a:srgbClr val="222222"/>
                </a:solidFill>
                <a:effectLst/>
                <a:latin typeface="-apple-system"/>
              </a:rPr>
              <a:t>刺激 </a:t>
            </a:r>
            <a:r>
              <a:rPr lang="en" altLang="zh-TW" b="0" i="0" dirty="0">
                <a:solidFill>
                  <a:srgbClr val="222222"/>
                </a:solidFill>
                <a:effectLst/>
                <a:latin typeface="-apple-system"/>
              </a:rPr>
              <a:t>MDA-MB-231 </a:t>
            </a:r>
            <a:r>
              <a:rPr lang="zh-TW" altLang="en-US" b="0" i="0" dirty="0">
                <a:solidFill>
                  <a:srgbClr val="222222"/>
                </a:solidFill>
                <a:effectLst/>
                <a:latin typeface="-apple-system"/>
              </a:rPr>
              <a:t>細胞，會導致微弱地隨著作用時間增加使 </a:t>
            </a:r>
            <a:r>
              <a:rPr lang="en" altLang="zh-TW" b="0" i="0" dirty="0">
                <a:solidFill>
                  <a:srgbClr val="222222"/>
                </a:solidFill>
                <a:effectLst/>
                <a:latin typeface="-apple-system"/>
              </a:rPr>
              <a:t>caspase-3 </a:t>
            </a:r>
            <a:r>
              <a:rPr lang="zh-TW" altLang="en-US" b="0" i="0" dirty="0">
                <a:solidFill>
                  <a:srgbClr val="222222"/>
                </a:solidFill>
                <a:effectLst/>
                <a:latin typeface="-apple-system"/>
              </a:rPr>
              <a:t>活化和 </a:t>
            </a:r>
            <a:r>
              <a:rPr lang="en" altLang="zh-TW" b="0" i="0" dirty="0">
                <a:solidFill>
                  <a:srgbClr val="222222"/>
                </a:solidFill>
                <a:effectLst/>
                <a:latin typeface="-apple-system"/>
              </a:rPr>
              <a:t>PARP </a:t>
            </a:r>
            <a:r>
              <a:rPr lang="zh-TW" altLang="en-US" b="0" i="0" dirty="0">
                <a:solidFill>
                  <a:srgbClr val="222222"/>
                </a:solidFill>
                <a:effectLst/>
                <a:latin typeface="-apple-system"/>
              </a:rPr>
              <a:t>裂解，但這樣的結果在添加抑制劑後表現量大幅增強。</a:t>
            </a:r>
            <a:endParaRPr lang="en-US" altLang="zh-TW" b="0" i="0" dirty="0">
              <a:solidFill>
                <a:srgbClr val="222222"/>
              </a:solidFill>
              <a:effectLst/>
              <a:latin typeface="-apple-system"/>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lang="en-US" altLang="zh-TW" b="0" i="0" dirty="0">
              <a:solidFill>
                <a:srgbClr val="22222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b="0" i="0" dirty="0">
                <a:solidFill>
                  <a:srgbClr val="222222"/>
                </a:solidFill>
                <a:effectLst/>
                <a:latin typeface="-apple-system"/>
              </a:rPr>
              <a:t>E: </a:t>
            </a:r>
            <a:r>
              <a:rPr lang="zh-TW" altLang="en-US" b="0" i="0" dirty="0">
                <a:solidFill>
                  <a:srgbClr val="222222"/>
                </a:solidFill>
                <a:effectLst/>
                <a:latin typeface="-apple-system"/>
              </a:rPr>
              <a:t>用鋰抑制</a:t>
            </a:r>
            <a:r>
              <a:rPr lang="en" altLang="zh-TW" b="0" i="0" dirty="0">
                <a:solidFill>
                  <a:srgbClr val="222222"/>
                </a:solidFill>
                <a:effectLst/>
                <a:latin typeface="-apple-system"/>
              </a:rPr>
              <a:t>GSK3</a:t>
            </a:r>
            <a:r>
              <a:rPr lang="zh-TW" altLang="en-US" b="0" i="0" dirty="0">
                <a:solidFill>
                  <a:srgbClr val="222222"/>
                </a:solidFill>
                <a:effectLst/>
                <a:latin typeface="-apple-system"/>
              </a:rPr>
              <a:t>可增強</a:t>
            </a:r>
            <a:r>
              <a:rPr lang="en" altLang="zh-TW" b="0" i="0" dirty="0">
                <a:solidFill>
                  <a:srgbClr val="222222"/>
                </a:solidFill>
                <a:effectLst/>
                <a:latin typeface="-apple-system"/>
              </a:rPr>
              <a:t>TRAIL-R2</a:t>
            </a:r>
            <a:r>
              <a:rPr lang="zh-TW" altLang="en-US" b="0" i="0" dirty="0">
                <a:solidFill>
                  <a:srgbClr val="222222"/>
                </a:solidFill>
                <a:effectLst/>
                <a:latin typeface="-apple-system"/>
              </a:rPr>
              <a:t>和</a:t>
            </a:r>
            <a:r>
              <a:rPr lang="en" altLang="zh-TW" b="0" i="0" dirty="0">
                <a:solidFill>
                  <a:srgbClr val="222222"/>
                </a:solidFill>
                <a:effectLst/>
                <a:latin typeface="-apple-system"/>
              </a:rPr>
              <a:t>TRAIL-R1</a:t>
            </a:r>
            <a:r>
              <a:rPr lang="zh-TW" altLang="en-US" b="0" i="0" dirty="0">
                <a:solidFill>
                  <a:srgbClr val="222222"/>
                </a:solidFill>
                <a:effectLst/>
                <a:latin typeface="-apple-system"/>
              </a:rPr>
              <a:t>介導的凋亡訊號，可以看到在細胞死亡測量的圖中可以看到，抑制</a:t>
            </a:r>
            <a:r>
              <a:rPr lang="en-US" altLang="zh-TW" b="0" i="0" dirty="0">
                <a:solidFill>
                  <a:srgbClr val="222222"/>
                </a:solidFill>
                <a:effectLst/>
                <a:latin typeface="-apple-system"/>
              </a:rPr>
              <a:t>GSK3</a:t>
            </a:r>
            <a:r>
              <a:rPr lang="zh-TW" altLang="en-US" b="0" i="0" dirty="0">
                <a:solidFill>
                  <a:srgbClr val="222222"/>
                </a:solidFill>
                <a:effectLst/>
                <a:latin typeface="-apple-system"/>
              </a:rPr>
              <a:t>的細胞死亡數是對照組的好幾倍</a:t>
            </a:r>
            <a:endParaRPr lang="en-US" altLang="zh-TW" b="0" i="0" dirty="0">
              <a:solidFill>
                <a:srgbClr val="22222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b="0" i="0" dirty="0">
              <a:solidFill>
                <a:srgbClr val="22222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b="0" i="0" dirty="0">
                <a:solidFill>
                  <a:srgbClr val="222222"/>
                </a:solidFill>
                <a:effectLst/>
                <a:latin typeface="-apple-system"/>
              </a:rPr>
              <a:t>表明內源性</a:t>
            </a:r>
            <a:r>
              <a:rPr lang="en" altLang="zh-TW" b="0" i="0" dirty="0">
                <a:solidFill>
                  <a:srgbClr val="222222"/>
                </a:solidFill>
                <a:effectLst/>
                <a:latin typeface="-apple-system"/>
              </a:rPr>
              <a:t>GSK3</a:t>
            </a:r>
            <a:r>
              <a:rPr lang="zh-TW" altLang="en-US" b="0" i="0" dirty="0">
                <a:solidFill>
                  <a:srgbClr val="222222"/>
                </a:solidFill>
                <a:effectLst/>
                <a:latin typeface="-apple-system"/>
              </a:rPr>
              <a:t>可抑制由四種主要死亡受體（</a:t>
            </a:r>
            <a:r>
              <a:rPr lang="en" altLang="zh-TW" b="0" i="0" dirty="0">
                <a:solidFill>
                  <a:srgbClr val="222222"/>
                </a:solidFill>
                <a:effectLst/>
                <a:latin typeface="-apple-system"/>
              </a:rPr>
              <a:t>TRAIL-R2</a:t>
            </a:r>
            <a:r>
              <a:rPr lang="zh-TW" altLang="en" b="0" i="0" dirty="0">
                <a:solidFill>
                  <a:srgbClr val="222222"/>
                </a:solidFill>
                <a:effectLst/>
                <a:latin typeface="-apple-system"/>
              </a:rPr>
              <a:t>、</a:t>
            </a:r>
            <a:r>
              <a:rPr lang="en" altLang="zh-TW" dirty="0"/>
              <a:t>TRAIL-R1</a:t>
            </a:r>
            <a:r>
              <a:rPr lang="zh-TW" altLang="en" dirty="0"/>
              <a:t>、</a:t>
            </a:r>
            <a:r>
              <a:rPr lang="en" altLang="zh-TW" b="0" i="0" dirty="0" err="1">
                <a:solidFill>
                  <a:srgbClr val="222222"/>
                </a:solidFill>
                <a:effectLst/>
                <a:latin typeface="-apple-system"/>
              </a:rPr>
              <a:t>Fas</a:t>
            </a:r>
            <a:r>
              <a:rPr lang="zh-TW" altLang="en" b="0" i="0" dirty="0">
                <a:solidFill>
                  <a:srgbClr val="222222"/>
                </a:solidFill>
                <a:effectLst/>
                <a:latin typeface="-apple-system"/>
              </a:rPr>
              <a:t>、</a:t>
            </a:r>
            <a:r>
              <a:rPr lang="en" altLang="zh-TW" b="0" i="0" dirty="0">
                <a:solidFill>
                  <a:srgbClr val="222222"/>
                </a:solidFill>
                <a:effectLst/>
                <a:latin typeface="-apple-system"/>
              </a:rPr>
              <a:t>TNF </a:t>
            </a:r>
            <a:r>
              <a:rPr lang="el-GR" altLang="zh-TW" b="0" i="1" dirty="0">
                <a:solidFill>
                  <a:srgbClr val="222222"/>
                </a:solidFill>
                <a:effectLst/>
                <a:latin typeface="-apple-system"/>
              </a:rPr>
              <a:t>α</a:t>
            </a:r>
            <a:r>
              <a:rPr lang="zh-TW" altLang="en-US" b="0" i="0" dirty="0">
                <a:solidFill>
                  <a:srgbClr val="222222"/>
                </a:solidFill>
                <a:effectLst/>
                <a:latin typeface="-apple-system"/>
              </a:rPr>
              <a:t>）刺激引起的</a:t>
            </a:r>
            <a:r>
              <a:rPr lang="en" altLang="zh-TW" b="0" i="0" dirty="0">
                <a:solidFill>
                  <a:srgbClr val="222222"/>
                </a:solidFill>
                <a:effectLst/>
                <a:latin typeface="-apple-system"/>
              </a:rPr>
              <a:t>caspase-3</a:t>
            </a:r>
            <a:r>
              <a:rPr lang="zh-TW" altLang="en-US" b="0" i="0" dirty="0">
                <a:solidFill>
                  <a:srgbClr val="222222"/>
                </a:solidFill>
                <a:effectLst/>
                <a:latin typeface="-apple-system"/>
              </a:rPr>
              <a:t>活化。</a:t>
            </a:r>
            <a:endParaRPr lang="en" altLang="zh-TW" b="0" i="0" dirty="0">
              <a:solidFill>
                <a:srgbClr val="22222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TW" b="0" i="0" dirty="0">
              <a:solidFill>
                <a:srgbClr val="222222"/>
              </a:solidFill>
              <a:effectLst/>
              <a:latin typeface="-apple-system"/>
            </a:endParaRPr>
          </a:p>
          <a:p>
            <a:pPr marL="0" indent="0">
              <a:buNone/>
            </a:pPr>
            <a:endParaRPr lang="en-US" altLang="zh-TW" sz="1600" b="0" i="0" u="none" kern="1200" dirty="0">
              <a:solidFill>
                <a:srgbClr val="1F1F1F"/>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B64B49DB-1FAF-A689-57CF-13826CCF9855}"/>
              </a:ext>
            </a:extLst>
          </p:cNvPr>
          <p:cNvSpPr>
            <a:spLocks noGrp="1"/>
          </p:cNvSpPr>
          <p:nvPr>
            <p:ph type="sldNum" sz="quarter" idx="5"/>
          </p:nvPr>
        </p:nvSpPr>
        <p:spPr/>
        <p:txBody>
          <a:bodyPr/>
          <a:lstStyle/>
          <a:p>
            <a:fld id="{61CA63BF-C9DC-9844-BCA0-064E1D9BA987}" type="slidenum">
              <a:rPr kumimoji="1" lang="zh-TW" altLang="en-US" smtClean="0"/>
              <a:t>16</a:t>
            </a:fld>
            <a:endParaRPr kumimoji="1" lang="zh-TW" altLang="en-US"/>
          </a:p>
        </p:txBody>
      </p:sp>
    </p:spTree>
    <p:extLst>
      <p:ext uri="{BB962C8B-B14F-4D97-AF65-F5344CB8AC3E}">
        <p14:creationId xmlns:p14="http://schemas.microsoft.com/office/powerpoint/2010/main" val="14909795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3DDD-1DFB-19F9-1F9D-8097A823BC8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5D78A4C-74D7-5217-B579-479FC58453C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71DE1B1-E82C-7FBB-A75A-1279ECB3B6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b="0" i="0" dirty="0">
                <a:solidFill>
                  <a:srgbClr val="222222"/>
                </a:solidFill>
                <a:effectLst/>
                <a:latin typeface="-apple-system"/>
              </a:rPr>
              <a:t>內源性</a:t>
            </a:r>
            <a:r>
              <a:rPr lang="en" altLang="zh-TW" b="0" i="0" dirty="0">
                <a:solidFill>
                  <a:srgbClr val="222222"/>
                </a:solidFill>
                <a:effectLst/>
                <a:latin typeface="-apple-system"/>
              </a:rPr>
              <a:t>GSK3</a:t>
            </a:r>
            <a:r>
              <a:rPr lang="zh-TW" altLang="en-US" b="0" i="0" dirty="0">
                <a:solidFill>
                  <a:srgbClr val="222222"/>
                </a:solidFill>
                <a:effectLst/>
                <a:latin typeface="-apple-system"/>
              </a:rPr>
              <a:t>可抑制由四種主要死亡受體（</a:t>
            </a:r>
            <a:r>
              <a:rPr lang="en" altLang="zh-TW" b="0" i="0" dirty="0">
                <a:solidFill>
                  <a:srgbClr val="222222"/>
                </a:solidFill>
                <a:effectLst/>
                <a:latin typeface="-apple-system"/>
              </a:rPr>
              <a:t>TRAIL-R2</a:t>
            </a:r>
            <a:r>
              <a:rPr lang="zh-TW" altLang="en" b="0" i="0" dirty="0">
                <a:solidFill>
                  <a:srgbClr val="222222"/>
                </a:solidFill>
                <a:effectLst/>
                <a:latin typeface="-apple-system"/>
              </a:rPr>
              <a:t>、</a:t>
            </a:r>
            <a:r>
              <a:rPr lang="en" altLang="zh-TW" dirty="0"/>
              <a:t>TRAIL-R1</a:t>
            </a:r>
            <a:r>
              <a:rPr lang="zh-TW" altLang="en" dirty="0"/>
              <a:t>、</a:t>
            </a:r>
            <a:r>
              <a:rPr lang="en" altLang="zh-TW" b="0" i="0" dirty="0" err="1">
                <a:solidFill>
                  <a:srgbClr val="222222"/>
                </a:solidFill>
                <a:effectLst/>
                <a:latin typeface="-apple-system"/>
              </a:rPr>
              <a:t>Fas</a:t>
            </a:r>
            <a:r>
              <a:rPr lang="zh-TW" altLang="en" b="0" i="0" dirty="0">
                <a:solidFill>
                  <a:srgbClr val="222222"/>
                </a:solidFill>
                <a:effectLst/>
                <a:latin typeface="-apple-system"/>
              </a:rPr>
              <a:t>、</a:t>
            </a:r>
            <a:r>
              <a:rPr lang="en" altLang="zh-TW" b="0" i="0" dirty="0">
                <a:solidFill>
                  <a:srgbClr val="222222"/>
                </a:solidFill>
                <a:effectLst/>
                <a:latin typeface="-apple-system"/>
              </a:rPr>
              <a:t>TNF </a:t>
            </a:r>
            <a:r>
              <a:rPr lang="el-GR" altLang="zh-TW" b="0" i="1" dirty="0">
                <a:solidFill>
                  <a:srgbClr val="222222"/>
                </a:solidFill>
                <a:effectLst/>
                <a:latin typeface="-apple-system"/>
              </a:rPr>
              <a:t>α</a:t>
            </a:r>
            <a:r>
              <a:rPr lang="zh-TW" altLang="en-US" b="0" i="0" dirty="0">
                <a:solidFill>
                  <a:srgbClr val="222222"/>
                </a:solidFill>
                <a:effectLst/>
                <a:latin typeface="-apple-system"/>
              </a:rPr>
              <a:t>）刺激引起的</a:t>
            </a:r>
            <a:r>
              <a:rPr lang="en" altLang="zh-TW" b="0" i="0" dirty="0">
                <a:solidFill>
                  <a:srgbClr val="222222"/>
                </a:solidFill>
                <a:effectLst/>
                <a:latin typeface="-apple-system"/>
              </a:rPr>
              <a:t>caspase-3</a:t>
            </a:r>
            <a:r>
              <a:rPr lang="zh-TW" altLang="en-US" b="0" i="0" dirty="0">
                <a:solidFill>
                  <a:srgbClr val="222222"/>
                </a:solidFill>
                <a:effectLst/>
                <a:latin typeface="-apple-system"/>
              </a:rPr>
              <a:t>活化。</a:t>
            </a:r>
            <a:endParaRPr lang="en" altLang="zh-TW" b="0" i="0" dirty="0">
              <a:solidFill>
                <a:srgbClr val="222222"/>
              </a:solidFill>
              <a:effectLst/>
              <a:latin typeface="-apple-system"/>
            </a:endParaRPr>
          </a:p>
        </p:txBody>
      </p:sp>
      <p:sp>
        <p:nvSpPr>
          <p:cNvPr id="4" name="投影片編號版面配置區 3">
            <a:extLst>
              <a:ext uri="{FF2B5EF4-FFF2-40B4-BE49-F238E27FC236}">
                <a16:creationId xmlns:a16="http://schemas.microsoft.com/office/drawing/2014/main" id="{DD5D4396-F4AA-49CB-950C-6C6420FA343D}"/>
              </a:ext>
            </a:extLst>
          </p:cNvPr>
          <p:cNvSpPr>
            <a:spLocks noGrp="1"/>
          </p:cNvSpPr>
          <p:nvPr>
            <p:ph type="sldNum" sz="quarter" idx="5"/>
          </p:nvPr>
        </p:nvSpPr>
        <p:spPr/>
        <p:txBody>
          <a:bodyPr/>
          <a:lstStyle/>
          <a:p>
            <a:fld id="{61CA63BF-C9DC-9844-BCA0-064E1D9BA987}" type="slidenum">
              <a:rPr kumimoji="1" lang="zh-TW" altLang="en-US" smtClean="0"/>
              <a:t>17</a:t>
            </a:fld>
            <a:endParaRPr kumimoji="1" lang="zh-TW" altLang="en-US"/>
          </a:p>
        </p:txBody>
      </p:sp>
    </p:spTree>
    <p:extLst>
      <p:ext uri="{BB962C8B-B14F-4D97-AF65-F5344CB8AC3E}">
        <p14:creationId xmlns:p14="http://schemas.microsoft.com/office/powerpoint/2010/main" val="1771859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A9C02-148F-F7BC-8BE4-20840D07BA0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A23AC66-2149-5FAD-F4D6-C16F1B24B03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9C99DC-3BA1-35D4-A666-77D12ACBBA0A}"/>
              </a:ext>
            </a:extLst>
          </p:cNvPr>
          <p:cNvSpPr>
            <a:spLocks noGrp="1"/>
          </p:cNvSpPr>
          <p:nvPr>
            <p:ph type="body" idx="1"/>
          </p:nvPr>
        </p:nvSpPr>
        <p:spPr/>
        <p:txBody>
          <a:bodyPr/>
          <a:lstStyle/>
          <a:p>
            <a:pPr marL="0" indent="0">
              <a:buNone/>
            </a:pPr>
            <a:r>
              <a:rPr lang="zh-TW" altLang="en-US" b="0" i="0" dirty="0">
                <a:solidFill>
                  <a:srgbClr val="222222"/>
                </a:solidFill>
                <a:effectLst/>
                <a:latin typeface="-apple-system"/>
              </a:rPr>
              <a:t>接著他們想要確定抑制 </a:t>
            </a:r>
            <a:r>
              <a:rPr lang="en" altLang="zh-TW" b="0" i="0" dirty="0">
                <a:solidFill>
                  <a:srgbClr val="222222"/>
                </a:solidFill>
                <a:effectLst/>
                <a:latin typeface="-apple-system"/>
              </a:rPr>
              <a:t>GSK3 </a:t>
            </a:r>
            <a:r>
              <a:rPr lang="zh-TW" altLang="en-US" b="0" i="0" dirty="0">
                <a:solidFill>
                  <a:srgbClr val="222222"/>
                </a:solidFill>
                <a:effectLst/>
                <a:latin typeface="-apple-system"/>
              </a:rPr>
              <a:t>所促進的細胞凋亡級聯階段，因為</a:t>
            </a:r>
            <a:r>
              <a:rPr lang="en" altLang="zh-TW" b="0" i="0" dirty="0">
                <a:solidFill>
                  <a:srgbClr val="222222"/>
                </a:solidFill>
                <a:effectLst/>
                <a:latin typeface="-apple-system"/>
              </a:rPr>
              <a:t>caspase-8 </a:t>
            </a:r>
            <a:r>
              <a:rPr lang="zh-TW" altLang="en-US" b="0" i="0" dirty="0">
                <a:solidFill>
                  <a:srgbClr val="222222"/>
                </a:solidFill>
                <a:effectLst/>
                <a:latin typeface="-apple-system"/>
              </a:rPr>
              <a:t>是死亡受體刺激活化的初始 </a:t>
            </a:r>
            <a:r>
              <a:rPr lang="en" altLang="zh-TW" b="0" i="0" dirty="0">
                <a:solidFill>
                  <a:srgbClr val="222222"/>
                </a:solidFill>
                <a:effectLst/>
                <a:latin typeface="-apple-system"/>
              </a:rPr>
              <a:t>caspase</a:t>
            </a:r>
            <a:r>
              <a:rPr lang="zh-TW" altLang="en-US" b="0" i="0" dirty="0">
                <a:solidFill>
                  <a:srgbClr val="222222"/>
                </a:solidFill>
                <a:effectLst/>
                <a:latin typeface="-apple-system"/>
              </a:rPr>
              <a:t>，所以首先他們檢測了 </a:t>
            </a:r>
            <a:r>
              <a:rPr lang="en" altLang="zh-TW" b="0" i="0" dirty="0">
                <a:solidFill>
                  <a:srgbClr val="222222"/>
                </a:solidFill>
                <a:effectLst/>
                <a:latin typeface="-apple-system"/>
              </a:rPr>
              <a:t>caspase-8 </a:t>
            </a:r>
            <a:r>
              <a:rPr lang="zh-TW" altLang="en-US" b="0" i="0" dirty="0">
                <a:solidFill>
                  <a:srgbClr val="222222"/>
                </a:solidFill>
                <a:effectLst/>
                <a:latin typeface="-apple-system"/>
              </a:rPr>
              <a:t>的活化情況，</a:t>
            </a:r>
            <a:r>
              <a:rPr lang="zh-TW" altLang="en-US" sz="1600" b="0" i="0" u="none" kern="1200" dirty="0">
                <a:solidFill>
                  <a:srgbClr val="1F1F1F"/>
                </a:solidFill>
                <a:effectLst/>
                <a:latin typeface="+mn-lt"/>
                <a:ea typeface="+mn-ea"/>
                <a:cs typeface="+mn-cs"/>
              </a:rPr>
              <a:t>在抑制</a:t>
            </a:r>
            <a:r>
              <a:rPr lang="en-US" altLang="zh-TW" sz="1600" b="0" i="0" u="none" kern="1200" dirty="0">
                <a:solidFill>
                  <a:srgbClr val="1F1F1F"/>
                </a:solidFill>
                <a:effectLst/>
                <a:latin typeface="+mn-lt"/>
                <a:ea typeface="+mn-ea"/>
                <a:cs typeface="+mn-cs"/>
              </a:rPr>
              <a:t>GSK3</a:t>
            </a:r>
            <a:r>
              <a:rPr lang="zh-TW" altLang="en-US" sz="1600" b="0" i="0" u="none" kern="1200" dirty="0">
                <a:solidFill>
                  <a:srgbClr val="1F1F1F"/>
                </a:solidFill>
                <a:effectLst/>
                <a:latin typeface="+mn-lt"/>
                <a:ea typeface="+mn-ea"/>
                <a:cs typeface="+mn-cs"/>
              </a:rPr>
              <a:t>的情況下，</a:t>
            </a:r>
            <a:r>
              <a:rPr lang="en" altLang="zh-TW" sz="1600" b="0" i="0" u="none" kern="1200" dirty="0">
                <a:solidFill>
                  <a:srgbClr val="1F1F1F"/>
                </a:solidFill>
                <a:effectLst/>
                <a:latin typeface="+mn-lt"/>
                <a:ea typeface="+mn-ea"/>
                <a:cs typeface="+mn-cs"/>
              </a:rPr>
              <a:t>TRAIL-R2</a:t>
            </a:r>
            <a:r>
              <a:rPr lang="zh-TW" altLang="en" sz="1600" b="0" i="0" u="none" kern="1200" dirty="0">
                <a:solidFill>
                  <a:srgbClr val="1F1F1F"/>
                </a:solidFill>
                <a:effectLst/>
                <a:latin typeface="+mn-lt"/>
                <a:ea typeface="+mn-ea"/>
                <a:cs typeface="+mn-cs"/>
              </a:rPr>
              <a:t>（</a:t>
            </a:r>
            <a:r>
              <a:rPr lang="zh-TW" altLang="en-US" sz="1600" b="0" i="0" u="none" kern="1200" dirty="0">
                <a:solidFill>
                  <a:srgbClr val="1F1F1F"/>
                </a:solidFill>
                <a:effectLst/>
                <a:latin typeface="+mn-lt"/>
                <a:ea typeface="+mn-ea"/>
                <a:cs typeface="+mn-cs"/>
              </a:rPr>
              <a:t>圖 </a:t>
            </a:r>
            <a:r>
              <a:rPr lang="en-US" altLang="zh-TW" sz="1600" b="0" i="0" u="none" kern="1200" dirty="0">
                <a:solidFill>
                  <a:srgbClr val="1F1F1F"/>
                </a:solidFill>
                <a:effectLst/>
                <a:latin typeface="+mn-lt"/>
                <a:ea typeface="+mn-ea"/>
                <a:cs typeface="+mn-cs"/>
              </a:rPr>
              <a:t>2</a:t>
            </a:r>
            <a:r>
              <a:rPr lang="en" altLang="zh-TW" sz="1600" b="0" i="0" u="none" kern="1200" dirty="0">
                <a:solidFill>
                  <a:srgbClr val="1F1F1F"/>
                </a:solidFill>
                <a:effectLst/>
                <a:latin typeface="+mn-lt"/>
                <a:ea typeface="+mn-ea"/>
                <a:cs typeface="+mn-cs"/>
              </a:rPr>
              <a:t>a</a:t>
            </a:r>
            <a:r>
              <a:rPr lang="zh-TW" altLang="en" sz="1600" b="0" i="0" u="none" kern="1200" dirty="0">
                <a:solidFill>
                  <a:srgbClr val="1F1F1F"/>
                </a:solidFill>
                <a:effectLst/>
                <a:latin typeface="+mn-lt"/>
                <a:ea typeface="+mn-ea"/>
                <a:cs typeface="+mn-cs"/>
              </a:rPr>
              <a:t>）、</a:t>
            </a:r>
            <a:r>
              <a:rPr lang="en" altLang="zh-TW" sz="1600" b="0" i="0" u="none" kern="1200" dirty="0">
                <a:solidFill>
                  <a:srgbClr val="1F1F1F"/>
                </a:solidFill>
                <a:effectLst/>
                <a:latin typeface="+mn-lt"/>
                <a:ea typeface="+mn-ea"/>
                <a:cs typeface="+mn-cs"/>
              </a:rPr>
              <a:t>TRAIL-R1</a:t>
            </a:r>
            <a:r>
              <a:rPr lang="zh-TW" altLang="en" sz="1600" b="0" i="0" u="none" kern="1200" dirty="0">
                <a:solidFill>
                  <a:srgbClr val="1F1F1F"/>
                </a:solidFill>
                <a:effectLst/>
                <a:latin typeface="+mn-lt"/>
                <a:ea typeface="+mn-ea"/>
                <a:cs typeface="+mn-cs"/>
              </a:rPr>
              <a:t>（</a:t>
            </a:r>
            <a:r>
              <a:rPr lang="zh-TW" altLang="en-US" sz="1600" b="0" i="0" u="none" kern="1200" dirty="0">
                <a:solidFill>
                  <a:srgbClr val="1F1F1F"/>
                </a:solidFill>
                <a:effectLst/>
                <a:latin typeface="+mn-lt"/>
                <a:ea typeface="+mn-ea"/>
                <a:cs typeface="+mn-cs"/>
              </a:rPr>
              <a:t>圖 </a:t>
            </a:r>
            <a:r>
              <a:rPr lang="en-US" altLang="zh-TW" sz="1600" b="0" i="0" u="none" kern="1200" dirty="0">
                <a:solidFill>
                  <a:srgbClr val="1F1F1F"/>
                </a:solidFill>
                <a:effectLst/>
                <a:latin typeface="+mn-lt"/>
                <a:ea typeface="+mn-ea"/>
                <a:cs typeface="+mn-cs"/>
              </a:rPr>
              <a:t>2</a:t>
            </a:r>
            <a:r>
              <a:rPr lang="en" altLang="zh-TW" sz="1600" b="0" i="0" u="none" kern="1200" dirty="0">
                <a:solidFill>
                  <a:srgbClr val="1F1F1F"/>
                </a:solidFill>
                <a:effectLst/>
                <a:latin typeface="+mn-lt"/>
                <a:ea typeface="+mn-ea"/>
                <a:cs typeface="+mn-cs"/>
              </a:rPr>
              <a:t>b</a:t>
            </a:r>
            <a:r>
              <a:rPr lang="zh-TW" altLang="en" sz="1600" b="0" i="0" u="none" kern="1200" dirty="0">
                <a:solidFill>
                  <a:srgbClr val="1F1F1F"/>
                </a:solidFill>
                <a:effectLst/>
                <a:latin typeface="+mn-lt"/>
                <a:ea typeface="+mn-ea"/>
                <a:cs typeface="+mn-cs"/>
              </a:rPr>
              <a:t>）</a:t>
            </a:r>
            <a:r>
              <a:rPr lang="zh-TW" altLang="en-US" sz="1600" b="0" i="0" u="none" kern="1200" dirty="0">
                <a:solidFill>
                  <a:srgbClr val="1F1F1F"/>
                </a:solidFill>
                <a:effectLst/>
                <a:latin typeface="+mn-lt"/>
                <a:ea typeface="+mn-ea"/>
                <a:cs typeface="+mn-cs"/>
              </a:rPr>
              <a:t>和 </a:t>
            </a:r>
            <a:r>
              <a:rPr lang="en" altLang="zh-TW" sz="1600" b="0" i="0" u="none" kern="1200" dirty="0">
                <a:solidFill>
                  <a:srgbClr val="1F1F1F"/>
                </a:solidFill>
                <a:effectLst/>
                <a:latin typeface="+mn-lt"/>
                <a:ea typeface="+mn-ea"/>
                <a:cs typeface="+mn-cs"/>
              </a:rPr>
              <a:t>TNF-R1</a:t>
            </a:r>
            <a:r>
              <a:rPr lang="zh-TW" altLang="en" sz="1600" b="0" i="0" u="none" kern="1200" dirty="0">
                <a:solidFill>
                  <a:srgbClr val="1F1F1F"/>
                </a:solidFill>
                <a:effectLst/>
                <a:latin typeface="+mn-lt"/>
                <a:ea typeface="+mn-ea"/>
                <a:cs typeface="+mn-cs"/>
              </a:rPr>
              <a:t>（</a:t>
            </a:r>
            <a:r>
              <a:rPr lang="zh-TW" altLang="en-US" sz="1600" b="0" i="0" u="none" kern="1200" dirty="0">
                <a:solidFill>
                  <a:srgbClr val="1F1F1F"/>
                </a:solidFill>
                <a:effectLst/>
                <a:latin typeface="+mn-lt"/>
                <a:ea typeface="+mn-ea"/>
                <a:cs typeface="+mn-cs"/>
              </a:rPr>
              <a:t>圖 </a:t>
            </a:r>
            <a:r>
              <a:rPr lang="en-US" altLang="zh-TW" sz="1600" b="0" i="0" u="none" kern="1200" dirty="0">
                <a:solidFill>
                  <a:srgbClr val="1F1F1F"/>
                </a:solidFill>
                <a:effectLst/>
                <a:latin typeface="+mn-lt"/>
                <a:ea typeface="+mn-ea"/>
                <a:cs typeface="+mn-cs"/>
              </a:rPr>
              <a:t>2</a:t>
            </a:r>
            <a:r>
              <a:rPr lang="en" altLang="zh-TW" sz="1600" b="0" i="0" u="none" kern="1200" dirty="0">
                <a:solidFill>
                  <a:srgbClr val="1F1F1F"/>
                </a:solidFill>
                <a:effectLst/>
                <a:latin typeface="+mn-lt"/>
                <a:ea typeface="+mn-ea"/>
                <a:cs typeface="+mn-cs"/>
              </a:rPr>
              <a:t>c</a:t>
            </a:r>
            <a:r>
              <a:rPr lang="zh-TW" altLang="en" sz="1600" b="0" i="0" u="none" kern="1200" dirty="0">
                <a:solidFill>
                  <a:srgbClr val="1F1F1F"/>
                </a:solidFill>
                <a:effectLst/>
                <a:latin typeface="+mn-lt"/>
                <a:ea typeface="+mn-ea"/>
                <a:cs typeface="+mn-cs"/>
              </a:rPr>
              <a:t>）</a:t>
            </a:r>
            <a:r>
              <a:rPr lang="zh-TW" altLang="en-US" sz="1600" b="0" i="0" u="none" kern="1200" dirty="0">
                <a:solidFill>
                  <a:srgbClr val="1F1F1F"/>
                </a:solidFill>
                <a:effectLst/>
                <a:latin typeface="+mn-lt"/>
                <a:ea typeface="+mn-ea"/>
                <a:cs typeface="+mn-cs"/>
              </a:rPr>
              <a:t>三種死亡受體刺激後對 </a:t>
            </a:r>
            <a:r>
              <a:rPr lang="en" altLang="zh-TW" sz="1600" b="0" i="0" u="none" kern="1200" dirty="0">
                <a:solidFill>
                  <a:srgbClr val="1F1F1F"/>
                </a:solidFill>
                <a:effectLst/>
                <a:latin typeface="+mn-lt"/>
                <a:ea typeface="+mn-ea"/>
                <a:cs typeface="+mn-cs"/>
              </a:rPr>
              <a:t>caspase-8 </a:t>
            </a:r>
            <a:r>
              <a:rPr lang="zh-TW" altLang="en-US" sz="1600" b="0" i="0" u="none" kern="1200" dirty="0">
                <a:solidFill>
                  <a:srgbClr val="1F1F1F"/>
                </a:solidFill>
                <a:effectLst/>
                <a:latin typeface="+mn-lt"/>
                <a:ea typeface="+mn-ea"/>
                <a:cs typeface="+mn-cs"/>
              </a:rPr>
              <a:t>活性比沒有抑制</a:t>
            </a:r>
            <a:r>
              <a:rPr lang="en-US" altLang="zh-TW" sz="1600" b="0" i="0" u="none" kern="1200" dirty="0">
                <a:solidFill>
                  <a:srgbClr val="1F1F1F"/>
                </a:solidFill>
                <a:effectLst/>
                <a:latin typeface="+mn-lt"/>
                <a:ea typeface="+mn-ea"/>
                <a:cs typeface="+mn-cs"/>
              </a:rPr>
              <a:t>GSK3</a:t>
            </a:r>
            <a:r>
              <a:rPr lang="zh-TW" altLang="en-US" sz="1600" b="0" i="0" u="none" kern="1200" dirty="0">
                <a:solidFill>
                  <a:srgbClr val="1F1F1F"/>
                </a:solidFill>
                <a:effectLst/>
                <a:latin typeface="+mn-lt"/>
                <a:ea typeface="+mn-ea"/>
                <a:cs typeface="+mn-cs"/>
              </a:rPr>
              <a:t>的組別多了好幾倍，</a:t>
            </a:r>
            <a:r>
              <a:rPr lang="zh-TW" altLang="en-US" b="0" i="0" dirty="0">
                <a:solidFill>
                  <a:srgbClr val="222222"/>
                </a:solidFill>
                <a:effectLst/>
                <a:latin typeface="-apple-system"/>
              </a:rPr>
              <a:t>得到</a:t>
            </a:r>
            <a:r>
              <a:rPr lang="zh-TW" altLang="en-US" sz="1600" b="0" i="0" u="none" kern="1200" dirty="0">
                <a:solidFill>
                  <a:srgbClr val="1F1F1F"/>
                </a:solidFill>
                <a:effectLst/>
                <a:latin typeface="+mn-lt"/>
                <a:ea typeface="+mn-ea"/>
                <a:cs typeface="+mn-cs"/>
              </a:rPr>
              <a:t>抑制 </a:t>
            </a:r>
            <a:r>
              <a:rPr lang="en" altLang="zh-TW" sz="1600" b="0" i="0" u="none" kern="1200" dirty="0">
                <a:solidFill>
                  <a:srgbClr val="1F1F1F"/>
                </a:solidFill>
                <a:effectLst/>
                <a:latin typeface="+mn-lt"/>
                <a:ea typeface="+mn-ea"/>
                <a:cs typeface="+mn-cs"/>
              </a:rPr>
              <a:t>GSK3 </a:t>
            </a:r>
            <a:r>
              <a:rPr lang="zh-TW" altLang="en-US" sz="1600" b="0" i="0" u="none" kern="1200" dirty="0">
                <a:solidFill>
                  <a:srgbClr val="1F1F1F"/>
                </a:solidFill>
                <a:effectLst/>
                <a:latin typeface="+mn-lt"/>
                <a:ea typeface="+mn-ea"/>
                <a:cs typeface="+mn-cs"/>
              </a:rPr>
              <a:t>可促進 </a:t>
            </a:r>
            <a:r>
              <a:rPr lang="en" altLang="zh-TW" sz="1600" b="0" i="0" u="none" kern="1200" dirty="0">
                <a:solidFill>
                  <a:srgbClr val="1F1F1F"/>
                </a:solidFill>
                <a:effectLst/>
                <a:latin typeface="+mn-lt"/>
                <a:ea typeface="+mn-ea"/>
                <a:cs typeface="+mn-cs"/>
              </a:rPr>
              <a:t>caspase-8 </a:t>
            </a:r>
            <a:r>
              <a:rPr lang="zh-TW" altLang="en-US" sz="1600" b="0" i="0" u="none" kern="1200" dirty="0">
                <a:solidFill>
                  <a:srgbClr val="1F1F1F"/>
                </a:solidFill>
                <a:effectLst/>
                <a:latin typeface="+mn-lt"/>
                <a:ea typeface="+mn-ea"/>
                <a:cs typeface="+mn-cs"/>
              </a:rPr>
              <a:t>的活化的結論。</a:t>
            </a:r>
            <a:endParaRPr lang="en-US" altLang="zh-TW" sz="1600" b="0" i="0" u="none" kern="1200" dirty="0">
              <a:solidFill>
                <a:srgbClr val="1F1F1F"/>
              </a:solidFill>
              <a:effectLst/>
              <a:latin typeface="+mn-lt"/>
              <a:ea typeface="+mn-ea"/>
              <a:cs typeface="+mn-cs"/>
            </a:endParaRPr>
          </a:p>
          <a:p>
            <a:pPr marL="0" indent="0">
              <a:buNone/>
            </a:pPr>
            <a:endParaRPr lang="en-US" altLang="zh-TW" sz="1600" b="0" i="0" u="none" kern="1200" dirty="0">
              <a:solidFill>
                <a:srgbClr val="1F1F1F"/>
              </a:solidFill>
              <a:effectLst/>
              <a:latin typeface="+mn-lt"/>
              <a:ea typeface="+mn-ea"/>
              <a:cs typeface="+mn-cs"/>
            </a:endParaRPr>
          </a:p>
          <a:p>
            <a:pPr marL="0" indent="0">
              <a:buNone/>
            </a:pPr>
            <a:r>
              <a:rPr lang="en" altLang="zh-TW" sz="1600" b="0" i="0" u="none" kern="1200" dirty="0">
                <a:solidFill>
                  <a:srgbClr val="1F1F1F"/>
                </a:solidFill>
                <a:effectLst/>
                <a:latin typeface="+mn-lt"/>
                <a:ea typeface="+mn-ea"/>
                <a:cs typeface="+mn-cs"/>
              </a:rPr>
              <a:t>GSK3 </a:t>
            </a:r>
            <a:r>
              <a:rPr lang="zh-TW" altLang="en-US" sz="1600" b="0" i="0" u="none" kern="1200" dirty="0">
                <a:solidFill>
                  <a:srgbClr val="1F1F1F"/>
                </a:solidFill>
                <a:effectLst/>
                <a:latin typeface="+mn-lt"/>
                <a:ea typeface="+mn-ea"/>
                <a:cs typeface="+mn-cs"/>
              </a:rPr>
              <a:t>對 </a:t>
            </a:r>
            <a:r>
              <a:rPr lang="en" altLang="zh-TW" sz="1600" b="0" i="0" u="none" kern="1200" dirty="0">
                <a:solidFill>
                  <a:srgbClr val="1F1F1F"/>
                </a:solidFill>
                <a:effectLst/>
                <a:latin typeface="+mn-lt"/>
                <a:ea typeface="+mn-ea"/>
                <a:cs typeface="+mn-cs"/>
              </a:rPr>
              <a:t>caspase-8 </a:t>
            </a:r>
            <a:r>
              <a:rPr lang="zh-TW" altLang="en-US" sz="1600" b="0" i="0" u="none" kern="1200" dirty="0">
                <a:solidFill>
                  <a:srgbClr val="1F1F1F"/>
                </a:solidFill>
                <a:effectLst/>
                <a:latin typeface="+mn-lt"/>
                <a:ea typeface="+mn-ea"/>
                <a:cs typeface="+mn-cs"/>
              </a:rPr>
              <a:t>活化的抑制表明它可能阻礙 </a:t>
            </a:r>
            <a:r>
              <a:rPr lang="en" altLang="zh-TW" sz="1600" b="0" i="0" u="none" kern="1200" dirty="0">
                <a:solidFill>
                  <a:srgbClr val="1F1F1F"/>
                </a:solidFill>
                <a:effectLst/>
                <a:latin typeface="+mn-lt"/>
                <a:ea typeface="+mn-ea"/>
                <a:cs typeface="+mn-cs"/>
              </a:rPr>
              <a:t>DISC </a:t>
            </a:r>
            <a:r>
              <a:rPr lang="zh-TW" altLang="en-US" sz="1600" b="0" i="0" u="none" kern="1200" dirty="0">
                <a:solidFill>
                  <a:srgbClr val="1F1F1F"/>
                </a:solidFill>
                <a:effectLst/>
                <a:latin typeface="+mn-lt"/>
                <a:ea typeface="+mn-ea"/>
                <a:cs typeface="+mn-cs"/>
              </a:rPr>
              <a:t>的形成。因此從圖</a:t>
            </a:r>
            <a:r>
              <a:rPr lang="en-US" altLang="zh-TW" sz="1600" b="0" i="0" u="none" kern="1200" dirty="0">
                <a:solidFill>
                  <a:srgbClr val="1F1F1F"/>
                </a:solidFill>
                <a:effectLst/>
                <a:latin typeface="+mn-lt"/>
                <a:ea typeface="+mn-ea"/>
                <a:cs typeface="+mn-cs"/>
              </a:rPr>
              <a:t>e</a:t>
            </a:r>
            <a:r>
              <a:rPr lang="zh-TW" altLang="en-US" sz="1600" b="0" i="0" u="none" kern="1200" dirty="0">
                <a:solidFill>
                  <a:srgbClr val="1F1F1F"/>
                </a:solidFill>
                <a:effectLst/>
                <a:latin typeface="+mn-lt"/>
                <a:ea typeface="+mn-ea"/>
                <a:cs typeface="+mn-cs"/>
              </a:rPr>
              <a:t>中可以看見，在抑制</a:t>
            </a:r>
            <a:r>
              <a:rPr lang="en-US" altLang="zh-TW" sz="1600" b="0" i="0" u="none" kern="1200" dirty="0">
                <a:solidFill>
                  <a:srgbClr val="1F1F1F"/>
                </a:solidFill>
                <a:effectLst/>
                <a:latin typeface="+mn-lt"/>
                <a:ea typeface="+mn-ea"/>
                <a:cs typeface="+mn-cs"/>
              </a:rPr>
              <a:t>GSK3</a:t>
            </a:r>
            <a:r>
              <a:rPr lang="zh-TW" altLang="en-US" sz="1600" b="0" i="0" u="none" kern="1200" dirty="0">
                <a:solidFill>
                  <a:srgbClr val="1F1F1F"/>
                </a:solidFill>
                <a:effectLst/>
                <a:latin typeface="+mn-lt"/>
                <a:ea typeface="+mn-ea"/>
                <a:cs typeface="+mn-cs"/>
              </a:rPr>
              <a:t>的組別中，用 </a:t>
            </a:r>
            <a:r>
              <a:rPr lang="en" altLang="zh-TW" sz="1600" b="0" i="0" u="none" kern="1200" dirty="0">
                <a:solidFill>
                  <a:srgbClr val="1F1F1F"/>
                </a:solidFill>
                <a:effectLst/>
                <a:latin typeface="+mn-lt"/>
                <a:ea typeface="+mn-ea"/>
                <a:cs typeface="+mn-cs"/>
              </a:rPr>
              <a:t>TRA-8 </a:t>
            </a:r>
            <a:r>
              <a:rPr lang="zh-TW" altLang="en-US" sz="1600" b="0" i="0" u="none" kern="1200" dirty="0">
                <a:solidFill>
                  <a:srgbClr val="1F1F1F"/>
                </a:solidFill>
                <a:effectLst/>
                <a:latin typeface="+mn-lt"/>
                <a:ea typeface="+mn-ea"/>
                <a:cs typeface="+mn-cs"/>
              </a:rPr>
              <a:t>刺激以活化 </a:t>
            </a:r>
            <a:r>
              <a:rPr lang="en" altLang="zh-TW" sz="1600" b="0" i="0" u="none" kern="1200" dirty="0">
                <a:solidFill>
                  <a:srgbClr val="1F1F1F"/>
                </a:solidFill>
                <a:effectLst/>
                <a:latin typeface="+mn-lt"/>
                <a:ea typeface="+mn-ea"/>
                <a:cs typeface="+mn-cs"/>
              </a:rPr>
              <a:t>TRAIL-R2 </a:t>
            </a:r>
            <a:r>
              <a:rPr lang="zh-TW" altLang="en-US" sz="1600" b="0" i="0" u="none" kern="1200" dirty="0">
                <a:solidFill>
                  <a:srgbClr val="1F1F1F"/>
                </a:solidFill>
                <a:effectLst/>
                <a:latin typeface="+mn-lt"/>
                <a:ea typeface="+mn-ea"/>
                <a:cs typeface="+mn-cs"/>
              </a:rPr>
              <a:t>的 </a:t>
            </a:r>
            <a:r>
              <a:rPr lang="en" altLang="zh-TW" sz="1600" b="0" i="0" u="none" kern="1200" dirty="0">
                <a:solidFill>
                  <a:srgbClr val="1F1F1F"/>
                </a:solidFill>
                <a:effectLst/>
                <a:latin typeface="+mn-lt"/>
                <a:ea typeface="+mn-ea"/>
                <a:cs typeface="+mn-cs"/>
              </a:rPr>
              <a:t>MDA-MB-231 </a:t>
            </a:r>
            <a:r>
              <a:rPr lang="zh-TW" altLang="en-US" sz="1600" b="0" i="0" u="none" kern="1200" dirty="0">
                <a:solidFill>
                  <a:srgbClr val="1F1F1F"/>
                </a:solidFill>
                <a:effectLst/>
                <a:latin typeface="+mn-lt"/>
                <a:ea typeface="+mn-ea"/>
                <a:cs typeface="+mn-cs"/>
              </a:rPr>
              <a:t>細胞，可以看到 </a:t>
            </a:r>
            <a:r>
              <a:rPr lang="en" altLang="zh-TW" sz="1600" b="0" i="0" u="none" kern="1200" dirty="0">
                <a:solidFill>
                  <a:srgbClr val="1F1F1F"/>
                </a:solidFill>
                <a:effectLst/>
                <a:latin typeface="+mn-lt"/>
                <a:ea typeface="+mn-ea"/>
                <a:cs typeface="+mn-cs"/>
              </a:rPr>
              <a:t>FADD </a:t>
            </a:r>
            <a:r>
              <a:rPr lang="zh-TW" altLang="en-US" sz="1600" b="0" i="0" u="none" kern="1200" dirty="0">
                <a:solidFill>
                  <a:srgbClr val="1F1F1F"/>
                </a:solidFill>
                <a:effectLst/>
                <a:latin typeface="+mn-lt"/>
                <a:ea typeface="+mn-ea"/>
                <a:cs typeface="+mn-cs"/>
              </a:rPr>
              <a:t>和 </a:t>
            </a:r>
            <a:r>
              <a:rPr lang="en" altLang="zh-TW" sz="1600" b="0" i="0" u="none" kern="1200" dirty="0">
                <a:solidFill>
                  <a:srgbClr val="1F1F1F"/>
                </a:solidFill>
                <a:effectLst/>
                <a:latin typeface="+mn-lt"/>
                <a:ea typeface="+mn-ea"/>
                <a:cs typeface="+mn-cs"/>
              </a:rPr>
              <a:t>caspase-8 </a:t>
            </a:r>
            <a:r>
              <a:rPr lang="zh-TW" altLang="en-US" sz="1600" b="0" i="0" u="none" kern="1200" dirty="0">
                <a:solidFill>
                  <a:srgbClr val="1F1F1F"/>
                </a:solidFill>
                <a:effectLst/>
                <a:latin typeface="+mn-lt"/>
                <a:ea typeface="+mn-ea"/>
                <a:cs typeface="+mn-cs"/>
              </a:rPr>
              <a:t>與 </a:t>
            </a:r>
            <a:r>
              <a:rPr lang="en" altLang="zh-TW" sz="1600" b="0" i="0" u="none" kern="1200" dirty="0">
                <a:solidFill>
                  <a:srgbClr val="1F1F1F"/>
                </a:solidFill>
                <a:effectLst/>
                <a:latin typeface="+mn-lt"/>
                <a:ea typeface="+mn-ea"/>
                <a:cs typeface="+mn-cs"/>
              </a:rPr>
              <a:t>TRAIL-R2 </a:t>
            </a:r>
            <a:r>
              <a:rPr lang="zh-TW" altLang="en-US" sz="1600" b="0" i="0" u="none" kern="1200" dirty="0">
                <a:solidFill>
                  <a:srgbClr val="1F1F1F"/>
                </a:solidFill>
                <a:effectLst/>
                <a:latin typeface="+mn-lt"/>
                <a:ea typeface="+mn-ea"/>
                <a:cs typeface="+mn-cs"/>
              </a:rPr>
              <a:t>的共免疫沉澱增加，因此可得到抑制</a:t>
            </a:r>
            <a:r>
              <a:rPr lang="en" altLang="zh-TW" sz="1600" b="0" i="0" u="none" kern="1200" dirty="0">
                <a:solidFill>
                  <a:srgbClr val="1F1F1F"/>
                </a:solidFill>
                <a:effectLst/>
                <a:latin typeface="+mn-lt"/>
                <a:ea typeface="+mn-ea"/>
                <a:cs typeface="+mn-cs"/>
              </a:rPr>
              <a:t>GSK3 </a:t>
            </a:r>
            <a:r>
              <a:rPr lang="zh-TW" altLang="en-US" sz="1600" b="0" i="0" u="none" kern="1200" dirty="0">
                <a:solidFill>
                  <a:srgbClr val="1F1F1F"/>
                </a:solidFill>
                <a:effectLst/>
                <a:latin typeface="+mn-lt"/>
                <a:ea typeface="+mn-ea"/>
                <a:cs typeface="+mn-cs"/>
              </a:rPr>
              <a:t>會促進了 </a:t>
            </a:r>
            <a:r>
              <a:rPr lang="en" altLang="zh-TW" sz="1600" b="0" i="0" u="none" kern="1200" dirty="0">
                <a:solidFill>
                  <a:srgbClr val="1F1F1F"/>
                </a:solidFill>
                <a:effectLst/>
                <a:latin typeface="+mn-lt"/>
                <a:ea typeface="+mn-ea"/>
                <a:cs typeface="+mn-cs"/>
              </a:rPr>
              <a:t>DISC </a:t>
            </a:r>
            <a:r>
              <a:rPr lang="zh-TW" altLang="en-US" sz="1600" b="0" i="0" u="none" kern="1200" dirty="0">
                <a:solidFill>
                  <a:srgbClr val="1F1F1F"/>
                </a:solidFill>
                <a:effectLst/>
                <a:latin typeface="+mn-lt"/>
                <a:ea typeface="+mn-ea"/>
                <a:cs typeface="+mn-cs"/>
              </a:rPr>
              <a:t>的形成的結論（</a:t>
            </a:r>
            <a:r>
              <a:rPr lang="en" altLang="zh-TW" dirty="0"/>
              <a:t>TRA-8 </a:t>
            </a:r>
            <a:r>
              <a:rPr lang="zh-TW" altLang="en-US" dirty="0"/>
              <a:t>活化 </a:t>
            </a:r>
            <a:r>
              <a:rPr lang="en" altLang="zh-TW" dirty="0"/>
              <a:t>TRAIL-R2</a:t>
            </a:r>
            <a:r>
              <a:rPr lang="zh-TW" altLang="en" dirty="0"/>
              <a:t>，</a:t>
            </a:r>
            <a:r>
              <a:rPr lang="zh-TW" altLang="en-US" dirty="0"/>
              <a:t>促使其與 </a:t>
            </a:r>
            <a:r>
              <a:rPr lang="en" altLang="zh-TW" dirty="0"/>
              <a:t>FADD </a:t>
            </a:r>
            <a:r>
              <a:rPr lang="zh-TW" altLang="en-US" dirty="0"/>
              <a:t>和 </a:t>
            </a:r>
            <a:r>
              <a:rPr lang="en" altLang="zh-TW" dirty="0"/>
              <a:t>Caspase-8 </a:t>
            </a:r>
            <a:r>
              <a:rPr lang="zh-TW" altLang="en-US" dirty="0"/>
              <a:t>形成 </a:t>
            </a:r>
            <a:r>
              <a:rPr lang="en" altLang="zh-TW" dirty="0"/>
              <a:t>DISC </a:t>
            </a:r>
            <a:r>
              <a:rPr lang="zh-TW" altLang="en-US" dirty="0"/>
              <a:t>複合體）</a:t>
            </a:r>
            <a:r>
              <a:rPr lang="zh-TW" altLang="en-US" sz="1600" b="0" i="0" u="none" kern="1200" dirty="0">
                <a:solidFill>
                  <a:srgbClr val="1F1F1F"/>
                </a:solidFill>
                <a:effectLst/>
                <a:latin typeface="+mn-lt"/>
                <a:ea typeface="+mn-ea"/>
                <a:cs typeface="+mn-cs"/>
              </a:rPr>
              <a:t>在圖</a:t>
            </a:r>
            <a:r>
              <a:rPr lang="en-US" altLang="zh-TW" sz="1600" b="0" i="0" u="none" kern="1200" dirty="0">
                <a:solidFill>
                  <a:srgbClr val="1F1F1F"/>
                </a:solidFill>
                <a:effectLst/>
                <a:latin typeface="+mn-lt"/>
                <a:ea typeface="+mn-ea"/>
                <a:cs typeface="+mn-cs"/>
              </a:rPr>
              <a:t>f</a:t>
            </a:r>
            <a:r>
              <a:rPr lang="zh-TW" altLang="en-US" sz="1600" b="0" i="0" u="none" kern="1200" dirty="0">
                <a:solidFill>
                  <a:srgbClr val="1F1F1F"/>
                </a:solidFill>
                <a:effectLst/>
                <a:latin typeface="+mn-lt"/>
                <a:ea typeface="+mn-ea"/>
                <a:cs typeface="+mn-cs"/>
              </a:rPr>
              <a:t>中， </a:t>
            </a:r>
            <a:r>
              <a:rPr lang="en" altLang="zh-TW" sz="1600" b="0" i="0" u="none" kern="1200" dirty="0" err="1">
                <a:solidFill>
                  <a:srgbClr val="1F1F1F"/>
                </a:solidFill>
                <a:effectLst/>
                <a:latin typeface="+mn-lt"/>
                <a:ea typeface="+mn-ea"/>
                <a:cs typeface="+mn-cs"/>
              </a:rPr>
              <a:t>Jurkat</a:t>
            </a:r>
            <a:r>
              <a:rPr lang="en" altLang="zh-TW" sz="1600" b="0" i="0" u="none" kern="1200" dirty="0">
                <a:solidFill>
                  <a:srgbClr val="1F1F1F"/>
                </a:solidFill>
                <a:effectLst/>
                <a:latin typeface="+mn-lt"/>
                <a:ea typeface="+mn-ea"/>
                <a:cs typeface="+mn-cs"/>
              </a:rPr>
              <a:t> </a:t>
            </a:r>
            <a:r>
              <a:rPr lang="zh-TW" altLang="en-US" sz="1600" b="0" i="0" u="none" kern="1200" dirty="0">
                <a:solidFill>
                  <a:srgbClr val="1F1F1F"/>
                </a:solidFill>
                <a:effectLst/>
                <a:latin typeface="+mn-lt"/>
                <a:ea typeface="+mn-ea"/>
                <a:cs typeface="+mn-cs"/>
              </a:rPr>
              <a:t>細胞中，</a:t>
            </a:r>
            <a:r>
              <a:rPr lang="en" altLang="zh-TW" sz="1600" b="0" i="0" u="none" kern="1200" dirty="0" err="1">
                <a:solidFill>
                  <a:srgbClr val="1F1F1F"/>
                </a:solidFill>
                <a:effectLst/>
                <a:latin typeface="+mn-lt"/>
                <a:ea typeface="+mn-ea"/>
                <a:cs typeface="+mn-cs"/>
              </a:rPr>
              <a:t>Fas</a:t>
            </a:r>
            <a:r>
              <a:rPr lang="en" altLang="zh-TW" sz="1600" b="0" i="0" u="none" kern="1200" dirty="0">
                <a:solidFill>
                  <a:srgbClr val="1F1F1F"/>
                </a:solidFill>
                <a:effectLst/>
                <a:latin typeface="+mn-lt"/>
                <a:ea typeface="+mn-ea"/>
                <a:cs typeface="+mn-cs"/>
              </a:rPr>
              <a:t> </a:t>
            </a:r>
            <a:r>
              <a:rPr lang="zh-TW" altLang="en-US" sz="1600" b="0" i="0" u="none" kern="1200" dirty="0">
                <a:solidFill>
                  <a:srgbClr val="1F1F1F"/>
                </a:solidFill>
                <a:effectLst/>
                <a:latin typeface="+mn-lt"/>
                <a:ea typeface="+mn-ea"/>
                <a:cs typeface="+mn-cs"/>
              </a:rPr>
              <a:t>刺激後 </a:t>
            </a:r>
            <a:r>
              <a:rPr lang="en" altLang="zh-TW" sz="1600" b="0" i="0" u="none" kern="1200" dirty="0">
                <a:solidFill>
                  <a:srgbClr val="1F1F1F"/>
                </a:solidFill>
                <a:effectLst/>
                <a:latin typeface="+mn-lt"/>
                <a:ea typeface="+mn-ea"/>
                <a:cs typeface="+mn-cs"/>
              </a:rPr>
              <a:t>GSK3 </a:t>
            </a:r>
            <a:r>
              <a:rPr lang="zh-TW" altLang="en-US" sz="1600" b="0" i="0" u="none" kern="1200" dirty="0">
                <a:solidFill>
                  <a:srgbClr val="1F1F1F"/>
                </a:solidFill>
                <a:effectLst/>
                <a:latin typeface="+mn-lt"/>
                <a:ea typeface="+mn-ea"/>
                <a:cs typeface="+mn-cs"/>
              </a:rPr>
              <a:t>的抑制也增強了 </a:t>
            </a:r>
            <a:r>
              <a:rPr lang="en" altLang="zh-TW" sz="1600" b="0" i="0" u="none" kern="1200" dirty="0">
                <a:solidFill>
                  <a:srgbClr val="1F1F1F"/>
                </a:solidFill>
                <a:effectLst/>
                <a:latin typeface="+mn-lt"/>
                <a:ea typeface="+mn-ea"/>
                <a:cs typeface="+mn-cs"/>
              </a:rPr>
              <a:t>DISC </a:t>
            </a:r>
            <a:r>
              <a:rPr lang="zh-TW" altLang="en-US" sz="1600" b="0" i="0" u="none" kern="1200" dirty="0">
                <a:solidFill>
                  <a:srgbClr val="1F1F1F"/>
                </a:solidFill>
                <a:effectLst/>
                <a:latin typeface="+mn-lt"/>
                <a:ea typeface="+mn-ea"/>
                <a:cs typeface="+mn-cs"/>
              </a:rPr>
              <a:t>的形成，可以看到 </a:t>
            </a:r>
            <a:r>
              <a:rPr lang="en" altLang="zh-TW" sz="1600" b="0" i="0" u="none" kern="1200" dirty="0">
                <a:solidFill>
                  <a:srgbClr val="1F1F1F"/>
                </a:solidFill>
                <a:effectLst/>
                <a:latin typeface="+mn-lt"/>
                <a:ea typeface="+mn-ea"/>
                <a:cs typeface="+mn-cs"/>
              </a:rPr>
              <a:t>FADD </a:t>
            </a:r>
            <a:r>
              <a:rPr lang="zh-TW" altLang="en-US" sz="1600" b="0" i="0" u="none" kern="1200" dirty="0">
                <a:solidFill>
                  <a:srgbClr val="1F1F1F"/>
                </a:solidFill>
                <a:effectLst/>
                <a:latin typeface="+mn-lt"/>
                <a:ea typeface="+mn-ea"/>
                <a:cs typeface="+mn-cs"/>
              </a:rPr>
              <a:t>和 </a:t>
            </a:r>
            <a:r>
              <a:rPr lang="en" altLang="zh-TW" sz="1600" b="0" i="0" u="none" kern="1200" dirty="0">
                <a:solidFill>
                  <a:srgbClr val="1F1F1F"/>
                </a:solidFill>
                <a:effectLst/>
                <a:latin typeface="+mn-lt"/>
                <a:ea typeface="+mn-ea"/>
                <a:cs typeface="+mn-cs"/>
              </a:rPr>
              <a:t>caspase-8 </a:t>
            </a:r>
            <a:r>
              <a:rPr lang="zh-TW" altLang="en-US" sz="1600" b="0" i="0" u="none" kern="1200" dirty="0">
                <a:solidFill>
                  <a:srgbClr val="1F1F1F"/>
                </a:solidFill>
                <a:effectLst/>
                <a:latin typeface="+mn-lt"/>
                <a:ea typeface="+mn-ea"/>
                <a:cs typeface="+mn-cs"/>
              </a:rPr>
              <a:t>與 </a:t>
            </a:r>
            <a:r>
              <a:rPr lang="en" altLang="zh-TW" sz="1600" b="0" i="0" u="none" kern="1200" dirty="0" err="1">
                <a:solidFill>
                  <a:srgbClr val="1F1F1F"/>
                </a:solidFill>
                <a:effectLst/>
                <a:latin typeface="+mn-lt"/>
                <a:ea typeface="+mn-ea"/>
                <a:cs typeface="+mn-cs"/>
              </a:rPr>
              <a:t>Fas</a:t>
            </a:r>
            <a:r>
              <a:rPr lang="en" altLang="zh-TW" sz="1600" b="0" i="0" u="none" kern="1200" dirty="0">
                <a:solidFill>
                  <a:srgbClr val="1F1F1F"/>
                </a:solidFill>
                <a:effectLst/>
                <a:latin typeface="+mn-lt"/>
                <a:ea typeface="+mn-ea"/>
                <a:cs typeface="+mn-cs"/>
              </a:rPr>
              <a:t> </a:t>
            </a:r>
            <a:r>
              <a:rPr lang="zh-TW" altLang="en-US" sz="1600" b="0" i="0" u="none" kern="1200" dirty="0">
                <a:solidFill>
                  <a:srgbClr val="1F1F1F"/>
                </a:solidFill>
                <a:effectLst/>
                <a:latin typeface="+mn-lt"/>
                <a:ea typeface="+mn-ea"/>
                <a:cs typeface="+mn-cs"/>
              </a:rPr>
              <a:t>的結合增加來顯示</a:t>
            </a:r>
            <a:endParaRPr lang="en-US" altLang="zh-TW" sz="1600" b="0" i="0" u="none" kern="1200" dirty="0">
              <a:solidFill>
                <a:srgbClr val="1F1F1F"/>
              </a:solidFill>
              <a:effectLst/>
              <a:latin typeface="+mn-lt"/>
              <a:ea typeface="+mn-ea"/>
              <a:cs typeface="+mn-cs"/>
            </a:endParaRPr>
          </a:p>
          <a:p>
            <a:pPr marL="0" indent="0">
              <a:buNone/>
            </a:pPr>
            <a:endParaRPr lang="en-US" altLang="zh-TW" sz="1600" b="0" i="0" u="none" kern="1200" dirty="0">
              <a:solidFill>
                <a:srgbClr val="1F1F1F"/>
              </a:solidFill>
              <a:effectLst/>
              <a:latin typeface="+mn-lt"/>
              <a:ea typeface="+mn-ea"/>
              <a:cs typeface="+mn-cs"/>
            </a:endParaRPr>
          </a:p>
          <a:p>
            <a:pPr marL="0" indent="0">
              <a:buNone/>
            </a:pPr>
            <a:r>
              <a:rPr lang="zh-TW" altLang="en-US" sz="1600" b="0" i="0" u="none" kern="1200" dirty="0">
                <a:solidFill>
                  <a:srgbClr val="1F1F1F"/>
                </a:solidFill>
                <a:effectLst/>
                <a:latin typeface="+mn-lt"/>
                <a:ea typeface="+mn-ea"/>
                <a:cs typeface="+mn-cs"/>
              </a:rPr>
              <a:t>因此可以得到，抑制 </a:t>
            </a:r>
            <a:r>
              <a:rPr lang="en" altLang="zh-TW" sz="1600" b="0" i="0" u="none" kern="1200" dirty="0">
                <a:solidFill>
                  <a:srgbClr val="1F1F1F"/>
                </a:solidFill>
                <a:effectLst/>
                <a:latin typeface="+mn-lt"/>
                <a:ea typeface="+mn-ea"/>
                <a:cs typeface="+mn-cs"/>
              </a:rPr>
              <a:t>GSK3 </a:t>
            </a:r>
            <a:r>
              <a:rPr lang="zh-TW" altLang="en-US" sz="1600" b="0" i="0" u="none" kern="1200" dirty="0">
                <a:solidFill>
                  <a:srgbClr val="1F1F1F"/>
                </a:solidFill>
                <a:effectLst/>
                <a:latin typeface="+mn-lt"/>
                <a:ea typeface="+mn-ea"/>
                <a:cs typeface="+mn-cs"/>
              </a:rPr>
              <a:t>可促進死亡受體誘導的 </a:t>
            </a:r>
            <a:r>
              <a:rPr lang="en" altLang="zh-TW" sz="1600" b="0" i="0" u="none" kern="1200" dirty="0">
                <a:solidFill>
                  <a:srgbClr val="1F1F1F"/>
                </a:solidFill>
                <a:effectLst/>
                <a:latin typeface="+mn-lt"/>
                <a:ea typeface="+mn-ea"/>
                <a:cs typeface="+mn-cs"/>
              </a:rPr>
              <a:t>DISC </a:t>
            </a:r>
            <a:r>
              <a:rPr lang="zh-TW" altLang="en-US" sz="1600" b="0" i="0" u="none" kern="1200" dirty="0">
                <a:solidFill>
                  <a:srgbClr val="1F1F1F"/>
                </a:solidFill>
                <a:effectLst/>
                <a:latin typeface="+mn-lt"/>
                <a:ea typeface="+mn-ea"/>
                <a:cs typeface="+mn-cs"/>
              </a:rPr>
              <a:t>形成。</a:t>
            </a:r>
            <a:endParaRPr lang="en-US" altLang="zh-TW" sz="1600" b="0" i="0" u="none" kern="1200" dirty="0">
              <a:solidFill>
                <a:srgbClr val="1F1F1F"/>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FC567EDE-B16E-A12D-60DD-F413CCDB9CA4}"/>
              </a:ext>
            </a:extLst>
          </p:cNvPr>
          <p:cNvSpPr>
            <a:spLocks noGrp="1"/>
          </p:cNvSpPr>
          <p:nvPr>
            <p:ph type="sldNum" sz="quarter" idx="5"/>
          </p:nvPr>
        </p:nvSpPr>
        <p:spPr/>
        <p:txBody>
          <a:bodyPr/>
          <a:lstStyle/>
          <a:p>
            <a:fld id="{61CA63BF-C9DC-9844-BCA0-064E1D9BA987}" type="slidenum">
              <a:rPr kumimoji="1" lang="zh-TW" altLang="en-US" smtClean="0"/>
              <a:t>18</a:t>
            </a:fld>
            <a:endParaRPr kumimoji="1" lang="zh-TW" altLang="en-US"/>
          </a:p>
        </p:txBody>
      </p:sp>
    </p:spTree>
    <p:extLst>
      <p:ext uri="{BB962C8B-B14F-4D97-AF65-F5344CB8AC3E}">
        <p14:creationId xmlns:p14="http://schemas.microsoft.com/office/powerpoint/2010/main" val="31760037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FA8BB-B732-807B-6264-E3EC439A562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F26E5C2-6ED9-46F0-9D90-8FFFC77C1F9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809D6AF-7319-1AC9-76C9-5899177EC974}"/>
              </a:ext>
            </a:extLst>
          </p:cNvPr>
          <p:cNvSpPr>
            <a:spLocks noGrp="1"/>
          </p:cNvSpPr>
          <p:nvPr>
            <p:ph type="body" idx="1"/>
          </p:nvPr>
        </p:nvSpPr>
        <p:spPr/>
        <p:txBody>
          <a:bodyPr/>
          <a:lstStyle/>
          <a:p>
            <a:r>
              <a:rPr lang="zh-TW" altLang="en-US" sz="1600" b="0" i="0" u="none" kern="1200" dirty="0">
                <a:solidFill>
                  <a:srgbClr val="1F1F1F"/>
                </a:solidFill>
                <a:effectLst/>
                <a:latin typeface="+mn-lt"/>
                <a:ea typeface="+mn-ea"/>
                <a:cs typeface="+mn-cs"/>
              </a:rPr>
              <a:t>抑制 </a:t>
            </a:r>
            <a:r>
              <a:rPr lang="en" altLang="zh-TW" sz="1600" b="0" i="0" u="none" kern="1200" dirty="0">
                <a:solidFill>
                  <a:srgbClr val="1F1F1F"/>
                </a:solidFill>
                <a:effectLst/>
                <a:latin typeface="+mn-lt"/>
                <a:ea typeface="+mn-ea"/>
                <a:cs typeface="+mn-cs"/>
              </a:rPr>
              <a:t>GSK3 </a:t>
            </a:r>
            <a:r>
              <a:rPr lang="zh-TW" altLang="en-US" sz="1600" b="0" i="0" u="none" kern="1200" dirty="0">
                <a:solidFill>
                  <a:srgbClr val="1F1F1F"/>
                </a:solidFill>
                <a:effectLst/>
                <a:latin typeface="+mn-lt"/>
                <a:ea typeface="+mn-ea"/>
                <a:cs typeface="+mn-cs"/>
              </a:rPr>
              <a:t>可促進死亡受體誘導的 </a:t>
            </a:r>
            <a:r>
              <a:rPr lang="en" altLang="zh-TW" sz="1600" b="0" i="0" u="none" kern="1200" dirty="0">
                <a:solidFill>
                  <a:srgbClr val="1F1F1F"/>
                </a:solidFill>
                <a:effectLst/>
                <a:latin typeface="+mn-lt"/>
                <a:ea typeface="+mn-ea"/>
                <a:cs typeface="+mn-cs"/>
              </a:rPr>
              <a:t>DISC </a:t>
            </a:r>
            <a:r>
              <a:rPr lang="zh-TW" altLang="en-US" sz="1600" b="0" i="0" u="none" kern="1200" dirty="0">
                <a:solidFill>
                  <a:srgbClr val="1F1F1F"/>
                </a:solidFill>
                <a:effectLst/>
                <a:latin typeface="+mn-lt"/>
                <a:ea typeface="+mn-ea"/>
                <a:cs typeface="+mn-cs"/>
              </a:rPr>
              <a:t>形成。</a:t>
            </a:r>
            <a:endParaRPr kumimoji="1" lang="zh-TW" altLang="en-US" dirty="0"/>
          </a:p>
        </p:txBody>
      </p:sp>
      <p:sp>
        <p:nvSpPr>
          <p:cNvPr id="4" name="投影片編號版面配置區 3">
            <a:extLst>
              <a:ext uri="{FF2B5EF4-FFF2-40B4-BE49-F238E27FC236}">
                <a16:creationId xmlns:a16="http://schemas.microsoft.com/office/drawing/2014/main" id="{BFD8FF4E-29CE-F602-DF7F-390A77014924}"/>
              </a:ext>
            </a:extLst>
          </p:cNvPr>
          <p:cNvSpPr>
            <a:spLocks noGrp="1"/>
          </p:cNvSpPr>
          <p:nvPr>
            <p:ph type="sldNum" sz="quarter" idx="5"/>
          </p:nvPr>
        </p:nvSpPr>
        <p:spPr/>
        <p:txBody>
          <a:bodyPr/>
          <a:lstStyle/>
          <a:p>
            <a:fld id="{61CA63BF-C9DC-9844-BCA0-064E1D9BA987}" type="slidenum">
              <a:rPr kumimoji="1" lang="zh-TW" altLang="en-US" smtClean="0"/>
              <a:t>19</a:t>
            </a:fld>
            <a:endParaRPr kumimoji="1" lang="zh-TW" altLang="en-US"/>
          </a:p>
        </p:txBody>
      </p:sp>
    </p:spTree>
    <p:extLst>
      <p:ext uri="{BB962C8B-B14F-4D97-AF65-F5344CB8AC3E}">
        <p14:creationId xmlns:p14="http://schemas.microsoft.com/office/powerpoint/2010/main" val="35037158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87315-604F-62A1-650D-FDB893C4F73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68A233E-2136-D29A-103A-26525D9668C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CDAAE92-A712-A14C-4AB9-8FCEACEFF8DB}"/>
              </a:ext>
            </a:extLst>
          </p:cNvPr>
          <p:cNvSpPr>
            <a:spLocks noGrp="1"/>
          </p:cNvSpPr>
          <p:nvPr>
            <p:ph type="body" idx="1"/>
          </p:nvPr>
        </p:nvSpPr>
        <p:spPr/>
        <p:txBody>
          <a:bodyPr/>
          <a:lstStyle/>
          <a:p>
            <a:pPr marL="0" indent="0">
              <a:buNone/>
            </a:pPr>
            <a:r>
              <a:rPr lang="zh-TW" altLang="en-US" b="0" i="0" dirty="0">
                <a:solidFill>
                  <a:srgbClr val="222222"/>
                </a:solidFill>
                <a:effectLst/>
                <a:latin typeface="-apple-system"/>
              </a:rPr>
              <a:t>檢測了</a:t>
            </a:r>
            <a:r>
              <a:rPr lang="en" altLang="zh-TW" b="0" i="0" dirty="0">
                <a:solidFill>
                  <a:srgbClr val="222222"/>
                </a:solidFill>
                <a:effectLst/>
                <a:latin typeface="-apple-system"/>
              </a:rPr>
              <a:t>GSK3</a:t>
            </a:r>
            <a:r>
              <a:rPr lang="zh-TW" altLang="en-US" b="0" i="0" dirty="0">
                <a:solidFill>
                  <a:srgbClr val="222222"/>
                </a:solidFill>
                <a:effectLst/>
                <a:latin typeface="-apple-system"/>
              </a:rPr>
              <a:t>是否與外源性凋亡訊號路徑中可能具有抗凋亡作用的其他蛋白質（特別是</a:t>
            </a:r>
            <a:r>
              <a:rPr lang="en" altLang="zh-TW" b="0" i="0" dirty="0">
                <a:solidFill>
                  <a:srgbClr val="222222"/>
                </a:solidFill>
                <a:effectLst/>
                <a:latin typeface="-apple-system"/>
              </a:rPr>
              <a:t>DDX3</a:t>
            </a:r>
            <a:r>
              <a:rPr lang="zh-TW" altLang="en-US" b="0" i="0" dirty="0">
                <a:solidFill>
                  <a:srgbClr val="222222"/>
                </a:solidFill>
                <a:effectLst/>
                <a:latin typeface="-apple-system"/>
              </a:rPr>
              <a:t>和</a:t>
            </a:r>
            <a:r>
              <a:rPr lang="en" altLang="zh-TW" b="0" i="0" dirty="0">
                <a:solidFill>
                  <a:srgbClr val="222222"/>
                </a:solidFill>
                <a:effectLst/>
                <a:latin typeface="-apple-system"/>
              </a:rPr>
              <a:t>cIAP-1</a:t>
            </a:r>
            <a:r>
              <a:rPr lang="zh-TW" altLang="en" b="0" i="0" dirty="0">
                <a:solidFill>
                  <a:srgbClr val="222222"/>
                </a:solidFill>
                <a:effectLst/>
                <a:latin typeface="-apple-system"/>
              </a:rPr>
              <a:t>）</a:t>
            </a:r>
            <a:r>
              <a:rPr lang="zh-TW" altLang="en-US" b="0" i="0" dirty="0">
                <a:solidFill>
                  <a:srgbClr val="222222"/>
                </a:solidFill>
                <a:effectLst/>
                <a:latin typeface="-apple-system"/>
              </a:rPr>
              <a:t>結合，這些蛋白質可能協同作用控制細胞凋亡。</a:t>
            </a:r>
            <a:endParaRPr lang="en-US" altLang="zh-TW" b="0" i="0" dirty="0">
              <a:solidFill>
                <a:srgbClr val="222222"/>
              </a:solidFill>
              <a:effectLst/>
              <a:latin typeface="-apple-system"/>
            </a:endParaRPr>
          </a:p>
          <a:p>
            <a:pPr marL="0" indent="0">
              <a:buNone/>
            </a:pPr>
            <a:endParaRPr lang="en-US" altLang="zh-TW" sz="1600" b="0" i="0" u="none" kern="1200" dirty="0">
              <a:solidFill>
                <a:srgbClr val="222222"/>
              </a:solidFill>
              <a:effectLst/>
              <a:latin typeface="-apple-system"/>
              <a:ea typeface="+mn-ea"/>
              <a:cs typeface="+mn-cs"/>
            </a:endParaRPr>
          </a:p>
          <a:p>
            <a:pPr marL="0" indent="0">
              <a:buNone/>
            </a:pPr>
            <a:r>
              <a:rPr lang="zh-TW" altLang="en-US" sz="1600" b="0" i="0" u="none" kern="1200" dirty="0">
                <a:solidFill>
                  <a:srgbClr val="1F1F1F"/>
                </a:solidFill>
                <a:effectLst/>
                <a:latin typeface="+mn-lt"/>
                <a:ea typeface="+mn-ea"/>
                <a:cs typeface="+mn-cs"/>
              </a:rPr>
              <a:t>圖</a:t>
            </a:r>
            <a:r>
              <a:rPr lang="en-US" altLang="zh-TW" sz="1600" b="0" i="0" u="none" kern="1200" dirty="0">
                <a:solidFill>
                  <a:srgbClr val="1F1F1F"/>
                </a:solidFill>
                <a:effectLst/>
                <a:latin typeface="+mn-lt"/>
                <a:ea typeface="+mn-ea"/>
                <a:cs typeface="+mn-cs"/>
              </a:rPr>
              <a:t>3a</a:t>
            </a:r>
            <a:r>
              <a:rPr lang="zh-TW" altLang="en-US" sz="1600" b="0" i="0" u="none" kern="1200" dirty="0">
                <a:solidFill>
                  <a:srgbClr val="1F1F1F"/>
                </a:solidFill>
                <a:effectLst/>
                <a:latin typeface="+mn-lt"/>
                <a:ea typeface="+mn-ea"/>
                <a:cs typeface="+mn-cs"/>
              </a:rPr>
              <a:t>：他們用來自各種細胞的</a:t>
            </a:r>
            <a:r>
              <a:rPr lang="en-US" altLang="zh-TW" sz="1600" b="0" i="0" u="none" kern="1200" dirty="0">
                <a:solidFill>
                  <a:srgbClr val="1F1F1F"/>
                </a:solidFill>
                <a:effectLst/>
                <a:latin typeface="+mn-lt"/>
                <a:ea typeface="+mn-ea"/>
                <a:cs typeface="+mn-cs"/>
              </a:rPr>
              <a:t>GSK3</a:t>
            </a:r>
            <a:r>
              <a:rPr lang="el-GR" altLang="zh-TW" sz="1600" b="0" i="0" u="none" kern="1200" dirty="0">
                <a:solidFill>
                  <a:srgbClr val="1F1F1F"/>
                </a:solidFill>
                <a:effectLst/>
                <a:latin typeface="+mn-lt"/>
                <a:ea typeface="+mn-ea"/>
                <a:cs typeface="+mn-cs"/>
              </a:rPr>
              <a:t>β</a:t>
            </a:r>
            <a:r>
              <a:rPr lang="zh-TW" altLang="en-US" sz="1600" b="0" i="0" u="none" kern="1200" dirty="0">
                <a:solidFill>
                  <a:srgbClr val="1F1F1F"/>
                </a:solidFill>
                <a:effectLst/>
                <a:latin typeface="+mn-lt"/>
                <a:ea typeface="+mn-ea"/>
                <a:cs typeface="+mn-cs"/>
              </a:rPr>
              <a:t>或</a:t>
            </a:r>
            <a:r>
              <a:rPr lang="en-US" altLang="zh-TW" sz="1600" b="0" i="0" u="none" kern="1200" dirty="0">
                <a:solidFill>
                  <a:srgbClr val="1F1F1F"/>
                </a:solidFill>
                <a:effectLst/>
                <a:latin typeface="+mn-lt"/>
                <a:ea typeface="+mn-ea"/>
                <a:cs typeface="+mn-cs"/>
              </a:rPr>
              <a:t>GSK3</a:t>
            </a:r>
            <a:r>
              <a:rPr lang="el-GR" altLang="zh-TW" sz="1600" b="0" i="0" u="none" kern="1200" dirty="0">
                <a:solidFill>
                  <a:srgbClr val="1F1F1F"/>
                </a:solidFill>
                <a:effectLst/>
                <a:latin typeface="+mn-lt"/>
                <a:ea typeface="+mn-ea"/>
                <a:cs typeface="+mn-cs"/>
              </a:rPr>
              <a:t>α</a:t>
            </a:r>
            <a:r>
              <a:rPr lang="zh-TW" altLang="en-US" sz="1600" b="0" i="0" u="none" kern="1200" dirty="0">
                <a:solidFill>
                  <a:srgbClr val="1F1F1F"/>
                </a:solidFill>
                <a:effectLst/>
                <a:latin typeface="+mn-lt"/>
                <a:ea typeface="+mn-ea"/>
                <a:cs typeface="+mn-cs"/>
              </a:rPr>
              <a:t>來進行共免疫沉澱實驗（親本和抗性</a:t>
            </a:r>
            <a:r>
              <a:rPr lang="en-US" altLang="zh-TW" sz="1600" b="0" i="0" u="none" kern="1200" dirty="0">
                <a:solidFill>
                  <a:srgbClr val="1F1F1F"/>
                </a:solidFill>
                <a:effectLst/>
                <a:latin typeface="+mn-lt"/>
                <a:ea typeface="+mn-ea"/>
                <a:cs typeface="+mn-cs"/>
              </a:rPr>
              <a:t>MDA-MB-231</a:t>
            </a:r>
            <a:r>
              <a:rPr lang="zh-TW" altLang="en-US" sz="1600" b="0" i="0" u="none" kern="1200" dirty="0">
                <a:solidFill>
                  <a:srgbClr val="1F1F1F"/>
                </a:solidFill>
                <a:effectLst/>
                <a:latin typeface="+mn-lt"/>
                <a:ea typeface="+mn-ea"/>
                <a:cs typeface="+mn-cs"/>
              </a:rPr>
              <a:t>細胞、</a:t>
            </a:r>
            <a:r>
              <a:rPr lang="en-US" altLang="zh-TW" sz="1600" b="0" i="0" u="none" kern="1200" dirty="0">
                <a:solidFill>
                  <a:srgbClr val="1F1F1F"/>
                </a:solidFill>
                <a:effectLst/>
                <a:latin typeface="+mn-lt"/>
                <a:ea typeface="+mn-ea"/>
                <a:cs typeface="+mn-cs"/>
              </a:rPr>
              <a:t>1321N1</a:t>
            </a:r>
            <a:r>
              <a:rPr lang="zh-TW" altLang="en-US" sz="1600" b="0" i="0" u="none" kern="1200" dirty="0">
                <a:solidFill>
                  <a:srgbClr val="1F1F1F"/>
                </a:solidFill>
                <a:effectLst/>
                <a:latin typeface="+mn-lt"/>
                <a:ea typeface="+mn-ea"/>
                <a:cs typeface="+mn-cs"/>
              </a:rPr>
              <a:t>、</a:t>
            </a:r>
            <a:r>
              <a:rPr lang="en-US" altLang="zh-TW" sz="1600" b="0" i="0" u="none" kern="1200" dirty="0" err="1">
                <a:solidFill>
                  <a:srgbClr val="1F1F1F"/>
                </a:solidFill>
                <a:effectLst/>
                <a:latin typeface="+mn-lt"/>
                <a:ea typeface="+mn-ea"/>
                <a:cs typeface="+mn-cs"/>
              </a:rPr>
              <a:t>Jurkat</a:t>
            </a:r>
            <a:r>
              <a:rPr lang="zh-TW" altLang="en-US" sz="1600" b="0" i="0" u="none" kern="1200" dirty="0">
                <a:solidFill>
                  <a:srgbClr val="1F1F1F"/>
                </a:solidFill>
                <a:effectLst/>
                <a:latin typeface="+mn-lt"/>
                <a:ea typeface="+mn-ea"/>
                <a:cs typeface="+mn-cs"/>
              </a:rPr>
              <a:t>和</a:t>
            </a:r>
            <a:r>
              <a:rPr lang="en-US" altLang="zh-TW" sz="1600" b="0" i="0" u="none" kern="1200" dirty="0">
                <a:solidFill>
                  <a:srgbClr val="1F1F1F"/>
                </a:solidFill>
                <a:effectLst/>
                <a:latin typeface="+mn-lt"/>
                <a:ea typeface="+mn-ea"/>
                <a:cs typeface="+mn-cs"/>
              </a:rPr>
              <a:t>HeLa</a:t>
            </a:r>
            <a:r>
              <a:rPr lang="zh-TW" altLang="en-US" sz="1600" b="0" i="0" u="none" kern="1200" dirty="0">
                <a:solidFill>
                  <a:srgbClr val="1F1F1F"/>
                </a:solidFill>
                <a:effectLst/>
                <a:latin typeface="+mn-lt"/>
                <a:ea typeface="+mn-ea"/>
                <a:cs typeface="+mn-cs"/>
              </a:rPr>
              <a:t>）， 發現</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和這些</a:t>
            </a:r>
            <a:r>
              <a:rPr lang="en-US" altLang="zh-TW" sz="1600" b="0" i="0" u="none" kern="1200" dirty="0">
                <a:solidFill>
                  <a:srgbClr val="1F1F1F"/>
                </a:solidFill>
                <a:effectLst/>
                <a:latin typeface="+mn-lt"/>
                <a:ea typeface="+mn-ea"/>
                <a:cs typeface="+mn-cs"/>
              </a:rPr>
              <a:t>GSK3</a:t>
            </a:r>
            <a:r>
              <a:rPr lang="el-GR" altLang="zh-TW" sz="1600" b="0" i="0" u="none" kern="1200" dirty="0">
                <a:solidFill>
                  <a:srgbClr val="1F1F1F"/>
                </a:solidFill>
                <a:effectLst/>
                <a:latin typeface="+mn-lt"/>
                <a:ea typeface="+mn-ea"/>
                <a:cs typeface="+mn-cs"/>
              </a:rPr>
              <a:t>β</a:t>
            </a:r>
            <a:r>
              <a:rPr lang="zh-TW" altLang="en-US" sz="1600" b="0" i="0" u="none" kern="1200" dirty="0">
                <a:solidFill>
                  <a:srgbClr val="1F1F1F"/>
                </a:solidFill>
                <a:effectLst/>
                <a:latin typeface="+mn-lt"/>
                <a:ea typeface="+mn-ea"/>
                <a:cs typeface="+mn-cs"/>
              </a:rPr>
              <a:t>或</a:t>
            </a:r>
            <a:r>
              <a:rPr lang="en-US" altLang="zh-TW" sz="1600" b="0" i="0" u="none" kern="1200" dirty="0">
                <a:solidFill>
                  <a:srgbClr val="1F1F1F"/>
                </a:solidFill>
                <a:effectLst/>
                <a:latin typeface="+mn-lt"/>
                <a:ea typeface="+mn-ea"/>
                <a:cs typeface="+mn-cs"/>
              </a:rPr>
              <a:t>GSK3</a:t>
            </a:r>
            <a:r>
              <a:rPr lang="el-GR" altLang="zh-TW" sz="1600" b="0" i="0" u="none" kern="1200" dirty="0">
                <a:solidFill>
                  <a:srgbClr val="1F1F1F"/>
                </a:solidFill>
                <a:effectLst/>
                <a:latin typeface="+mn-lt"/>
                <a:ea typeface="+mn-ea"/>
                <a:cs typeface="+mn-cs"/>
              </a:rPr>
              <a:t>α</a:t>
            </a:r>
            <a:r>
              <a:rPr lang="zh-TW" altLang="en-US" sz="1600" b="0" i="0" u="none" kern="1200" dirty="0">
                <a:solidFill>
                  <a:srgbClr val="1F1F1F"/>
                </a:solidFill>
                <a:effectLst/>
                <a:latin typeface="+mn-lt"/>
                <a:ea typeface="+mn-ea"/>
                <a:cs typeface="+mn-cs"/>
              </a:rPr>
              <a:t>均發生共免疫沉澱。證明</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可以和</a:t>
            </a:r>
            <a:r>
              <a:rPr lang="en-US" altLang="zh-TW" sz="1600" b="0" i="0" u="none" kern="1200" dirty="0">
                <a:solidFill>
                  <a:srgbClr val="1F1F1F"/>
                </a:solidFill>
                <a:effectLst/>
                <a:latin typeface="+mn-lt"/>
                <a:ea typeface="+mn-ea"/>
                <a:cs typeface="+mn-cs"/>
              </a:rPr>
              <a:t>GSK3</a:t>
            </a:r>
            <a:r>
              <a:rPr lang="zh-TW" altLang="en-US" sz="1600" b="0" i="0" u="none" kern="1200" dirty="0">
                <a:solidFill>
                  <a:srgbClr val="1F1F1F"/>
                </a:solidFill>
                <a:effectLst/>
                <a:latin typeface="+mn-lt"/>
                <a:ea typeface="+mn-ea"/>
                <a:cs typeface="+mn-cs"/>
              </a:rPr>
              <a:t>結合作用</a:t>
            </a:r>
            <a:endParaRPr lang="en-US" altLang="zh-TW" sz="1600" b="0" i="0" u="none" kern="1200" dirty="0">
              <a:solidFill>
                <a:srgbClr val="1F1F1F"/>
              </a:solidFill>
              <a:effectLst/>
              <a:latin typeface="+mn-lt"/>
              <a:ea typeface="+mn-ea"/>
              <a:cs typeface="+mn-cs"/>
            </a:endParaRPr>
          </a:p>
          <a:p>
            <a:pPr marL="0" indent="0">
              <a:buNone/>
            </a:pPr>
            <a:endParaRPr lang="en-US" altLang="zh-TW" sz="1600" b="0" i="0" u="none" kern="1200" dirty="0">
              <a:solidFill>
                <a:srgbClr val="1F1F1F"/>
              </a:solidFill>
              <a:effectLst/>
              <a:latin typeface="+mn-lt"/>
              <a:ea typeface="+mn-ea"/>
              <a:cs typeface="+mn-cs"/>
            </a:endParaRPr>
          </a:p>
          <a:p>
            <a:pPr marL="0" indent="0">
              <a:buNone/>
            </a:pPr>
            <a:r>
              <a:rPr lang="zh-TW" altLang="en-US" sz="1600" b="0" i="0" u="none" kern="1200" dirty="0">
                <a:solidFill>
                  <a:srgbClr val="1F1F1F"/>
                </a:solidFill>
                <a:effectLst/>
                <a:latin typeface="+mn-lt"/>
                <a:ea typeface="+mn-ea"/>
                <a:cs typeface="+mn-cs"/>
              </a:rPr>
              <a:t>但是他們查資料發現</a:t>
            </a:r>
            <a:r>
              <a:rPr lang="en" altLang="zh-TW" sz="1600" b="0" i="0" u="none" kern="1200" dirty="0">
                <a:solidFill>
                  <a:srgbClr val="1F1F1F"/>
                </a:solidFill>
                <a:effectLst/>
                <a:latin typeface="+mn-lt"/>
                <a:ea typeface="+mn-ea"/>
                <a:cs typeface="+mn-cs"/>
              </a:rPr>
              <a:t>TRAIL-R2 </a:t>
            </a:r>
            <a:r>
              <a:rPr lang="zh-TW" altLang="en-US" sz="1600" b="0" i="0" u="none" kern="1200" dirty="0">
                <a:solidFill>
                  <a:srgbClr val="1F1F1F"/>
                </a:solidFill>
                <a:effectLst/>
                <a:latin typeface="+mn-lt"/>
                <a:ea typeface="+mn-ea"/>
                <a:cs typeface="+mn-cs"/>
              </a:rPr>
              <a:t>刺激有可能會影響 </a:t>
            </a:r>
            <a:r>
              <a:rPr lang="en" altLang="zh-TW" sz="1600" b="0" i="0" u="none" kern="1200" dirty="0">
                <a:solidFill>
                  <a:srgbClr val="1F1F1F"/>
                </a:solidFill>
                <a:effectLst/>
                <a:latin typeface="+mn-lt"/>
                <a:ea typeface="+mn-ea"/>
                <a:cs typeface="+mn-cs"/>
              </a:rPr>
              <a:t>GSK3 </a:t>
            </a:r>
            <a:r>
              <a:rPr lang="el-GR" altLang="zh-TW" sz="1600" b="0" i="0" u="none" kern="1200" dirty="0">
                <a:solidFill>
                  <a:srgbClr val="1F1F1F"/>
                </a:solidFill>
                <a:effectLst/>
                <a:latin typeface="+mn-lt"/>
                <a:ea typeface="+mn-ea"/>
                <a:cs typeface="+mn-cs"/>
              </a:rPr>
              <a:t>β</a:t>
            </a:r>
            <a:r>
              <a:rPr lang="zh-TW" altLang="en-US" sz="1600" b="0" i="0" u="none" kern="1200" dirty="0">
                <a:solidFill>
                  <a:srgbClr val="1F1F1F"/>
                </a:solidFill>
                <a:effectLst/>
                <a:latin typeface="+mn-lt"/>
                <a:ea typeface="+mn-ea"/>
                <a:cs typeface="+mn-cs"/>
              </a:rPr>
              <a:t>與 </a:t>
            </a:r>
            <a:r>
              <a:rPr lang="en"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的結合，透過破壞</a:t>
            </a:r>
            <a:r>
              <a:rPr lang="en" altLang="zh-TW" sz="1600" b="0" i="0" u="none" kern="1200" dirty="0">
                <a:solidFill>
                  <a:srgbClr val="1F1F1F"/>
                </a:solidFill>
                <a:effectLst/>
                <a:latin typeface="+mn-lt"/>
                <a:ea typeface="+mn-ea"/>
                <a:cs typeface="+mn-cs"/>
              </a:rPr>
              <a:t>GSK3 </a:t>
            </a:r>
            <a:r>
              <a:rPr lang="el-GR" altLang="zh-TW" sz="1600" b="0" i="0" u="none" kern="1200" dirty="0">
                <a:solidFill>
                  <a:srgbClr val="1F1F1F"/>
                </a:solidFill>
                <a:effectLst/>
                <a:latin typeface="+mn-lt"/>
                <a:ea typeface="+mn-ea"/>
                <a:cs typeface="+mn-cs"/>
              </a:rPr>
              <a:t>β</a:t>
            </a:r>
            <a:r>
              <a:rPr lang="zh-TW" altLang="en-US" sz="1600" b="0" i="0" u="none" kern="1200" dirty="0">
                <a:solidFill>
                  <a:srgbClr val="1F1F1F"/>
                </a:solidFill>
                <a:effectLst/>
                <a:latin typeface="+mn-lt"/>
                <a:ea typeface="+mn-ea"/>
                <a:cs typeface="+mn-cs"/>
              </a:rPr>
              <a:t>與 </a:t>
            </a:r>
            <a:r>
              <a:rPr lang="en"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形成的抗凋亡複合物或使一種或多種蛋白質失活，從而使細胞凋亡可以繼續進行</a:t>
            </a:r>
            <a:r>
              <a:rPr lang="zh-TW" altLang="en-US" b="0" i="0" dirty="0">
                <a:solidFill>
                  <a:srgbClr val="222222"/>
                </a:solidFill>
                <a:effectLst/>
                <a:latin typeface="-apple-system"/>
              </a:rPr>
              <a:t>。因此他們進行來確保這部分不對他們接下來要探討的實驗結果造成影響，結果發現</a:t>
            </a:r>
            <a:r>
              <a:rPr lang="en" altLang="zh-TW" b="0" i="0" dirty="0">
                <a:solidFill>
                  <a:srgbClr val="222222"/>
                </a:solidFill>
                <a:effectLst/>
                <a:latin typeface="-apple-system"/>
              </a:rPr>
              <a:t>TRAIL-R2 </a:t>
            </a:r>
            <a:r>
              <a:rPr lang="zh-TW" altLang="en-US" b="0" i="0" dirty="0">
                <a:solidFill>
                  <a:srgbClr val="222222"/>
                </a:solidFill>
                <a:effectLst/>
                <a:latin typeface="-apple-system"/>
              </a:rPr>
              <a:t>刺激會隨著時間誘導 </a:t>
            </a:r>
            <a:r>
              <a:rPr lang="en" altLang="zh-TW" b="0" i="0" dirty="0">
                <a:solidFill>
                  <a:srgbClr val="222222"/>
                </a:solidFill>
                <a:effectLst/>
                <a:latin typeface="-apple-system"/>
              </a:rPr>
              <a:t>caspase-3 </a:t>
            </a:r>
            <a:r>
              <a:rPr lang="zh-TW" altLang="en-US" b="0" i="0" dirty="0">
                <a:solidFill>
                  <a:srgbClr val="222222"/>
                </a:solidFill>
                <a:effectLst/>
                <a:latin typeface="-apple-system"/>
              </a:rPr>
              <a:t>的活化，並同時引起 </a:t>
            </a:r>
            <a:r>
              <a:rPr lang="en" altLang="zh-TW" b="0" i="0" dirty="0">
                <a:solidFill>
                  <a:srgbClr val="222222"/>
                </a:solidFill>
                <a:effectLst/>
                <a:latin typeface="-apple-system"/>
              </a:rPr>
              <a:t>DDX3 </a:t>
            </a:r>
            <a:r>
              <a:rPr lang="zh-TW" altLang="en-US" b="0" i="0" dirty="0">
                <a:solidFill>
                  <a:srgbClr val="222222"/>
                </a:solidFill>
                <a:effectLst/>
                <a:latin typeface="-apple-system"/>
              </a:rPr>
              <a:t>的裂解，導致完整的 </a:t>
            </a:r>
            <a:r>
              <a:rPr lang="en" altLang="zh-TW" b="0" i="0" dirty="0">
                <a:solidFill>
                  <a:srgbClr val="222222"/>
                </a:solidFill>
                <a:effectLst/>
                <a:latin typeface="-apple-system"/>
              </a:rPr>
              <a:t>DDX3 </a:t>
            </a:r>
            <a:r>
              <a:rPr lang="zh-TW" altLang="en-US" b="0" i="0" dirty="0">
                <a:solidFill>
                  <a:srgbClr val="222222"/>
                </a:solidFill>
                <a:effectLst/>
                <a:latin typeface="-apple-system"/>
              </a:rPr>
              <a:t>幾乎完全消除（圖 </a:t>
            </a:r>
            <a:r>
              <a:rPr lang="en-US" altLang="zh-TW" b="0" i="0" dirty="0">
                <a:solidFill>
                  <a:srgbClr val="222222"/>
                </a:solidFill>
                <a:effectLst/>
                <a:latin typeface="-apple-system"/>
              </a:rPr>
              <a:t>3</a:t>
            </a:r>
            <a:r>
              <a:rPr lang="en" altLang="zh-TW" b="0" i="0" dirty="0">
                <a:solidFill>
                  <a:srgbClr val="222222"/>
                </a:solidFill>
                <a:effectLst/>
                <a:latin typeface="-apple-system"/>
              </a:rPr>
              <a:t>b</a:t>
            </a:r>
            <a:r>
              <a:rPr lang="zh-TW" altLang="en" b="0" i="0" dirty="0">
                <a:solidFill>
                  <a:srgbClr val="222222"/>
                </a:solidFill>
                <a:effectLst/>
                <a:latin typeface="-apple-system"/>
              </a:rPr>
              <a:t>），</a:t>
            </a:r>
            <a:r>
              <a:rPr lang="zh-TW" altLang="en-US" sz="1600" b="0" i="0" u="none" kern="1200" dirty="0">
                <a:solidFill>
                  <a:srgbClr val="1F1F1F"/>
                </a:solidFill>
                <a:effectLst/>
                <a:latin typeface="+mn-lt"/>
                <a:ea typeface="+mn-ea"/>
                <a:cs typeface="+mn-cs"/>
              </a:rPr>
              <a:t>但在裂解後，大量的 </a:t>
            </a:r>
            <a:r>
              <a:rPr lang="en" altLang="zh-TW" sz="1600" b="0" i="0" u="none" kern="1200" dirty="0">
                <a:solidFill>
                  <a:srgbClr val="1F1F1F"/>
                </a:solidFill>
                <a:effectLst/>
                <a:latin typeface="+mn-lt"/>
                <a:ea typeface="+mn-ea"/>
                <a:cs typeface="+mn-cs"/>
              </a:rPr>
              <a:t>DDX3 </a:t>
            </a:r>
            <a:r>
              <a:rPr lang="zh-TW" altLang="en-US" sz="1600" b="0" i="0" u="none" kern="1200" dirty="0">
                <a:solidFill>
                  <a:srgbClr val="1F1F1F"/>
                </a:solidFill>
                <a:effectLst/>
                <a:latin typeface="+mn-lt"/>
                <a:ea typeface="+mn-ea"/>
                <a:cs typeface="+mn-cs"/>
              </a:rPr>
              <a:t>片段仍然可以和</a:t>
            </a:r>
            <a:r>
              <a:rPr lang="en-US" altLang="zh-TW" sz="1600" b="0" i="0" u="none" kern="1200" dirty="0">
                <a:solidFill>
                  <a:srgbClr val="1F1F1F"/>
                </a:solidFill>
                <a:effectLst/>
                <a:latin typeface="+mn-lt"/>
                <a:ea typeface="+mn-ea"/>
                <a:cs typeface="+mn-cs"/>
              </a:rPr>
              <a:t>GSK3</a:t>
            </a:r>
            <a:r>
              <a:rPr lang="el-GR" altLang="zh-TW" sz="1600" b="0" i="0" u="none" kern="1200" dirty="0">
                <a:solidFill>
                  <a:srgbClr val="1F1F1F"/>
                </a:solidFill>
                <a:effectLst/>
                <a:latin typeface="+mn-lt"/>
                <a:ea typeface="+mn-ea"/>
                <a:cs typeface="+mn-cs"/>
              </a:rPr>
              <a:t>β</a:t>
            </a:r>
            <a:r>
              <a:rPr lang="zh-TW" altLang="en-US" sz="1600" b="0" i="0" u="none" kern="1200" dirty="0">
                <a:solidFill>
                  <a:srgbClr val="1F1F1F"/>
                </a:solidFill>
                <a:effectLst/>
                <a:latin typeface="+mn-lt"/>
                <a:ea typeface="+mn-ea"/>
                <a:cs typeface="+mn-cs"/>
              </a:rPr>
              <a:t>或</a:t>
            </a:r>
            <a:r>
              <a:rPr lang="en-US" altLang="zh-TW" sz="1600" b="0" i="0" u="none" kern="1200" dirty="0">
                <a:solidFill>
                  <a:srgbClr val="1F1F1F"/>
                </a:solidFill>
                <a:effectLst/>
                <a:latin typeface="+mn-lt"/>
                <a:ea typeface="+mn-ea"/>
                <a:cs typeface="+mn-cs"/>
              </a:rPr>
              <a:t>GSK3</a:t>
            </a:r>
            <a:r>
              <a:rPr lang="el-GR" altLang="zh-TW" sz="1600" b="0" i="0" u="none" kern="1200" dirty="0">
                <a:solidFill>
                  <a:srgbClr val="1F1F1F"/>
                </a:solidFill>
                <a:effectLst/>
                <a:latin typeface="+mn-lt"/>
                <a:ea typeface="+mn-ea"/>
                <a:cs typeface="+mn-cs"/>
              </a:rPr>
              <a:t>α</a:t>
            </a:r>
            <a:r>
              <a:rPr lang="zh-TW" altLang="en-US" sz="1600" b="0" i="0" u="none" kern="1200" dirty="0">
                <a:solidFill>
                  <a:srgbClr val="1F1F1F"/>
                </a:solidFill>
                <a:effectLst/>
                <a:latin typeface="+mn-lt"/>
                <a:ea typeface="+mn-ea"/>
                <a:cs typeface="+mn-cs"/>
              </a:rPr>
              <a:t>結合（圖 </a:t>
            </a:r>
            <a:r>
              <a:rPr lang="en-US" altLang="zh-TW" sz="1600" b="0" i="0" u="none" kern="1200" dirty="0">
                <a:solidFill>
                  <a:srgbClr val="1F1F1F"/>
                </a:solidFill>
                <a:effectLst/>
                <a:latin typeface="+mn-lt"/>
                <a:ea typeface="+mn-ea"/>
                <a:cs typeface="+mn-cs"/>
              </a:rPr>
              <a:t>3</a:t>
            </a:r>
            <a:r>
              <a:rPr lang="en" altLang="zh-TW" sz="1600" b="0" i="0" u="none" kern="1200" dirty="0">
                <a:solidFill>
                  <a:srgbClr val="1F1F1F"/>
                </a:solidFill>
                <a:effectLst/>
                <a:latin typeface="+mn-lt"/>
                <a:ea typeface="+mn-ea"/>
                <a:cs typeface="+mn-cs"/>
              </a:rPr>
              <a:t>c</a:t>
            </a:r>
            <a:r>
              <a:rPr lang="zh-TW" altLang="en" sz="1600" b="0" i="0" u="none" kern="1200" dirty="0">
                <a:solidFill>
                  <a:srgbClr val="1F1F1F"/>
                </a:solidFill>
                <a:effectLst/>
                <a:latin typeface="+mn-lt"/>
                <a:ea typeface="+mn-ea"/>
                <a:cs typeface="+mn-cs"/>
              </a:rPr>
              <a:t>）。</a:t>
            </a:r>
            <a:endParaRPr lang="en-US" altLang="zh-TW" sz="1600" b="0" i="0" u="none" kern="1200" dirty="0">
              <a:solidFill>
                <a:srgbClr val="1F1F1F"/>
              </a:solidFill>
              <a:effectLst/>
              <a:latin typeface="+mn-lt"/>
              <a:ea typeface="+mn-ea"/>
              <a:cs typeface="+mn-cs"/>
            </a:endParaRPr>
          </a:p>
          <a:p>
            <a:pPr marL="0" indent="0">
              <a:buNone/>
            </a:pPr>
            <a:endParaRPr lang="en-US" altLang="zh-TW" sz="1600" b="0" i="0" u="none" kern="1200" dirty="0">
              <a:solidFill>
                <a:srgbClr val="1F1F1F"/>
              </a:solidFill>
              <a:effectLst/>
              <a:latin typeface="+mn-lt"/>
              <a:ea typeface="+mn-ea"/>
              <a:cs typeface="+mn-cs"/>
            </a:endParaRPr>
          </a:p>
          <a:p>
            <a:pPr marL="0" indent="0">
              <a:buNone/>
            </a:pPr>
            <a:r>
              <a:rPr lang="zh-TW" altLang="en-US" sz="1600" b="0" i="0" u="none" kern="1200" dirty="0">
                <a:solidFill>
                  <a:srgbClr val="1F1F1F"/>
                </a:solidFill>
                <a:effectLst/>
                <a:latin typeface="+mn-lt"/>
                <a:ea typeface="+mn-ea"/>
                <a:cs typeface="+mn-cs"/>
              </a:rPr>
              <a:t>在抗性 </a:t>
            </a:r>
            <a:r>
              <a:rPr lang="en" altLang="zh-TW" sz="1600" b="0" i="0" u="none" kern="1200" dirty="0">
                <a:solidFill>
                  <a:srgbClr val="1F1F1F"/>
                </a:solidFill>
                <a:effectLst/>
                <a:latin typeface="+mn-lt"/>
                <a:ea typeface="+mn-ea"/>
                <a:cs typeface="+mn-cs"/>
              </a:rPr>
              <a:t>MDA-MB-231 </a:t>
            </a:r>
            <a:r>
              <a:rPr lang="zh-TW" altLang="en-US" sz="1600" b="0" i="0" u="none" kern="1200" dirty="0">
                <a:solidFill>
                  <a:srgbClr val="1F1F1F"/>
                </a:solidFill>
                <a:effectLst/>
                <a:latin typeface="+mn-lt"/>
                <a:ea typeface="+mn-ea"/>
                <a:cs typeface="+mn-cs"/>
              </a:rPr>
              <a:t>細胞中，效果明顯不同，因為 </a:t>
            </a:r>
            <a:r>
              <a:rPr lang="en" altLang="zh-TW" sz="1600" b="0" i="0" u="none" kern="1200" dirty="0">
                <a:solidFill>
                  <a:srgbClr val="1F1F1F"/>
                </a:solidFill>
                <a:effectLst/>
                <a:latin typeface="+mn-lt"/>
                <a:ea typeface="+mn-ea"/>
                <a:cs typeface="+mn-cs"/>
              </a:rPr>
              <a:t>TRAIL-R2 </a:t>
            </a:r>
            <a:r>
              <a:rPr lang="zh-TW" altLang="en-US" sz="1600" b="0" i="0" u="none" kern="1200" dirty="0">
                <a:solidFill>
                  <a:srgbClr val="1F1F1F"/>
                </a:solidFill>
                <a:effectLst/>
                <a:latin typeface="+mn-lt"/>
                <a:ea typeface="+mn-ea"/>
                <a:cs typeface="+mn-cs"/>
              </a:rPr>
              <a:t>刺激不會引起 </a:t>
            </a:r>
            <a:r>
              <a:rPr lang="en" altLang="zh-TW" sz="1600" b="0" i="0" u="none" kern="1200" dirty="0">
                <a:solidFill>
                  <a:srgbClr val="1F1F1F"/>
                </a:solidFill>
                <a:effectLst/>
                <a:latin typeface="+mn-lt"/>
                <a:ea typeface="+mn-ea"/>
                <a:cs typeface="+mn-cs"/>
              </a:rPr>
              <a:t>DDX3 </a:t>
            </a:r>
            <a:r>
              <a:rPr lang="zh-TW" altLang="en-US" sz="1600" b="0" i="0" u="none" kern="1200" dirty="0">
                <a:solidFill>
                  <a:srgbClr val="1F1F1F"/>
                </a:solidFill>
                <a:effectLst/>
                <a:latin typeface="+mn-lt"/>
                <a:ea typeface="+mn-ea"/>
                <a:cs typeface="+mn-cs"/>
              </a:rPr>
              <a:t>的裂解（圖 </a:t>
            </a:r>
            <a:r>
              <a:rPr lang="en-US" altLang="zh-TW" sz="1600" b="0" i="0" u="none" kern="1200" dirty="0">
                <a:solidFill>
                  <a:srgbClr val="1F1F1F"/>
                </a:solidFill>
                <a:effectLst/>
                <a:latin typeface="+mn-lt"/>
                <a:ea typeface="+mn-ea"/>
                <a:cs typeface="+mn-cs"/>
              </a:rPr>
              <a:t>3</a:t>
            </a:r>
            <a:r>
              <a:rPr lang="en" altLang="zh-TW" sz="1600" b="0" i="0" u="none" kern="1200" dirty="0">
                <a:solidFill>
                  <a:srgbClr val="1F1F1F"/>
                </a:solidFill>
                <a:effectLst/>
                <a:latin typeface="+mn-lt"/>
                <a:ea typeface="+mn-ea"/>
                <a:cs typeface="+mn-cs"/>
              </a:rPr>
              <a:t>d</a:t>
            </a:r>
            <a:r>
              <a:rPr lang="zh-TW" altLang="en" sz="1600" b="0" i="0" u="none" kern="1200" dirty="0">
                <a:solidFill>
                  <a:srgbClr val="1F1F1F"/>
                </a:solidFill>
                <a:effectLst/>
                <a:latin typeface="+mn-lt"/>
                <a:ea typeface="+mn-ea"/>
                <a:cs typeface="+mn-cs"/>
              </a:rPr>
              <a:t>）。</a:t>
            </a:r>
            <a:endParaRPr lang="zh-TW" altLang="en-US" sz="1600" b="0" i="0" u="none" kern="1200" dirty="0">
              <a:solidFill>
                <a:srgbClr val="1F1F1F"/>
              </a:solidFill>
              <a:effectLst/>
              <a:latin typeface="+mn-lt"/>
              <a:ea typeface="+mn-ea"/>
              <a:cs typeface="+mn-cs"/>
            </a:endParaRPr>
          </a:p>
          <a:p>
            <a:pPr marL="0" indent="0">
              <a:buNone/>
            </a:pPr>
            <a:endParaRPr lang="en-US" altLang="zh-TW" sz="1600" b="0" i="0" u="none" kern="1200" dirty="0">
              <a:solidFill>
                <a:srgbClr val="1F1F1F"/>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17A12AD0-5FD6-30A7-26BB-DFB8EC9F9F00}"/>
              </a:ext>
            </a:extLst>
          </p:cNvPr>
          <p:cNvSpPr>
            <a:spLocks noGrp="1"/>
          </p:cNvSpPr>
          <p:nvPr>
            <p:ph type="sldNum" sz="quarter" idx="5"/>
          </p:nvPr>
        </p:nvSpPr>
        <p:spPr/>
        <p:txBody>
          <a:bodyPr/>
          <a:lstStyle/>
          <a:p>
            <a:fld id="{61CA63BF-C9DC-9844-BCA0-064E1D9BA987}" type="slidenum">
              <a:rPr kumimoji="1" lang="zh-TW" altLang="en-US" smtClean="0"/>
              <a:t>20</a:t>
            </a:fld>
            <a:endParaRPr kumimoji="1" lang="zh-TW" altLang="en-US"/>
          </a:p>
        </p:txBody>
      </p:sp>
    </p:spTree>
    <p:extLst>
      <p:ext uri="{BB962C8B-B14F-4D97-AF65-F5344CB8AC3E}">
        <p14:creationId xmlns:p14="http://schemas.microsoft.com/office/powerpoint/2010/main" val="20448983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B9599-6834-5DE2-A185-5F0E09EEA98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6977685-1983-BDB9-A3B3-221951347E9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81C6D17-4B53-6380-0FEE-2B27BD262597}"/>
              </a:ext>
            </a:extLst>
          </p:cNvPr>
          <p:cNvSpPr>
            <a:spLocks noGrp="1"/>
          </p:cNvSpPr>
          <p:nvPr>
            <p:ph type="body" idx="1"/>
          </p:nvPr>
        </p:nvSpPr>
        <p:spPr/>
        <p:txBody>
          <a:bodyPr/>
          <a:lstStyle/>
          <a:p>
            <a:pPr marL="0" indent="0">
              <a:buNone/>
            </a:pPr>
            <a:r>
              <a:rPr lang="zh-TW" altLang="en-US" sz="1600" b="0" i="0" u="none" kern="1200" dirty="0">
                <a:solidFill>
                  <a:srgbClr val="1F1F1F"/>
                </a:solidFill>
                <a:effectLst/>
                <a:latin typeface="+mn-lt"/>
                <a:ea typeface="+mn-ea"/>
                <a:cs typeface="+mn-cs"/>
              </a:rPr>
              <a:t>因此他們想更進一步了解</a:t>
            </a:r>
            <a:r>
              <a:rPr lang="en" altLang="zh-TW" dirty="0"/>
              <a:t>TRAIL-R2 </a:t>
            </a:r>
            <a:r>
              <a:rPr lang="zh-TW" altLang="en-US" dirty="0"/>
              <a:t>活化是否會經由 </a:t>
            </a:r>
            <a:r>
              <a:rPr lang="en" altLang="zh-TW" dirty="0"/>
              <a:t>caspase </a:t>
            </a:r>
            <a:r>
              <a:rPr lang="zh-TW" altLang="en-US" dirty="0"/>
              <a:t>裂解 </a:t>
            </a:r>
            <a:r>
              <a:rPr lang="en" altLang="zh-TW" dirty="0"/>
              <a:t>DDX3</a:t>
            </a:r>
          </a:p>
          <a:p>
            <a:pPr marL="0" indent="0">
              <a:buNone/>
            </a:pPr>
            <a:endParaRPr lang="en" altLang="zh-TW" sz="1600" b="0" i="0" u="none" kern="1200" dirty="0">
              <a:solidFill>
                <a:srgbClr val="1F1F1F"/>
              </a:solidFill>
              <a:effectLst/>
              <a:latin typeface="+mn-lt"/>
              <a:ea typeface="+mn-ea"/>
              <a:cs typeface="+mn-cs"/>
            </a:endParaRPr>
          </a:p>
          <a:p>
            <a:pPr marL="0" indent="0">
              <a:buNone/>
            </a:pPr>
            <a:r>
              <a:rPr lang="zh-TW" altLang="en-US" sz="1600" b="0" i="0" u="none" kern="1200" dirty="0">
                <a:solidFill>
                  <a:srgbClr val="1F1F1F"/>
                </a:solidFill>
                <a:effectLst/>
                <a:latin typeface="+mn-lt"/>
                <a:ea typeface="+mn-ea"/>
                <a:cs typeface="+mn-cs"/>
              </a:rPr>
              <a:t>圖</a:t>
            </a:r>
            <a:r>
              <a:rPr lang="en-US" altLang="zh-TW" sz="1600" b="0" i="0" u="none" kern="1200" dirty="0">
                <a:solidFill>
                  <a:srgbClr val="1F1F1F"/>
                </a:solidFill>
                <a:effectLst/>
                <a:latin typeface="+mn-lt"/>
                <a:ea typeface="+mn-ea"/>
                <a:cs typeface="+mn-cs"/>
              </a:rPr>
              <a:t>3e</a:t>
            </a:r>
            <a:r>
              <a:rPr lang="zh-TW" altLang="en-US" sz="1600" b="0" i="0" u="none" kern="1200" dirty="0">
                <a:solidFill>
                  <a:srgbClr val="1F1F1F"/>
                </a:solidFill>
                <a:effectLst/>
                <a:latin typeface="+mn-lt"/>
                <a:ea typeface="+mn-ea"/>
                <a:cs typeface="+mn-cs"/>
              </a:rPr>
              <a:t>：為了測試</a:t>
            </a:r>
            <a:r>
              <a:rPr lang="en-US" altLang="zh-TW" sz="1600" b="0" i="0" u="none" kern="1200" dirty="0">
                <a:solidFill>
                  <a:srgbClr val="1F1F1F"/>
                </a:solidFill>
                <a:effectLst/>
                <a:latin typeface="+mn-lt"/>
                <a:ea typeface="+mn-ea"/>
                <a:cs typeface="+mn-cs"/>
              </a:rPr>
              <a:t>TRAIL-R2</a:t>
            </a:r>
            <a:r>
              <a:rPr lang="zh-TW" altLang="en-US" sz="1600" b="0" i="0" u="none" kern="1200" dirty="0">
                <a:solidFill>
                  <a:srgbClr val="1F1F1F"/>
                </a:solidFill>
                <a:effectLst/>
                <a:latin typeface="+mn-lt"/>
                <a:ea typeface="+mn-ea"/>
                <a:cs typeface="+mn-cs"/>
              </a:rPr>
              <a:t>刺激後，</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的切割是否依賴</a:t>
            </a:r>
            <a:r>
              <a:rPr lang="en-US" altLang="zh-TW" sz="1600" b="0" i="0" u="none" kern="1200" dirty="0">
                <a:solidFill>
                  <a:srgbClr val="1F1F1F"/>
                </a:solidFill>
                <a:effectLst/>
                <a:latin typeface="+mn-lt"/>
                <a:ea typeface="+mn-ea"/>
                <a:cs typeface="+mn-cs"/>
              </a:rPr>
              <a:t>caspase</a:t>
            </a:r>
            <a:r>
              <a:rPr lang="zh-TW" altLang="en-US" sz="1600" b="0" i="0" u="none" kern="1200" dirty="0">
                <a:solidFill>
                  <a:srgbClr val="1F1F1F"/>
                </a:solidFill>
                <a:effectLst/>
                <a:latin typeface="+mn-lt"/>
                <a:ea typeface="+mn-ea"/>
                <a:cs typeface="+mn-cs"/>
              </a:rPr>
              <a:t>，我們將</a:t>
            </a:r>
            <a:r>
              <a:rPr lang="en-US" altLang="zh-TW" sz="1600" b="0" i="0" u="none" kern="1200" dirty="0">
                <a:solidFill>
                  <a:srgbClr val="1F1F1F"/>
                </a:solidFill>
                <a:effectLst/>
                <a:latin typeface="+mn-lt"/>
                <a:ea typeface="+mn-ea"/>
                <a:cs typeface="+mn-cs"/>
              </a:rPr>
              <a:t>MDA-MB-231</a:t>
            </a:r>
            <a:r>
              <a:rPr lang="zh-TW" altLang="en-US" sz="1600" b="0" i="0" u="none" kern="1200" dirty="0">
                <a:solidFill>
                  <a:srgbClr val="1F1F1F"/>
                </a:solidFill>
                <a:effectLst/>
                <a:latin typeface="+mn-lt"/>
                <a:ea typeface="+mn-ea"/>
                <a:cs typeface="+mn-cs"/>
              </a:rPr>
              <a:t>細胞與一種抑制劑</a:t>
            </a:r>
            <a:r>
              <a:rPr lang="en-US" altLang="zh-TW" sz="1600" b="0" i="0" u="none" kern="1200" dirty="0">
                <a:solidFill>
                  <a:srgbClr val="1F1F1F"/>
                </a:solidFill>
                <a:effectLst/>
                <a:latin typeface="+mn-lt"/>
                <a:ea typeface="+mn-ea"/>
                <a:cs typeface="+mn-cs"/>
              </a:rPr>
              <a:t>BAF</a:t>
            </a:r>
            <a:r>
              <a:rPr lang="zh-TW" altLang="en-US" sz="1600" b="0" i="0" u="none" kern="1200" dirty="0">
                <a:solidFill>
                  <a:srgbClr val="1F1F1F"/>
                </a:solidFill>
                <a:effectLst/>
                <a:latin typeface="+mn-lt"/>
                <a:ea typeface="+mn-ea"/>
                <a:cs typeface="+mn-cs"/>
              </a:rPr>
              <a:t>一起培養。 </a:t>
            </a:r>
            <a:r>
              <a:rPr lang="en-US" altLang="zh-TW" sz="1600" b="0" i="0" u="none" kern="1200" dirty="0">
                <a:solidFill>
                  <a:srgbClr val="1F1F1F"/>
                </a:solidFill>
                <a:effectLst/>
                <a:latin typeface="+mn-lt"/>
                <a:ea typeface="+mn-ea"/>
                <a:cs typeface="+mn-cs"/>
              </a:rPr>
              <a:t>BAF</a:t>
            </a:r>
            <a:r>
              <a:rPr lang="zh-TW" altLang="en-US" sz="1600" b="0" i="0" u="none" kern="1200" dirty="0">
                <a:solidFill>
                  <a:srgbClr val="1F1F1F"/>
                </a:solidFill>
                <a:effectLst/>
                <a:latin typeface="+mn-lt"/>
                <a:ea typeface="+mn-ea"/>
                <a:cs typeface="+mn-cs"/>
              </a:rPr>
              <a:t>處理可阻斷</a:t>
            </a:r>
            <a:r>
              <a:rPr lang="en-US" altLang="zh-TW" sz="1600" b="0" i="0" u="none" kern="1200" dirty="0">
                <a:solidFill>
                  <a:srgbClr val="1F1F1F"/>
                </a:solidFill>
                <a:effectLst/>
                <a:latin typeface="+mn-lt"/>
                <a:ea typeface="+mn-ea"/>
                <a:cs typeface="+mn-cs"/>
              </a:rPr>
              <a:t>TRAIL-R2</a:t>
            </a:r>
            <a:r>
              <a:rPr lang="zh-TW" altLang="en-US" sz="1600" b="0" i="0" u="none" kern="1200" dirty="0">
                <a:solidFill>
                  <a:srgbClr val="1F1F1F"/>
                </a:solidFill>
                <a:effectLst/>
                <a:latin typeface="+mn-lt"/>
                <a:ea typeface="+mn-ea"/>
                <a:cs typeface="+mn-cs"/>
              </a:rPr>
              <a:t>刺激後兩種已知</a:t>
            </a:r>
            <a:r>
              <a:rPr lang="en-US" altLang="zh-TW" sz="1600" b="0" i="0" u="none" kern="1200" dirty="0">
                <a:solidFill>
                  <a:srgbClr val="1F1F1F"/>
                </a:solidFill>
                <a:effectLst/>
                <a:latin typeface="+mn-lt"/>
                <a:ea typeface="+mn-ea"/>
                <a:cs typeface="+mn-cs"/>
              </a:rPr>
              <a:t>caspase</a:t>
            </a:r>
            <a:r>
              <a:rPr lang="zh-TW" altLang="en-US" sz="1600" b="0" i="0" u="none" kern="1200" dirty="0">
                <a:solidFill>
                  <a:srgbClr val="1F1F1F"/>
                </a:solidFill>
                <a:effectLst/>
                <a:latin typeface="+mn-lt"/>
                <a:ea typeface="+mn-ea"/>
                <a:cs typeface="+mn-cs"/>
              </a:rPr>
              <a:t>底物</a:t>
            </a:r>
            <a:r>
              <a:rPr lang="en-US" altLang="zh-TW" sz="1600" b="0" i="0" u="none" kern="1200" dirty="0">
                <a:solidFill>
                  <a:srgbClr val="1F1F1F"/>
                </a:solidFill>
                <a:effectLst/>
                <a:latin typeface="+mn-lt"/>
                <a:ea typeface="+mn-ea"/>
                <a:cs typeface="+mn-cs"/>
              </a:rPr>
              <a:t>PARP</a:t>
            </a:r>
            <a:r>
              <a:rPr lang="zh-TW" altLang="en-US" sz="1600" b="0" i="0" u="none" kern="1200" dirty="0">
                <a:solidFill>
                  <a:srgbClr val="1F1F1F"/>
                </a:solidFill>
                <a:effectLst/>
                <a:latin typeface="+mn-lt"/>
                <a:ea typeface="+mn-ea"/>
                <a:cs typeface="+mn-cs"/>
              </a:rPr>
              <a:t>和</a:t>
            </a:r>
            <a:r>
              <a:rPr lang="en-US" altLang="zh-TW" sz="1600" b="0" i="0" u="none" kern="1200" dirty="0">
                <a:solidFill>
                  <a:srgbClr val="1F1F1F"/>
                </a:solidFill>
                <a:effectLst/>
                <a:latin typeface="+mn-lt"/>
                <a:ea typeface="+mn-ea"/>
                <a:cs typeface="+mn-cs"/>
              </a:rPr>
              <a:t>Bid</a:t>
            </a:r>
            <a:r>
              <a:rPr lang="zh-TW" altLang="en-US" sz="1600" b="0" i="0" u="none" kern="1200" dirty="0">
                <a:solidFill>
                  <a:srgbClr val="1F1F1F"/>
                </a:solidFill>
                <a:effectLst/>
                <a:latin typeface="+mn-lt"/>
                <a:ea typeface="+mn-ea"/>
                <a:cs typeface="+mn-cs"/>
              </a:rPr>
              <a:t>的切割，並完全阻斷</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的切割。這些結果表明，可以在圖中看到，有添加</a:t>
            </a:r>
            <a:r>
              <a:rPr lang="en-US" altLang="zh-TW" sz="1600" b="0" i="0" u="none" kern="1200" dirty="0">
                <a:solidFill>
                  <a:srgbClr val="1F1F1F"/>
                </a:solidFill>
                <a:effectLst/>
                <a:latin typeface="+mn-lt"/>
                <a:ea typeface="+mn-ea"/>
                <a:cs typeface="+mn-cs"/>
              </a:rPr>
              <a:t>BAF</a:t>
            </a:r>
            <a:r>
              <a:rPr lang="zh-TW" altLang="en-US" sz="1600" b="0" i="0" u="none" kern="1200" dirty="0">
                <a:solidFill>
                  <a:srgbClr val="1F1F1F"/>
                </a:solidFill>
                <a:effectLst/>
                <a:latin typeface="+mn-lt"/>
                <a:ea typeface="+mn-ea"/>
                <a:cs typeface="+mn-cs"/>
              </a:rPr>
              <a:t>的組別，</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和</a:t>
            </a:r>
            <a:r>
              <a:rPr lang="en-US" altLang="zh-TW" sz="1600" b="0" i="0" u="none" kern="1200" dirty="0">
                <a:solidFill>
                  <a:srgbClr val="1F1F1F"/>
                </a:solidFill>
                <a:effectLst/>
                <a:latin typeface="+mn-lt"/>
                <a:ea typeface="+mn-ea"/>
                <a:cs typeface="+mn-cs"/>
              </a:rPr>
              <a:t>PARP</a:t>
            </a:r>
            <a:r>
              <a:rPr lang="zh-TW" altLang="en-US" sz="1600" b="0" i="0" u="none" kern="1200" dirty="0">
                <a:solidFill>
                  <a:srgbClr val="1F1F1F"/>
                </a:solidFill>
                <a:effectLst/>
                <a:latin typeface="+mn-lt"/>
                <a:ea typeface="+mn-ea"/>
                <a:cs typeface="+mn-cs"/>
              </a:rPr>
              <a:t>都不再被切割。這證明</a:t>
            </a:r>
            <a:r>
              <a:rPr lang="en-US" altLang="zh-TW" sz="1600" b="0" i="0" u="none" kern="1200" dirty="0">
                <a:solidFill>
                  <a:srgbClr val="1F1F1F"/>
                </a:solidFill>
                <a:effectLst/>
                <a:latin typeface="+mn-lt"/>
                <a:ea typeface="+mn-ea"/>
                <a:cs typeface="+mn-cs"/>
              </a:rPr>
              <a:t>TRAIL-R2</a:t>
            </a:r>
            <a:r>
              <a:rPr lang="zh-TW" altLang="en-US" sz="1600" b="0" i="0" u="none" kern="1200" dirty="0">
                <a:solidFill>
                  <a:srgbClr val="1F1F1F"/>
                </a:solidFill>
                <a:effectLst/>
                <a:latin typeface="+mn-lt"/>
                <a:ea typeface="+mn-ea"/>
                <a:cs typeface="+mn-cs"/>
              </a:rPr>
              <a:t>刺激誘導的</a:t>
            </a:r>
            <a:r>
              <a:rPr lang="en-US" altLang="zh-TW" sz="1600" b="0" i="0" u="none" kern="1200" dirty="0">
                <a:solidFill>
                  <a:srgbClr val="1F1F1F"/>
                </a:solidFill>
                <a:effectLst/>
                <a:latin typeface="+mn-lt"/>
                <a:ea typeface="+mn-ea"/>
                <a:cs typeface="+mn-cs"/>
              </a:rPr>
              <a:t>caspase</a:t>
            </a:r>
            <a:r>
              <a:rPr lang="zh-TW" altLang="en-US" sz="1600" b="0" i="0" u="none" kern="1200" dirty="0">
                <a:solidFill>
                  <a:srgbClr val="1F1F1F"/>
                </a:solidFill>
                <a:effectLst/>
                <a:latin typeface="+mn-lt"/>
                <a:ea typeface="+mn-ea"/>
                <a:cs typeface="+mn-cs"/>
              </a:rPr>
              <a:t>依賴性</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切割，可能減輕</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對凋亡訊號的抑制。</a:t>
            </a:r>
            <a:endParaRPr lang="en-US" altLang="zh-TW" sz="1600" b="0" i="0" u="none" kern="1200" dirty="0">
              <a:solidFill>
                <a:srgbClr val="1F1F1F"/>
              </a:solidFill>
              <a:effectLst/>
              <a:latin typeface="+mn-lt"/>
              <a:ea typeface="+mn-ea"/>
              <a:cs typeface="+mn-cs"/>
            </a:endParaRPr>
          </a:p>
          <a:p>
            <a:pPr marL="0" indent="0">
              <a:buNone/>
            </a:pPr>
            <a:endParaRPr lang="en-US" altLang="zh-TW" sz="1600" b="0" i="0" u="none" kern="1200" dirty="0">
              <a:solidFill>
                <a:srgbClr val="1F1F1F"/>
              </a:solidFill>
              <a:effectLst/>
              <a:latin typeface="+mn-lt"/>
              <a:ea typeface="+mn-ea"/>
              <a:cs typeface="+mn-cs"/>
            </a:endParaRPr>
          </a:p>
          <a:p>
            <a:pPr marL="0" indent="0">
              <a:buNone/>
            </a:pPr>
            <a:r>
              <a:rPr lang="zh-TW" altLang="en-US" sz="1600" b="0" i="0" u="none" kern="1200" dirty="0">
                <a:solidFill>
                  <a:srgbClr val="1F1F1F"/>
                </a:solidFill>
                <a:effectLst/>
                <a:latin typeface="+mn-lt"/>
                <a:ea typeface="+mn-ea"/>
                <a:cs typeface="+mn-cs"/>
              </a:rPr>
              <a:t>考慮到全長</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在</a:t>
            </a:r>
            <a:r>
              <a:rPr lang="en-US" altLang="zh-TW" sz="1600" b="0" i="0" u="none" kern="1200" dirty="0">
                <a:solidFill>
                  <a:srgbClr val="1F1F1F"/>
                </a:solidFill>
                <a:effectLst/>
                <a:latin typeface="+mn-lt"/>
                <a:ea typeface="+mn-ea"/>
                <a:cs typeface="+mn-cs"/>
              </a:rPr>
              <a:t>TRAIL-R2</a:t>
            </a:r>
            <a:r>
              <a:rPr lang="zh-TW" altLang="en-US" sz="1600" b="0" i="0" u="none" kern="1200" dirty="0">
                <a:solidFill>
                  <a:srgbClr val="1F1F1F"/>
                </a:solidFill>
                <a:effectLst/>
                <a:latin typeface="+mn-lt"/>
                <a:ea typeface="+mn-ea"/>
                <a:cs typeface="+mn-cs"/>
              </a:rPr>
              <a:t>活化後會被消耗，我們檢測了</a:t>
            </a:r>
            <a:r>
              <a:rPr lang="en-US" altLang="zh-TW" sz="1600" b="0" i="0" u="none" kern="1200" dirty="0">
                <a:solidFill>
                  <a:srgbClr val="1F1F1F"/>
                </a:solidFill>
                <a:effectLst/>
                <a:latin typeface="+mn-lt"/>
                <a:ea typeface="+mn-ea"/>
                <a:cs typeface="+mn-cs"/>
              </a:rPr>
              <a:t>GSK3</a:t>
            </a:r>
            <a:r>
              <a:rPr lang="el-GR" altLang="zh-TW" sz="1600" b="0" i="0" u="none" kern="1200" dirty="0">
                <a:solidFill>
                  <a:srgbClr val="1F1F1F"/>
                </a:solidFill>
                <a:effectLst/>
                <a:latin typeface="+mn-lt"/>
                <a:ea typeface="+mn-ea"/>
                <a:cs typeface="+mn-cs"/>
              </a:rPr>
              <a:t>β - </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複合物的動態。我們用</a:t>
            </a:r>
            <a:r>
              <a:rPr lang="en-US" altLang="zh-TW" sz="1600" b="0" i="0" u="none" kern="1200" dirty="0">
                <a:solidFill>
                  <a:srgbClr val="1F1F1F"/>
                </a:solidFill>
                <a:effectLst/>
                <a:latin typeface="+mn-lt"/>
                <a:ea typeface="+mn-ea"/>
                <a:cs typeface="+mn-cs"/>
              </a:rPr>
              <a:t>BAF</a:t>
            </a:r>
            <a:r>
              <a:rPr lang="zh-TW" altLang="en-US" sz="1600" b="0" i="0" u="none" kern="1200" dirty="0">
                <a:solidFill>
                  <a:srgbClr val="1F1F1F"/>
                </a:solidFill>
                <a:effectLst/>
                <a:latin typeface="+mn-lt"/>
                <a:ea typeface="+mn-ea"/>
                <a:cs typeface="+mn-cs"/>
              </a:rPr>
              <a:t>培養以阻斷細胞中</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的裂解，經</a:t>
            </a:r>
            <a:r>
              <a:rPr lang="en-US" altLang="zh-TW" sz="1600" b="0" i="0" u="none" kern="1200" dirty="0">
                <a:solidFill>
                  <a:srgbClr val="1F1F1F"/>
                </a:solidFill>
                <a:effectLst/>
                <a:latin typeface="+mn-lt"/>
                <a:ea typeface="+mn-ea"/>
                <a:cs typeface="+mn-cs"/>
              </a:rPr>
              <a:t>TRAIL-R2</a:t>
            </a:r>
            <a:r>
              <a:rPr lang="zh-TW" altLang="en-US" sz="1600" b="0" i="0" u="none" kern="1200" dirty="0">
                <a:solidFill>
                  <a:srgbClr val="1F1F1F"/>
                </a:solidFill>
                <a:effectLst/>
                <a:latin typeface="+mn-lt"/>
                <a:ea typeface="+mn-ea"/>
                <a:cs typeface="+mn-cs"/>
              </a:rPr>
              <a:t>刺激後，完整的</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仍然與</a:t>
            </a:r>
            <a:r>
              <a:rPr lang="en-US" altLang="zh-TW" sz="1600" b="0" i="0" u="none" kern="1200" dirty="0">
                <a:solidFill>
                  <a:srgbClr val="1F1F1F"/>
                </a:solidFill>
                <a:effectLst/>
                <a:latin typeface="+mn-lt"/>
                <a:ea typeface="+mn-ea"/>
                <a:cs typeface="+mn-cs"/>
              </a:rPr>
              <a:t>GSK3</a:t>
            </a:r>
            <a:r>
              <a:rPr lang="el-GR" altLang="zh-TW" sz="1600" b="0" i="0" u="none" kern="1200" dirty="0">
                <a:solidFill>
                  <a:srgbClr val="1F1F1F"/>
                </a:solidFill>
                <a:effectLst/>
                <a:latin typeface="+mn-lt"/>
                <a:ea typeface="+mn-ea"/>
                <a:cs typeface="+mn-cs"/>
              </a:rPr>
              <a:t>β</a:t>
            </a:r>
            <a:r>
              <a:rPr lang="zh-TW" altLang="en-US" sz="1600" b="0" i="0" u="none" kern="1200" dirty="0">
                <a:solidFill>
                  <a:srgbClr val="1F1F1F"/>
                </a:solidFill>
                <a:effectLst/>
                <a:latin typeface="+mn-lt"/>
                <a:ea typeface="+mn-ea"/>
                <a:cs typeface="+mn-cs"/>
              </a:rPr>
              <a:t>結合，並且額外的</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會和</a:t>
            </a:r>
            <a:r>
              <a:rPr lang="en-US" altLang="zh-TW" sz="1600" b="0" i="0" u="none" kern="1200" dirty="0">
                <a:solidFill>
                  <a:srgbClr val="1F1F1F"/>
                </a:solidFill>
                <a:effectLst/>
                <a:latin typeface="+mn-lt"/>
                <a:ea typeface="+mn-ea"/>
                <a:cs typeface="+mn-cs"/>
              </a:rPr>
              <a:t>GSK3</a:t>
            </a:r>
            <a:r>
              <a:rPr lang="el-GR" altLang="zh-TW" sz="1600" b="0" i="0" u="none" kern="1200" dirty="0">
                <a:solidFill>
                  <a:srgbClr val="1F1F1F"/>
                </a:solidFill>
                <a:effectLst/>
                <a:latin typeface="+mn-lt"/>
                <a:ea typeface="+mn-ea"/>
                <a:cs typeface="+mn-cs"/>
              </a:rPr>
              <a:t>β</a:t>
            </a:r>
            <a:r>
              <a:rPr lang="zh-TW" altLang="en-US" sz="1600" b="0" i="0" u="none" kern="1200" dirty="0">
                <a:solidFill>
                  <a:srgbClr val="1F1F1F"/>
                </a:solidFill>
                <a:effectLst/>
                <a:latin typeface="+mn-lt"/>
                <a:ea typeface="+mn-ea"/>
                <a:cs typeface="+mn-cs"/>
              </a:rPr>
              <a:t>結合</a:t>
            </a:r>
            <a:r>
              <a:rPr lang="el-GR" altLang="zh-TW" sz="1600" b="0" i="0" u="none" kern="1200" dirty="0">
                <a:solidFill>
                  <a:srgbClr val="1F1F1F"/>
                </a:solidFill>
                <a:effectLst/>
                <a:latin typeface="+mn-lt"/>
                <a:ea typeface="+mn-ea"/>
                <a:cs typeface="+mn-cs"/>
              </a:rPr>
              <a:t> </a:t>
            </a:r>
            <a:r>
              <a:rPr lang="zh-TW" altLang="el-GR" sz="1600" b="0" i="0" u="none" kern="1200" dirty="0">
                <a:solidFill>
                  <a:srgbClr val="1F1F1F"/>
                </a:solidFill>
                <a:effectLst/>
                <a:latin typeface="+mn-lt"/>
                <a:ea typeface="+mn-ea"/>
                <a:cs typeface="+mn-cs"/>
              </a:rPr>
              <a:t>（</a:t>
            </a:r>
            <a:r>
              <a:rPr lang="zh-TW" altLang="en-US" sz="1600" b="0" i="0" u="none" kern="1200" dirty="0">
                <a:solidFill>
                  <a:srgbClr val="1F1F1F"/>
                </a:solidFill>
                <a:effectLst/>
                <a:latin typeface="+mn-lt"/>
                <a:ea typeface="+mn-ea"/>
                <a:cs typeface="+mn-cs"/>
              </a:rPr>
              <a:t>圖</a:t>
            </a:r>
            <a:r>
              <a:rPr lang="en-US" altLang="zh-TW" sz="1600" b="0" i="0" u="none" kern="1200" dirty="0">
                <a:solidFill>
                  <a:srgbClr val="1F1F1F"/>
                </a:solidFill>
                <a:effectLst/>
                <a:latin typeface="+mn-lt"/>
                <a:ea typeface="+mn-ea"/>
                <a:cs typeface="+mn-cs"/>
              </a:rPr>
              <a:t>3f</a:t>
            </a:r>
            <a:r>
              <a:rPr lang="zh-TW" altLang="en-US" sz="1600" b="0" i="0" u="none" kern="1200" dirty="0">
                <a:solidFill>
                  <a:srgbClr val="1F1F1F"/>
                </a:solidFill>
                <a:effectLst/>
                <a:latin typeface="+mn-lt"/>
                <a:ea typeface="+mn-ea"/>
                <a:cs typeface="+mn-cs"/>
              </a:rPr>
              <a:t>）。</a:t>
            </a:r>
            <a:endParaRPr lang="en-US" altLang="zh-TW" sz="1600" b="0" i="0" u="none" kern="1200" dirty="0">
              <a:solidFill>
                <a:srgbClr val="1F1F1F"/>
              </a:solidFill>
              <a:effectLst/>
              <a:latin typeface="+mn-lt"/>
              <a:ea typeface="+mn-ea"/>
              <a:cs typeface="+mn-cs"/>
            </a:endParaRPr>
          </a:p>
          <a:p>
            <a:pPr marL="0" indent="0">
              <a:buNone/>
            </a:pPr>
            <a:r>
              <a:rPr lang="zh-TW" altLang="en-US" sz="1600" b="0" i="0" u="none" kern="1200" dirty="0">
                <a:solidFill>
                  <a:srgbClr val="1F1F1F"/>
                </a:solidFill>
                <a:effectLst/>
                <a:latin typeface="+mn-lt"/>
                <a:ea typeface="+mn-ea"/>
                <a:cs typeface="+mn-cs"/>
              </a:rPr>
              <a:t>因此可以得出，抗凋亡蛋白</a:t>
            </a:r>
            <a:r>
              <a:rPr lang="en-US" altLang="zh-TW" sz="1600" b="0" i="0" u="none" kern="1200" dirty="0">
                <a:solidFill>
                  <a:srgbClr val="1F1F1F"/>
                </a:solidFill>
                <a:effectLst/>
                <a:latin typeface="+mn-lt"/>
                <a:ea typeface="+mn-ea"/>
                <a:cs typeface="+mn-cs"/>
              </a:rPr>
              <a:t>GSK3</a:t>
            </a:r>
            <a:r>
              <a:rPr lang="zh-TW" altLang="en-US" sz="1600" b="0" i="0" u="none" kern="1200" dirty="0">
                <a:solidFill>
                  <a:srgbClr val="1F1F1F"/>
                </a:solidFill>
                <a:effectLst/>
                <a:latin typeface="+mn-lt"/>
                <a:ea typeface="+mn-ea"/>
                <a:cs typeface="+mn-cs"/>
              </a:rPr>
              <a:t>和</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結合形成一個蛋白複合物，</a:t>
            </a:r>
            <a:r>
              <a:rPr lang="en-US" altLang="zh-TW" sz="1600" b="0" i="0" u="none" kern="1200" dirty="0">
                <a:solidFill>
                  <a:srgbClr val="1F1F1F"/>
                </a:solidFill>
                <a:effectLst/>
                <a:latin typeface="+mn-lt"/>
                <a:ea typeface="+mn-ea"/>
                <a:cs typeface="+mn-cs"/>
              </a:rPr>
              <a:t>TRAIL-R2</a:t>
            </a:r>
            <a:r>
              <a:rPr lang="zh-TW" altLang="en-US" sz="1600" b="0" i="0" u="none" kern="1200" dirty="0">
                <a:solidFill>
                  <a:srgbClr val="1F1F1F"/>
                </a:solidFill>
                <a:effectLst/>
                <a:latin typeface="+mn-lt"/>
                <a:ea typeface="+mn-ea"/>
                <a:cs typeface="+mn-cs"/>
              </a:rPr>
              <a:t>刺激會將</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募集到</a:t>
            </a:r>
            <a:r>
              <a:rPr lang="en-US" altLang="zh-TW" sz="1600" b="0" i="0" u="none" kern="1200" dirty="0">
                <a:solidFill>
                  <a:srgbClr val="1F1F1F"/>
                </a:solidFill>
                <a:effectLst/>
                <a:latin typeface="+mn-lt"/>
                <a:ea typeface="+mn-ea"/>
                <a:cs typeface="+mn-cs"/>
              </a:rPr>
              <a:t>GSK3</a:t>
            </a:r>
            <a:r>
              <a:rPr lang="el-GR" altLang="zh-TW" sz="1600" b="0" i="0" u="none" kern="1200" dirty="0">
                <a:solidFill>
                  <a:srgbClr val="1F1F1F"/>
                </a:solidFill>
                <a:effectLst/>
                <a:latin typeface="+mn-lt"/>
                <a:ea typeface="+mn-ea"/>
                <a:cs typeface="+mn-cs"/>
              </a:rPr>
              <a:t>β - </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複合物中，並且在死亡受體活化後，</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被</a:t>
            </a:r>
            <a:r>
              <a:rPr lang="en-US" altLang="zh-TW" sz="1600" b="0" i="0" u="none" kern="1200" dirty="0">
                <a:solidFill>
                  <a:srgbClr val="1F1F1F"/>
                </a:solidFill>
                <a:effectLst/>
                <a:latin typeface="+mn-lt"/>
                <a:ea typeface="+mn-ea"/>
                <a:cs typeface="+mn-cs"/>
              </a:rPr>
              <a:t>caspase</a:t>
            </a:r>
            <a:r>
              <a:rPr lang="zh-TW" altLang="en-US" sz="1600" b="0" i="0" u="none" kern="1200" dirty="0">
                <a:solidFill>
                  <a:srgbClr val="1F1F1F"/>
                </a:solidFill>
                <a:effectLst/>
                <a:latin typeface="+mn-lt"/>
                <a:ea typeface="+mn-ea"/>
                <a:cs typeface="+mn-cs"/>
              </a:rPr>
              <a:t>裂解，導致全長</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被消耗。</a:t>
            </a:r>
            <a:endParaRPr lang="en-US" altLang="zh-TW" sz="1600" b="0" i="0" u="none" kern="1200" dirty="0">
              <a:solidFill>
                <a:srgbClr val="1F1F1F"/>
              </a:solidFill>
              <a:effectLst/>
              <a:latin typeface="+mn-lt"/>
              <a:ea typeface="+mn-ea"/>
              <a:cs typeface="+mn-cs"/>
            </a:endParaRPr>
          </a:p>
          <a:p>
            <a:pPr marL="0" indent="0">
              <a:buNone/>
            </a:pPr>
            <a:endParaRPr lang="en-US" altLang="zh-TW" sz="1600" b="0" i="0" u="none" kern="1200" dirty="0">
              <a:solidFill>
                <a:srgbClr val="1F1F1F"/>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接著他們想找出</a:t>
            </a:r>
            <a:r>
              <a:rPr lang="en" altLang="zh-TW" dirty="0"/>
              <a:t>DDX3 </a:t>
            </a:r>
            <a:r>
              <a:rPr lang="zh-TW" altLang="en-US" dirty="0"/>
              <a:t>與 </a:t>
            </a:r>
            <a:r>
              <a:rPr lang="en" altLang="zh-TW" dirty="0"/>
              <a:t>GSK3</a:t>
            </a:r>
            <a:r>
              <a:rPr lang="el-GR" altLang="zh-TW" dirty="0"/>
              <a:t>β </a:t>
            </a:r>
            <a:r>
              <a:rPr lang="zh-TW" altLang="en-US" dirty="0"/>
              <a:t>結合的區域</a:t>
            </a:r>
            <a:endParaRPr lang="en-US" altLang="zh-TW" sz="1600" b="0" i="0" u="none" kern="1200" dirty="0">
              <a:solidFill>
                <a:srgbClr val="1F1F1F"/>
              </a:solidFill>
              <a:effectLst/>
              <a:latin typeface="+mn-lt"/>
              <a:ea typeface="+mn-ea"/>
              <a:cs typeface="+mn-cs"/>
            </a:endParaRPr>
          </a:p>
          <a:p>
            <a:pPr marL="0" indent="0">
              <a:buNone/>
            </a:pPr>
            <a:endParaRPr lang="en-US" altLang="zh-TW" sz="1600" b="0" i="0" u="none" kern="1200" dirty="0">
              <a:solidFill>
                <a:srgbClr val="1F1F1F"/>
              </a:solidFill>
              <a:effectLst/>
              <a:latin typeface="+mn-lt"/>
              <a:ea typeface="+mn-ea"/>
              <a:cs typeface="+mn-cs"/>
            </a:endParaRPr>
          </a:p>
          <a:p>
            <a:pPr algn="l">
              <a:spcAft>
                <a:spcPts val="1800"/>
              </a:spcAft>
            </a:pPr>
            <a:r>
              <a:rPr lang="zh-TW" altLang="en-US" b="0" i="0" dirty="0">
                <a:solidFill>
                  <a:srgbClr val="222222"/>
                </a:solidFill>
                <a:effectLst/>
                <a:latin typeface="-apple-system"/>
              </a:rPr>
              <a:t>圖</a:t>
            </a:r>
            <a:r>
              <a:rPr lang="en-US" altLang="zh-TW" b="0" i="0" dirty="0">
                <a:solidFill>
                  <a:srgbClr val="222222"/>
                </a:solidFill>
                <a:effectLst/>
                <a:latin typeface="-apple-system"/>
              </a:rPr>
              <a:t>3</a:t>
            </a:r>
            <a:r>
              <a:rPr lang="en" altLang="zh-TW" b="0" i="0" dirty="0">
                <a:solidFill>
                  <a:srgbClr val="222222"/>
                </a:solidFill>
                <a:effectLst/>
                <a:latin typeface="-apple-system"/>
              </a:rPr>
              <a:t>g</a:t>
            </a:r>
            <a:r>
              <a:rPr lang="zh-TW" altLang="en-US" b="0" i="0" dirty="0">
                <a:solidFill>
                  <a:srgbClr val="222222"/>
                </a:solidFill>
                <a:effectLst/>
                <a:latin typeface="-apple-system"/>
              </a:rPr>
              <a:t>：接著透過在</a:t>
            </a:r>
            <a:r>
              <a:rPr lang="en" altLang="zh-TW" b="0" i="0" dirty="0">
                <a:solidFill>
                  <a:srgbClr val="222222"/>
                </a:solidFill>
                <a:effectLst/>
                <a:latin typeface="-apple-system"/>
              </a:rPr>
              <a:t>NIH3T3</a:t>
            </a:r>
            <a:r>
              <a:rPr lang="zh-TW" altLang="en-US" b="0" i="0" dirty="0">
                <a:solidFill>
                  <a:srgbClr val="222222"/>
                </a:solidFill>
                <a:effectLst/>
                <a:latin typeface="-apple-system"/>
              </a:rPr>
              <a:t>細胞中表達</a:t>
            </a:r>
            <a:r>
              <a:rPr lang="en" altLang="zh-TW" b="0" i="0" dirty="0">
                <a:solidFill>
                  <a:srgbClr val="222222"/>
                </a:solidFill>
                <a:effectLst/>
                <a:latin typeface="-apple-system"/>
              </a:rPr>
              <a:t>DDX3</a:t>
            </a:r>
            <a:r>
              <a:rPr lang="zh-TW" altLang="en-US" b="0" i="0" dirty="0">
                <a:solidFill>
                  <a:srgbClr val="222222"/>
                </a:solidFill>
                <a:effectLst/>
                <a:latin typeface="-apple-system"/>
              </a:rPr>
              <a:t>的截短突變體，然後進行免疫共沉澱，檢查了</a:t>
            </a:r>
            <a:r>
              <a:rPr lang="en" altLang="zh-TW" b="0" i="0" dirty="0">
                <a:solidFill>
                  <a:srgbClr val="222222"/>
                </a:solidFill>
                <a:effectLst/>
                <a:latin typeface="-apple-system"/>
              </a:rPr>
              <a:t>DDX3</a:t>
            </a:r>
            <a:r>
              <a:rPr lang="zh-TW" altLang="en-US" b="0" i="0" dirty="0">
                <a:solidFill>
                  <a:srgbClr val="222222"/>
                </a:solidFill>
                <a:effectLst/>
                <a:latin typeface="-apple-system"/>
              </a:rPr>
              <a:t>與</a:t>
            </a:r>
            <a:r>
              <a:rPr lang="en" altLang="zh-TW" b="0" i="0" dirty="0">
                <a:solidFill>
                  <a:srgbClr val="222222"/>
                </a:solidFill>
                <a:effectLst/>
                <a:latin typeface="-apple-system"/>
              </a:rPr>
              <a:t>GSK3</a:t>
            </a:r>
            <a:r>
              <a:rPr lang="zh-TW" altLang="en-US" b="0" i="0" dirty="0">
                <a:solidFill>
                  <a:srgbClr val="222222"/>
                </a:solidFill>
                <a:effectLst/>
                <a:latin typeface="-apple-system"/>
              </a:rPr>
              <a:t>結合的區域</a:t>
            </a:r>
            <a:r>
              <a:rPr lang="zh-TW" altLang="en" b="0" i="0" dirty="0">
                <a:solidFill>
                  <a:srgbClr val="222222"/>
                </a:solidFill>
                <a:effectLst/>
                <a:latin typeface="-apple-system"/>
              </a:rPr>
              <a:t>。</a:t>
            </a:r>
            <a:r>
              <a:rPr lang="en-US" altLang="zh-TW" b="0" i="0" dirty="0">
                <a:solidFill>
                  <a:srgbClr val="222222"/>
                </a:solidFill>
                <a:effectLst/>
                <a:latin typeface="-apple-system"/>
              </a:rPr>
              <a:t>Co-IP </a:t>
            </a:r>
            <a:r>
              <a:rPr lang="en" altLang="zh-TW" dirty="0"/>
              <a:t>GSK3</a:t>
            </a:r>
            <a:r>
              <a:rPr lang="el-GR" altLang="zh-TW" dirty="0"/>
              <a:t>β</a:t>
            </a:r>
            <a:r>
              <a:rPr lang="zh-TW" altLang="el-GR" dirty="0"/>
              <a:t>，</a:t>
            </a:r>
            <a:r>
              <a:rPr lang="zh-TW" altLang="en-US" dirty="0"/>
              <a:t>可以看到 </a:t>
            </a:r>
            <a:r>
              <a:rPr lang="en" altLang="zh-TW" dirty="0"/>
              <a:t>FL </a:t>
            </a:r>
            <a:r>
              <a:rPr lang="zh-TW" altLang="en-US" dirty="0"/>
              <a:t>和 </a:t>
            </a:r>
            <a:r>
              <a:rPr lang="en" altLang="zh-TW" dirty="0"/>
              <a:t>ND2 </a:t>
            </a:r>
            <a:r>
              <a:rPr lang="zh-TW" altLang="en-US" dirty="0"/>
              <a:t>都能被 </a:t>
            </a:r>
            <a:r>
              <a:rPr lang="en" altLang="zh-TW" dirty="0"/>
              <a:t>pull-down</a:t>
            </a:r>
            <a:r>
              <a:rPr lang="zh-TW" altLang="en" dirty="0"/>
              <a:t>，</a:t>
            </a:r>
            <a:r>
              <a:rPr lang="zh-TW" altLang="en-US" dirty="0"/>
              <a:t>代表 </a:t>
            </a:r>
            <a:r>
              <a:rPr lang="en" altLang="zh-TW" b="1" dirty="0"/>
              <a:t>DDX3-FL </a:t>
            </a:r>
            <a:r>
              <a:rPr lang="zh-TW" altLang="en-US" b="1" dirty="0"/>
              <a:t>和 </a:t>
            </a:r>
            <a:r>
              <a:rPr lang="en" altLang="zh-TW" b="1" dirty="0"/>
              <a:t>ND2 </a:t>
            </a:r>
            <a:r>
              <a:rPr lang="zh-TW" altLang="en-US" b="1" dirty="0"/>
              <a:t>都可以和 </a:t>
            </a:r>
            <a:r>
              <a:rPr lang="en" altLang="zh-TW" b="1" dirty="0"/>
              <a:t>GSK3</a:t>
            </a:r>
            <a:r>
              <a:rPr lang="el-GR" altLang="zh-TW" b="1" dirty="0"/>
              <a:t>β </a:t>
            </a:r>
            <a:r>
              <a:rPr lang="zh-TW" altLang="en-US" b="1" dirty="0"/>
              <a:t>結合</a:t>
            </a:r>
            <a:r>
              <a:rPr lang="zh-TW" altLang="en-US" dirty="0"/>
              <a:t>。</a:t>
            </a:r>
            <a:endParaRPr lang="en-US" altLang="zh-TW" b="0" i="0" dirty="0">
              <a:solidFill>
                <a:srgbClr val="222222"/>
              </a:solidFill>
              <a:effectLst/>
              <a:latin typeface="-apple-system"/>
            </a:endParaRPr>
          </a:p>
          <a:p>
            <a:pPr algn="l">
              <a:spcAft>
                <a:spcPts val="1800"/>
              </a:spcAft>
            </a:pPr>
            <a:r>
              <a:rPr lang="en" altLang="zh-TW" dirty="0"/>
              <a:t>CD2</a:t>
            </a:r>
            <a:r>
              <a:rPr lang="zh-TW" altLang="en" dirty="0"/>
              <a:t>、</a:t>
            </a:r>
            <a:r>
              <a:rPr lang="en" altLang="zh-TW" dirty="0"/>
              <a:t>CD3</a:t>
            </a:r>
            <a:r>
              <a:rPr lang="zh-TW" altLang="en" dirty="0"/>
              <a:t>、</a:t>
            </a:r>
            <a:r>
              <a:rPr lang="en" altLang="zh-TW" dirty="0"/>
              <a:t>CD4</a:t>
            </a:r>
            <a:r>
              <a:rPr lang="zh-TW" altLang="en-US" b="1" dirty="0"/>
              <a:t>都無法與 </a:t>
            </a:r>
            <a:r>
              <a:rPr lang="en" altLang="zh-TW" b="1" dirty="0"/>
              <a:t>GSK3</a:t>
            </a:r>
            <a:r>
              <a:rPr lang="el-GR" altLang="zh-TW" b="1" dirty="0"/>
              <a:t>β </a:t>
            </a:r>
            <a:r>
              <a:rPr lang="zh-TW" altLang="en-US" b="1" dirty="0"/>
              <a:t>結合</a:t>
            </a:r>
            <a:r>
              <a:rPr lang="zh-TW" altLang="en-US" dirty="0"/>
              <a:t>。</a:t>
            </a:r>
            <a:r>
              <a:rPr lang="zh-TW" altLang="en-US" b="0" i="0" dirty="0">
                <a:solidFill>
                  <a:srgbClr val="222222"/>
                </a:solidFill>
                <a:effectLst/>
                <a:latin typeface="-apple-system"/>
              </a:rPr>
              <a:t>因此研究團隊認為</a:t>
            </a:r>
            <a:r>
              <a:rPr lang="en" altLang="zh-TW" b="0" i="0" dirty="0">
                <a:solidFill>
                  <a:srgbClr val="222222"/>
                </a:solidFill>
                <a:effectLst/>
                <a:latin typeface="-apple-system"/>
              </a:rPr>
              <a:t>DDX3 C</a:t>
            </a:r>
            <a:r>
              <a:rPr lang="zh-TW" altLang="en-US" b="0" i="0" dirty="0">
                <a:solidFill>
                  <a:srgbClr val="222222"/>
                </a:solidFill>
                <a:effectLst/>
                <a:latin typeface="-apple-system"/>
              </a:rPr>
              <a:t>端的截短，會消除</a:t>
            </a:r>
            <a:r>
              <a:rPr lang="en" altLang="zh-TW" b="0" i="0" dirty="0">
                <a:solidFill>
                  <a:srgbClr val="222222"/>
                </a:solidFill>
                <a:effectLst/>
                <a:latin typeface="-apple-system"/>
              </a:rPr>
              <a:t>DDX3</a:t>
            </a:r>
            <a:r>
              <a:rPr lang="zh-TW" altLang="en-US" b="0" i="0" dirty="0">
                <a:solidFill>
                  <a:srgbClr val="222222"/>
                </a:solidFill>
                <a:effectLst/>
                <a:latin typeface="-apple-system"/>
              </a:rPr>
              <a:t>與</a:t>
            </a:r>
            <a:r>
              <a:rPr lang="en" altLang="zh-TW" b="0" i="0" dirty="0">
                <a:solidFill>
                  <a:srgbClr val="222222"/>
                </a:solidFill>
                <a:effectLst/>
                <a:latin typeface="-apple-system"/>
              </a:rPr>
              <a:t>GSK3 </a:t>
            </a:r>
            <a:r>
              <a:rPr lang="el-GR" altLang="zh-TW" b="0" i="1" dirty="0">
                <a:solidFill>
                  <a:srgbClr val="222222"/>
                </a:solidFill>
                <a:effectLst/>
                <a:latin typeface="-apple-system"/>
              </a:rPr>
              <a:t>β</a:t>
            </a:r>
            <a:r>
              <a:rPr lang="zh-TW" altLang="en-US" b="0" i="0" dirty="0">
                <a:solidFill>
                  <a:srgbClr val="222222"/>
                </a:solidFill>
                <a:effectLst/>
                <a:latin typeface="-apple-system"/>
              </a:rPr>
              <a:t>的結合，因此前面</a:t>
            </a:r>
            <a:r>
              <a:rPr lang="en-US" altLang="zh-TW" b="0" i="0" dirty="0">
                <a:solidFill>
                  <a:srgbClr val="222222"/>
                </a:solidFill>
                <a:effectLst/>
                <a:latin typeface="-apple-system"/>
              </a:rPr>
              <a:t>DDX3</a:t>
            </a:r>
            <a:r>
              <a:rPr lang="zh-TW" altLang="en-US" b="0" i="0" dirty="0">
                <a:solidFill>
                  <a:srgbClr val="222222"/>
                </a:solidFill>
                <a:effectLst/>
                <a:latin typeface="-apple-system"/>
              </a:rPr>
              <a:t>降解後還可以和</a:t>
            </a:r>
            <a:r>
              <a:rPr lang="en" altLang="zh-TW" dirty="0"/>
              <a:t>GSK3</a:t>
            </a:r>
            <a:r>
              <a:rPr lang="el-GR" altLang="zh-TW" dirty="0"/>
              <a:t>β</a:t>
            </a:r>
            <a:r>
              <a:rPr lang="zh-TW" altLang="en-US" dirty="0"/>
              <a:t>共免疫沈澱，是因為</a:t>
            </a:r>
            <a:r>
              <a:rPr lang="en-US" altLang="zh-TW" b="0" i="0" dirty="0">
                <a:solidFill>
                  <a:srgbClr val="222222"/>
                </a:solidFill>
                <a:effectLst/>
                <a:latin typeface="-apple-system"/>
              </a:rPr>
              <a:t>caspase</a:t>
            </a:r>
            <a:r>
              <a:rPr lang="zh-TW" altLang="en-US" b="0" i="0" dirty="0">
                <a:solidFill>
                  <a:srgbClr val="222222"/>
                </a:solidFill>
                <a:effectLst/>
                <a:latin typeface="-apple-system"/>
              </a:rPr>
              <a:t>是透過裂解</a:t>
            </a:r>
            <a:r>
              <a:rPr lang="en" altLang="zh-TW" b="0" i="0" dirty="0">
                <a:solidFill>
                  <a:srgbClr val="222222"/>
                </a:solidFill>
                <a:effectLst/>
                <a:latin typeface="-apple-system"/>
              </a:rPr>
              <a:t>DDX3</a:t>
            </a:r>
            <a:r>
              <a:rPr lang="zh-TW" altLang="en-US" b="0" i="0" dirty="0">
                <a:solidFill>
                  <a:srgbClr val="222222"/>
                </a:solidFill>
                <a:effectLst/>
                <a:latin typeface="-apple-system"/>
              </a:rPr>
              <a:t>的</a:t>
            </a:r>
            <a:r>
              <a:rPr lang="en" altLang="zh-TW" b="0" i="0" dirty="0">
                <a:solidFill>
                  <a:srgbClr val="222222"/>
                </a:solidFill>
                <a:effectLst/>
                <a:latin typeface="-apple-system"/>
              </a:rPr>
              <a:t>N</a:t>
            </a:r>
            <a:r>
              <a:rPr lang="zh-TW" altLang="en-US" b="0" i="0" dirty="0">
                <a:solidFill>
                  <a:srgbClr val="222222"/>
                </a:solidFill>
                <a:effectLst/>
                <a:latin typeface="-apple-system"/>
              </a:rPr>
              <a:t>端，從而使含有</a:t>
            </a:r>
            <a:r>
              <a:rPr lang="en" altLang="zh-TW" b="0" i="0" dirty="0">
                <a:solidFill>
                  <a:srgbClr val="222222"/>
                </a:solidFill>
                <a:effectLst/>
                <a:latin typeface="-apple-system"/>
              </a:rPr>
              <a:t>C</a:t>
            </a:r>
            <a:r>
              <a:rPr lang="zh-TW" altLang="en-US" b="0" i="0" dirty="0">
                <a:solidFill>
                  <a:srgbClr val="222222"/>
                </a:solidFill>
                <a:effectLst/>
                <a:latin typeface="-apple-system"/>
              </a:rPr>
              <a:t>端的</a:t>
            </a:r>
            <a:r>
              <a:rPr lang="en" altLang="zh-TW" b="0" i="0" dirty="0">
                <a:solidFill>
                  <a:srgbClr val="222222"/>
                </a:solidFill>
                <a:effectLst/>
                <a:latin typeface="-apple-system"/>
              </a:rPr>
              <a:t>DDX3</a:t>
            </a:r>
            <a:r>
              <a:rPr lang="zh-TW" altLang="en-US" b="0" i="0" dirty="0">
                <a:solidFill>
                  <a:srgbClr val="222222"/>
                </a:solidFill>
                <a:effectLst/>
                <a:latin typeface="-apple-system"/>
              </a:rPr>
              <a:t>片段能夠繼續與</a:t>
            </a:r>
            <a:r>
              <a:rPr lang="en" altLang="zh-TW" b="0" i="0" dirty="0">
                <a:solidFill>
                  <a:srgbClr val="222222"/>
                </a:solidFill>
                <a:effectLst/>
                <a:latin typeface="-apple-system"/>
              </a:rPr>
              <a:t>GSK3</a:t>
            </a:r>
            <a:r>
              <a:rPr lang="zh-TW" altLang="en-US" b="0" i="0" dirty="0">
                <a:solidFill>
                  <a:srgbClr val="222222"/>
                </a:solidFill>
                <a:effectLst/>
                <a:latin typeface="-apple-system"/>
              </a:rPr>
              <a:t>結合。</a:t>
            </a:r>
          </a:p>
          <a:p>
            <a:br>
              <a:rPr lang="zh-TW" altLang="en-US" dirty="0"/>
            </a:br>
            <a:endParaRPr lang="en-US" altLang="zh-TW" sz="1600" b="0" i="0" u="none" kern="1200" dirty="0">
              <a:solidFill>
                <a:srgbClr val="1F1F1F"/>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6AEDE13A-8779-B850-EE87-0E6D683D3AFF}"/>
              </a:ext>
            </a:extLst>
          </p:cNvPr>
          <p:cNvSpPr>
            <a:spLocks noGrp="1"/>
          </p:cNvSpPr>
          <p:nvPr>
            <p:ph type="sldNum" sz="quarter" idx="5"/>
          </p:nvPr>
        </p:nvSpPr>
        <p:spPr/>
        <p:txBody>
          <a:bodyPr/>
          <a:lstStyle/>
          <a:p>
            <a:fld id="{61CA63BF-C9DC-9844-BCA0-064E1D9BA987}" type="slidenum">
              <a:rPr kumimoji="1" lang="zh-TW" altLang="en-US" smtClean="0"/>
              <a:t>21</a:t>
            </a:fld>
            <a:endParaRPr kumimoji="1" lang="zh-TW" altLang="en-US"/>
          </a:p>
        </p:txBody>
      </p:sp>
    </p:spTree>
    <p:extLst>
      <p:ext uri="{BB962C8B-B14F-4D97-AF65-F5344CB8AC3E}">
        <p14:creationId xmlns:p14="http://schemas.microsoft.com/office/powerpoint/2010/main" val="28221499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9281D-1CC7-D336-8355-AEEEEA44A8D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8582FAE-DF39-B79A-D77C-B8186F6CCF0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4ED0645-B453-BD0D-927A-B1A170D9946E}"/>
              </a:ext>
            </a:extLst>
          </p:cNvPr>
          <p:cNvSpPr>
            <a:spLocks noGrp="1"/>
          </p:cNvSpPr>
          <p:nvPr>
            <p:ph type="body" idx="1"/>
          </p:nvPr>
        </p:nvSpPr>
        <p:spPr/>
        <p:txBody>
          <a:bodyPr/>
          <a:lstStyle/>
          <a:p>
            <a:pPr marL="0" indent="0">
              <a:buNone/>
            </a:pPr>
            <a:r>
              <a:rPr lang="zh-TW" altLang="en-US" sz="1600" b="0" i="0" u="none" kern="1200" dirty="0">
                <a:solidFill>
                  <a:srgbClr val="1F1F1F"/>
                </a:solidFill>
                <a:effectLst/>
                <a:latin typeface="+mn-lt"/>
                <a:ea typeface="+mn-ea"/>
                <a:cs typeface="+mn-cs"/>
              </a:rPr>
              <a:t>證明</a:t>
            </a:r>
            <a:r>
              <a:rPr lang="en-US" altLang="zh-TW" sz="1600" b="0" i="0" u="none" kern="1200" dirty="0">
                <a:solidFill>
                  <a:srgbClr val="1F1F1F"/>
                </a:solidFill>
                <a:effectLst/>
                <a:latin typeface="+mn-lt"/>
                <a:ea typeface="+mn-ea"/>
                <a:cs typeface="+mn-cs"/>
              </a:rPr>
              <a:t>DDX3</a:t>
            </a:r>
            <a:r>
              <a:rPr lang="zh-TW" altLang="en-US" sz="1600" b="0" i="0" u="none" kern="1200" dirty="0">
                <a:solidFill>
                  <a:srgbClr val="1F1F1F"/>
                </a:solidFill>
                <a:effectLst/>
                <a:latin typeface="+mn-lt"/>
                <a:ea typeface="+mn-ea"/>
                <a:cs typeface="+mn-cs"/>
              </a:rPr>
              <a:t>可以和</a:t>
            </a:r>
            <a:r>
              <a:rPr lang="en-US" altLang="zh-TW" sz="1600" b="0" i="0" u="none" kern="1200" dirty="0">
                <a:solidFill>
                  <a:srgbClr val="1F1F1F"/>
                </a:solidFill>
                <a:effectLst/>
                <a:latin typeface="+mn-lt"/>
                <a:ea typeface="+mn-ea"/>
                <a:cs typeface="+mn-cs"/>
              </a:rPr>
              <a:t>GSK3</a:t>
            </a:r>
            <a:r>
              <a:rPr lang="zh-TW" altLang="en-US" sz="1600" b="0" i="0" u="none" kern="1200" dirty="0">
                <a:solidFill>
                  <a:srgbClr val="1F1F1F"/>
                </a:solidFill>
                <a:effectLst/>
                <a:latin typeface="+mn-lt"/>
                <a:ea typeface="+mn-ea"/>
                <a:cs typeface="+mn-cs"/>
              </a:rPr>
              <a:t>結合作用，但</a:t>
            </a:r>
            <a:r>
              <a:rPr lang="en" altLang="zh-TW" dirty="0"/>
              <a:t>TRAIL-R2 </a:t>
            </a:r>
            <a:r>
              <a:rPr lang="zh-TW" altLang="en-US" dirty="0"/>
              <a:t>活化會經由 </a:t>
            </a:r>
            <a:r>
              <a:rPr lang="en-US" altLang="zh-TW" b="0" i="0" dirty="0">
                <a:solidFill>
                  <a:srgbClr val="222222"/>
                </a:solidFill>
                <a:effectLst/>
                <a:latin typeface="-apple-system"/>
              </a:rPr>
              <a:t>caspase</a:t>
            </a:r>
            <a:r>
              <a:rPr lang="zh-TW" altLang="en-US" b="0" i="0" dirty="0">
                <a:solidFill>
                  <a:srgbClr val="222222"/>
                </a:solidFill>
                <a:effectLst/>
                <a:latin typeface="-apple-system"/>
              </a:rPr>
              <a:t>裂解</a:t>
            </a:r>
            <a:r>
              <a:rPr lang="en" altLang="zh-TW" b="0" i="0" dirty="0">
                <a:solidFill>
                  <a:srgbClr val="222222"/>
                </a:solidFill>
                <a:effectLst/>
                <a:latin typeface="-apple-system"/>
              </a:rPr>
              <a:t>DDX3</a:t>
            </a:r>
            <a:r>
              <a:rPr lang="zh-TW" altLang="en-US" b="0" i="0" dirty="0">
                <a:solidFill>
                  <a:srgbClr val="222222"/>
                </a:solidFill>
                <a:effectLst/>
                <a:latin typeface="-apple-system"/>
              </a:rPr>
              <a:t>的</a:t>
            </a:r>
            <a:r>
              <a:rPr lang="en" altLang="zh-TW" b="0" i="0" dirty="0">
                <a:solidFill>
                  <a:srgbClr val="222222"/>
                </a:solidFill>
                <a:effectLst/>
                <a:latin typeface="-apple-system"/>
              </a:rPr>
              <a:t>N</a:t>
            </a:r>
            <a:r>
              <a:rPr lang="zh-TW" altLang="en-US" b="0" i="0" dirty="0">
                <a:solidFill>
                  <a:srgbClr val="222222"/>
                </a:solidFill>
                <a:effectLst/>
                <a:latin typeface="-apple-system"/>
              </a:rPr>
              <a:t>端，從而使含有</a:t>
            </a:r>
            <a:r>
              <a:rPr lang="en" altLang="zh-TW" b="0" i="0" dirty="0">
                <a:solidFill>
                  <a:srgbClr val="222222"/>
                </a:solidFill>
                <a:effectLst/>
                <a:latin typeface="-apple-system"/>
              </a:rPr>
              <a:t>C</a:t>
            </a:r>
            <a:r>
              <a:rPr lang="zh-TW" altLang="en-US" b="0" i="0" dirty="0">
                <a:solidFill>
                  <a:srgbClr val="222222"/>
                </a:solidFill>
                <a:effectLst/>
                <a:latin typeface="-apple-system"/>
              </a:rPr>
              <a:t>端的</a:t>
            </a:r>
            <a:r>
              <a:rPr lang="en" altLang="zh-TW" b="0" i="0" dirty="0">
                <a:solidFill>
                  <a:srgbClr val="222222"/>
                </a:solidFill>
                <a:effectLst/>
                <a:latin typeface="-apple-system"/>
              </a:rPr>
              <a:t>DDX3</a:t>
            </a:r>
            <a:r>
              <a:rPr lang="zh-TW" altLang="en-US" b="0" i="0" dirty="0">
                <a:solidFill>
                  <a:srgbClr val="222222"/>
                </a:solidFill>
                <a:effectLst/>
                <a:latin typeface="-apple-system"/>
              </a:rPr>
              <a:t>片段能夠繼續與</a:t>
            </a:r>
            <a:r>
              <a:rPr lang="en" altLang="zh-TW" b="0" i="0" dirty="0">
                <a:solidFill>
                  <a:srgbClr val="222222"/>
                </a:solidFill>
                <a:effectLst/>
                <a:latin typeface="-apple-system"/>
              </a:rPr>
              <a:t>GSK3</a:t>
            </a:r>
            <a:r>
              <a:rPr lang="zh-TW" altLang="en-US" b="0" i="0">
                <a:solidFill>
                  <a:srgbClr val="222222"/>
                </a:solidFill>
                <a:effectLst/>
                <a:latin typeface="-apple-system"/>
              </a:rPr>
              <a:t>結合。</a:t>
            </a:r>
            <a:endParaRPr lang="en-US" altLang="zh-TW" sz="1600" b="0" i="0" u="none" kern="1200" dirty="0">
              <a:solidFill>
                <a:srgbClr val="1F1F1F"/>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2564484A-1BF8-9E55-A61D-57EFA49FECC5}"/>
              </a:ext>
            </a:extLst>
          </p:cNvPr>
          <p:cNvSpPr>
            <a:spLocks noGrp="1"/>
          </p:cNvSpPr>
          <p:nvPr>
            <p:ph type="sldNum" sz="quarter" idx="5"/>
          </p:nvPr>
        </p:nvSpPr>
        <p:spPr/>
        <p:txBody>
          <a:bodyPr/>
          <a:lstStyle/>
          <a:p>
            <a:fld id="{61CA63BF-C9DC-9844-BCA0-064E1D9BA987}" type="slidenum">
              <a:rPr kumimoji="1" lang="zh-TW" altLang="en-US" smtClean="0"/>
              <a:t>22</a:t>
            </a:fld>
            <a:endParaRPr kumimoji="1" lang="zh-TW" altLang="en-US"/>
          </a:p>
        </p:txBody>
      </p:sp>
    </p:spTree>
    <p:extLst>
      <p:ext uri="{BB962C8B-B14F-4D97-AF65-F5344CB8AC3E}">
        <p14:creationId xmlns:p14="http://schemas.microsoft.com/office/powerpoint/2010/main" val="3571285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CD7E1-1066-3333-8975-648500105C4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F73234B-1322-371C-5B88-EF6D8259461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15BC674-1E59-0ED2-CC2D-1DA12BB73D40}"/>
              </a:ext>
            </a:extLst>
          </p:cNvPr>
          <p:cNvSpPr>
            <a:spLocks noGrp="1"/>
          </p:cNvSpPr>
          <p:nvPr>
            <p:ph type="body" idx="1"/>
          </p:nvPr>
        </p:nvSpPr>
        <p:spPr/>
        <p:txBody>
          <a:bodyPr/>
          <a:lstStyle/>
          <a:p>
            <a:pPr marL="0" indent="0">
              <a:buNone/>
            </a:pPr>
            <a:r>
              <a:rPr lang="zh-TW" altLang="en-US" b="0" i="0" dirty="0">
                <a:solidFill>
                  <a:srgbClr val="222222"/>
                </a:solidFill>
                <a:effectLst/>
                <a:latin typeface="-apple-system"/>
              </a:rPr>
              <a:t>並且後續的研究中更進一步證明，</a:t>
            </a:r>
            <a:r>
              <a:rPr lang="en" altLang="zh-TW" b="0" i="0" dirty="0">
                <a:solidFill>
                  <a:srgbClr val="222222"/>
                </a:solidFill>
                <a:effectLst/>
                <a:latin typeface="-apple-system"/>
              </a:rPr>
              <a:t>GSK3 </a:t>
            </a:r>
            <a:r>
              <a:rPr lang="zh-TW" altLang="en-US" b="0" i="0" dirty="0">
                <a:solidFill>
                  <a:srgbClr val="222222"/>
                </a:solidFill>
                <a:effectLst/>
                <a:latin typeface="-apple-system"/>
              </a:rPr>
              <a:t>與 </a:t>
            </a:r>
            <a:r>
              <a:rPr lang="en" altLang="zh-TW" b="0" i="0" dirty="0">
                <a:solidFill>
                  <a:srgbClr val="222222"/>
                </a:solidFill>
                <a:effectLst/>
                <a:latin typeface="-apple-system"/>
              </a:rPr>
              <a:t>DDX3 </a:t>
            </a:r>
            <a:r>
              <a:rPr lang="zh-TW" altLang="en-US" b="0" i="0" dirty="0">
                <a:solidFill>
                  <a:srgbClr val="222222"/>
                </a:solidFill>
                <a:effectLst/>
                <a:latin typeface="-apple-system"/>
              </a:rPr>
              <a:t>和 </a:t>
            </a:r>
            <a:r>
              <a:rPr lang="en" altLang="zh-TW" b="0" i="0" dirty="0">
                <a:solidFill>
                  <a:srgbClr val="222222"/>
                </a:solidFill>
                <a:effectLst/>
                <a:latin typeface="-apple-system"/>
              </a:rPr>
              <a:t>cIAP-1 </a:t>
            </a:r>
            <a:r>
              <a:rPr lang="zh-TW" altLang="en-US" b="0" i="0" dirty="0">
                <a:solidFill>
                  <a:srgbClr val="222222"/>
                </a:solidFill>
                <a:effectLst/>
                <a:latin typeface="-apple-system"/>
              </a:rPr>
              <a:t>結合，在 </a:t>
            </a:r>
            <a:r>
              <a:rPr lang="en" altLang="zh-TW" b="0" i="0" dirty="0">
                <a:solidFill>
                  <a:srgbClr val="222222"/>
                </a:solidFill>
                <a:effectLst/>
                <a:latin typeface="-apple-system"/>
              </a:rPr>
              <a:t>TRAIL-R2 </a:t>
            </a:r>
            <a:r>
              <a:rPr lang="zh-TW" altLang="en-US" b="0" i="0" dirty="0">
                <a:solidFill>
                  <a:srgbClr val="222222"/>
                </a:solidFill>
                <a:effectLst/>
                <a:latin typeface="-apple-system"/>
              </a:rPr>
              <a:t>活化後，這些結合會被 </a:t>
            </a:r>
            <a:r>
              <a:rPr lang="en" altLang="zh-TW" b="0" i="0" dirty="0">
                <a:solidFill>
                  <a:srgbClr val="222222"/>
                </a:solidFill>
                <a:effectLst/>
                <a:latin typeface="-apple-system"/>
              </a:rPr>
              <a:t>GSK3 </a:t>
            </a:r>
            <a:r>
              <a:rPr lang="zh-TW" altLang="en-US" b="0" i="0" dirty="0">
                <a:solidFill>
                  <a:srgbClr val="222222"/>
                </a:solidFill>
                <a:effectLst/>
                <a:latin typeface="-apple-system"/>
              </a:rPr>
              <a:t>相關蛋白的裂解所破壞，但在抗凋亡細胞中，這些結合不會因 </a:t>
            </a:r>
            <a:r>
              <a:rPr lang="en" altLang="zh-TW" b="0" i="0" dirty="0">
                <a:solidFill>
                  <a:srgbClr val="222222"/>
                </a:solidFill>
                <a:effectLst/>
                <a:latin typeface="-apple-system"/>
              </a:rPr>
              <a:t>TRAIL-R2 </a:t>
            </a:r>
            <a:r>
              <a:rPr lang="zh-TW" altLang="en-US" b="0" i="0" dirty="0">
                <a:solidFill>
                  <a:srgbClr val="222222"/>
                </a:solidFill>
                <a:effectLst/>
                <a:latin typeface="-apple-system"/>
              </a:rPr>
              <a:t>刺激而改變。</a:t>
            </a:r>
            <a:endParaRPr lang="en-US" altLang="zh-TW" sz="1600" b="0" i="0" u="none" kern="1200" dirty="0">
              <a:solidFill>
                <a:srgbClr val="1F1F1F"/>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BC89F009-EA4F-5B80-EDC4-B073C89CE0B5}"/>
              </a:ext>
            </a:extLst>
          </p:cNvPr>
          <p:cNvSpPr>
            <a:spLocks noGrp="1"/>
          </p:cNvSpPr>
          <p:nvPr>
            <p:ph type="sldNum" sz="quarter" idx="5"/>
          </p:nvPr>
        </p:nvSpPr>
        <p:spPr/>
        <p:txBody>
          <a:bodyPr/>
          <a:lstStyle/>
          <a:p>
            <a:fld id="{61CA63BF-C9DC-9844-BCA0-064E1D9BA987}" type="slidenum">
              <a:rPr kumimoji="1" lang="zh-TW" altLang="en-US" smtClean="0"/>
              <a:t>23</a:t>
            </a:fld>
            <a:endParaRPr kumimoji="1" lang="zh-TW" altLang="en-US"/>
          </a:p>
        </p:txBody>
      </p:sp>
    </p:spTree>
    <p:extLst>
      <p:ext uri="{BB962C8B-B14F-4D97-AF65-F5344CB8AC3E}">
        <p14:creationId xmlns:p14="http://schemas.microsoft.com/office/powerpoint/2010/main" val="18004986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60FCC-C864-C88E-9790-B00CF94BB85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812F7C6-707F-7538-FAEA-ECC2F9A21DE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54D3071-20B2-68B6-991D-56CD043CD229}"/>
              </a:ext>
            </a:extLst>
          </p:cNvPr>
          <p:cNvSpPr>
            <a:spLocks noGrp="1"/>
          </p:cNvSpPr>
          <p:nvPr>
            <p:ph type="body" idx="1"/>
          </p:nvPr>
        </p:nvSpPr>
        <p:spPr/>
        <p:txBody>
          <a:bodyPr/>
          <a:lstStyle/>
          <a:p>
            <a:r>
              <a:rPr lang="zh-TW" altLang="en-US" b="0" i="0" dirty="0">
                <a:solidFill>
                  <a:srgbClr val="222222"/>
                </a:solidFill>
                <a:effectLst/>
                <a:latin typeface="-apple-system"/>
              </a:rPr>
              <a:t>近期推測，即</a:t>
            </a:r>
            <a:r>
              <a:rPr lang="en" altLang="zh-TW" b="0" i="0" dirty="0">
                <a:solidFill>
                  <a:srgbClr val="222222"/>
                </a:solidFill>
                <a:effectLst/>
                <a:latin typeface="-apple-system"/>
              </a:rPr>
              <a:t>DDX3</a:t>
            </a:r>
            <a:r>
              <a:rPr lang="zh-TW" altLang="en-US" b="0" i="0" dirty="0">
                <a:solidFill>
                  <a:srgbClr val="222222"/>
                </a:solidFill>
                <a:effectLst/>
                <a:latin typeface="-apple-system"/>
              </a:rPr>
              <a:t>可抑制</a:t>
            </a:r>
            <a:r>
              <a:rPr lang="en" altLang="zh-TW" b="0" i="0" dirty="0">
                <a:solidFill>
                  <a:srgbClr val="222222"/>
                </a:solidFill>
                <a:effectLst/>
                <a:latin typeface="-apple-system"/>
              </a:rPr>
              <a:t>TRAIL-R2</a:t>
            </a:r>
            <a:r>
              <a:rPr lang="zh-TW" altLang="en-US" b="0" i="0" dirty="0">
                <a:solidFill>
                  <a:srgbClr val="222222"/>
                </a:solidFill>
                <a:effectLst/>
                <a:latin typeface="-apple-system"/>
              </a:rPr>
              <a:t>刺激引起的凋亡訊號傳導，我們進行了敲低</a:t>
            </a:r>
            <a:r>
              <a:rPr lang="en" altLang="zh-TW" b="0" i="0" dirty="0">
                <a:solidFill>
                  <a:srgbClr val="222222"/>
                </a:solidFill>
                <a:effectLst/>
                <a:latin typeface="-apple-system"/>
              </a:rPr>
              <a:t>DDX3</a:t>
            </a:r>
            <a:r>
              <a:rPr lang="zh-TW" altLang="en-US" b="0" i="0" dirty="0">
                <a:solidFill>
                  <a:srgbClr val="222222"/>
                </a:solidFill>
                <a:effectLst/>
                <a:latin typeface="-apple-system"/>
              </a:rPr>
              <a:t>的實驗。 </a:t>
            </a:r>
            <a:r>
              <a:rPr lang="en-US" altLang="zh-TW" b="0" i="0" dirty="0">
                <a:solidFill>
                  <a:srgbClr val="222222"/>
                </a:solidFill>
                <a:effectLst/>
                <a:latin typeface="-apple-system"/>
              </a:rPr>
              <a:t>8 </a:t>
            </a:r>
            <a:r>
              <a:rPr lang="en" altLang="zh-TW" b="0" i="0" dirty="0">
                <a:solidFill>
                  <a:srgbClr val="222222"/>
                </a:solidFill>
                <a:effectLst/>
                <a:latin typeface="-apple-system"/>
              </a:rPr>
              <a:t>TRAIL-R2</a:t>
            </a:r>
            <a:r>
              <a:rPr lang="zh-TW" altLang="en" b="0" i="0" dirty="0">
                <a:solidFill>
                  <a:srgbClr val="222222"/>
                </a:solidFill>
                <a:effectLst/>
                <a:latin typeface="-apple-system"/>
              </a:rPr>
              <a:t>（</a:t>
            </a:r>
            <a:r>
              <a:rPr lang="zh-TW" altLang="en-US" b="0" i="0" dirty="0">
                <a:solidFill>
                  <a:srgbClr val="222222"/>
                </a:solidFill>
                <a:effectLst/>
                <a:latin typeface="-apple-system"/>
              </a:rPr>
              <a:t>圖</a:t>
            </a:r>
            <a:r>
              <a:rPr lang="en-US" altLang="zh-TW" b="0" i="0" dirty="0">
                <a:solidFill>
                  <a:srgbClr val="222222"/>
                </a:solidFill>
                <a:effectLst/>
                <a:latin typeface="-apple-system"/>
              </a:rPr>
              <a:t>5</a:t>
            </a:r>
            <a:r>
              <a:rPr lang="en" altLang="zh-TW" b="0" i="0" dirty="0">
                <a:solidFill>
                  <a:srgbClr val="222222"/>
                </a:solidFill>
                <a:effectLst/>
                <a:latin typeface="-apple-system"/>
              </a:rPr>
              <a:t>a</a:t>
            </a:r>
            <a:r>
              <a:rPr lang="zh-TW" altLang="en" b="0" i="0" dirty="0">
                <a:solidFill>
                  <a:srgbClr val="222222"/>
                </a:solidFill>
                <a:effectLst/>
                <a:latin typeface="-apple-system"/>
              </a:rPr>
              <a:t>）、</a:t>
            </a:r>
            <a:r>
              <a:rPr lang="en" altLang="zh-TW" b="0" i="0" dirty="0" err="1">
                <a:solidFill>
                  <a:srgbClr val="222222"/>
                </a:solidFill>
                <a:effectLst/>
                <a:latin typeface="-apple-system"/>
              </a:rPr>
              <a:t>Fas</a:t>
            </a:r>
            <a:r>
              <a:rPr lang="zh-TW" altLang="en" b="0" i="0" dirty="0">
                <a:solidFill>
                  <a:srgbClr val="222222"/>
                </a:solidFill>
                <a:effectLst/>
                <a:latin typeface="-apple-system"/>
              </a:rPr>
              <a:t>（</a:t>
            </a:r>
            <a:r>
              <a:rPr lang="zh-TW" altLang="en-US" b="0" i="0" dirty="0">
                <a:solidFill>
                  <a:srgbClr val="222222"/>
                </a:solidFill>
                <a:effectLst/>
                <a:latin typeface="-apple-system"/>
              </a:rPr>
              <a:t>圖</a:t>
            </a:r>
            <a:r>
              <a:rPr lang="en-US" altLang="zh-TW" b="0" i="0" dirty="0">
                <a:solidFill>
                  <a:srgbClr val="222222"/>
                </a:solidFill>
                <a:effectLst/>
                <a:latin typeface="-apple-system"/>
              </a:rPr>
              <a:t>5</a:t>
            </a:r>
            <a:r>
              <a:rPr lang="en" altLang="zh-TW" b="0" i="0" dirty="0">
                <a:solidFill>
                  <a:srgbClr val="222222"/>
                </a:solidFill>
                <a:effectLst/>
                <a:latin typeface="-apple-system"/>
              </a:rPr>
              <a:t>b</a:t>
            </a:r>
            <a:r>
              <a:rPr lang="zh-TW" altLang="en" b="0" i="0" dirty="0">
                <a:solidFill>
                  <a:srgbClr val="222222"/>
                </a:solidFill>
                <a:effectLst/>
                <a:latin typeface="-apple-system"/>
              </a:rPr>
              <a:t>）</a:t>
            </a:r>
            <a:r>
              <a:rPr lang="zh-TW" altLang="en-US" b="0" i="0" dirty="0">
                <a:solidFill>
                  <a:srgbClr val="222222"/>
                </a:solidFill>
                <a:effectLst/>
                <a:latin typeface="-apple-system"/>
              </a:rPr>
              <a:t>或</a:t>
            </a:r>
            <a:r>
              <a:rPr lang="en" altLang="zh-TW" b="0" i="0" dirty="0">
                <a:solidFill>
                  <a:srgbClr val="222222"/>
                </a:solidFill>
                <a:effectLst/>
                <a:latin typeface="-apple-system"/>
              </a:rPr>
              <a:t>TNF-R1</a:t>
            </a:r>
            <a:r>
              <a:rPr lang="zh-TW" altLang="en" b="0" i="0" dirty="0">
                <a:solidFill>
                  <a:srgbClr val="222222"/>
                </a:solidFill>
                <a:effectLst/>
                <a:latin typeface="-apple-system"/>
              </a:rPr>
              <a:t>（</a:t>
            </a:r>
            <a:r>
              <a:rPr lang="zh-TW" altLang="en-US" b="0" i="0" dirty="0">
                <a:solidFill>
                  <a:srgbClr val="222222"/>
                </a:solidFill>
                <a:effectLst/>
                <a:latin typeface="-apple-system"/>
              </a:rPr>
              <a:t>圖</a:t>
            </a:r>
            <a:r>
              <a:rPr lang="en-US" altLang="zh-TW" b="0" i="0" dirty="0">
                <a:solidFill>
                  <a:srgbClr val="222222"/>
                </a:solidFill>
                <a:effectLst/>
                <a:latin typeface="-apple-system"/>
              </a:rPr>
              <a:t>5</a:t>
            </a:r>
            <a:r>
              <a:rPr lang="en" altLang="zh-TW" b="0" i="0" dirty="0">
                <a:solidFill>
                  <a:srgbClr val="222222"/>
                </a:solidFill>
                <a:effectLst/>
                <a:latin typeface="-apple-system"/>
              </a:rPr>
              <a:t>c </a:t>
            </a:r>
            <a:r>
              <a:rPr lang="zh-TW" altLang="en" b="0" i="0" dirty="0">
                <a:solidFill>
                  <a:srgbClr val="222222"/>
                </a:solidFill>
                <a:effectLst/>
                <a:latin typeface="-apple-system"/>
              </a:rPr>
              <a:t>）</a:t>
            </a:r>
            <a:r>
              <a:rPr lang="zh-TW" altLang="en-US" b="0" i="0" dirty="0">
                <a:solidFill>
                  <a:srgbClr val="222222"/>
                </a:solidFill>
                <a:effectLst/>
                <a:latin typeface="-apple-system"/>
              </a:rPr>
              <a:t>刺激後， </a:t>
            </a:r>
            <a:r>
              <a:rPr lang="en" altLang="zh-TW" b="0" i="0" dirty="0">
                <a:solidFill>
                  <a:srgbClr val="222222"/>
                </a:solidFill>
                <a:effectLst/>
                <a:latin typeface="-apple-system"/>
              </a:rPr>
              <a:t>DDX3</a:t>
            </a:r>
            <a:r>
              <a:rPr lang="zh-TW" altLang="en-US" b="0" i="0" dirty="0">
                <a:solidFill>
                  <a:srgbClr val="222222"/>
                </a:solidFill>
                <a:effectLst/>
                <a:latin typeface="-apple-system"/>
              </a:rPr>
              <a:t>敲低可加速</a:t>
            </a:r>
            <a:r>
              <a:rPr lang="en" altLang="zh-TW" b="0" i="0" dirty="0">
                <a:solidFill>
                  <a:srgbClr val="222222"/>
                </a:solidFill>
                <a:effectLst/>
                <a:latin typeface="-apple-system"/>
              </a:rPr>
              <a:t>caspase-3</a:t>
            </a:r>
            <a:r>
              <a:rPr lang="zh-TW" altLang="en-US" b="0" i="0" dirty="0">
                <a:solidFill>
                  <a:srgbClr val="222222"/>
                </a:solidFill>
                <a:effectLst/>
                <a:latin typeface="-apple-system"/>
              </a:rPr>
              <a:t>活化約</a:t>
            </a:r>
            <a:r>
              <a:rPr lang="en-US" altLang="zh-TW" b="0" i="0" dirty="0">
                <a:solidFill>
                  <a:srgbClr val="222222"/>
                </a:solidFill>
                <a:effectLst/>
                <a:latin typeface="-apple-system"/>
              </a:rPr>
              <a:t>80% </a:t>
            </a:r>
            <a:r>
              <a:rPr lang="zh-TW" altLang="en-US" b="0" i="0" dirty="0">
                <a:solidFill>
                  <a:srgbClr val="222222"/>
                </a:solidFill>
                <a:effectLst/>
                <a:latin typeface="-apple-system"/>
              </a:rPr>
              <a:t>。因此，</a:t>
            </a:r>
            <a:r>
              <a:rPr lang="en" altLang="zh-TW" b="0" i="0" dirty="0">
                <a:solidFill>
                  <a:srgbClr val="222222"/>
                </a:solidFill>
                <a:effectLst/>
                <a:latin typeface="-apple-system"/>
              </a:rPr>
              <a:t>DDX3</a:t>
            </a:r>
            <a:r>
              <a:rPr lang="zh-TW" altLang="en-US" b="0" i="0" dirty="0">
                <a:solidFill>
                  <a:srgbClr val="222222"/>
                </a:solidFill>
                <a:effectLst/>
                <a:latin typeface="-apple-system"/>
              </a:rPr>
              <a:t>具有抗凋亡作用，可減緩死亡受體刺激後</a:t>
            </a:r>
            <a:r>
              <a:rPr lang="en" altLang="zh-TW" b="0" i="0" dirty="0">
                <a:solidFill>
                  <a:srgbClr val="222222"/>
                </a:solidFill>
                <a:effectLst/>
                <a:latin typeface="-apple-system"/>
              </a:rPr>
              <a:t>caspase-3</a:t>
            </a:r>
            <a:r>
              <a:rPr lang="zh-TW" altLang="en-US" b="0" i="0" dirty="0">
                <a:solidFill>
                  <a:srgbClr val="222222"/>
                </a:solidFill>
                <a:effectLst/>
                <a:latin typeface="-apple-system"/>
              </a:rPr>
              <a:t>活化的速度。</a:t>
            </a:r>
            <a:br>
              <a:rPr lang="zh-TW" altLang="en-US" dirty="0"/>
            </a:br>
            <a:endParaRPr lang="en-US" altLang="zh-TW" dirty="0"/>
          </a:p>
          <a:p>
            <a:r>
              <a:rPr lang="zh-TW" altLang="en-US" sz="1600" b="0" i="0" u="none" kern="1200" dirty="0">
                <a:solidFill>
                  <a:srgbClr val="1F1F1F"/>
                </a:solidFill>
                <a:effectLst/>
                <a:latin typeface="+mn-lt"/>
                <a:ea typeface="+mn-ea"/>
                <a:cs typeface="+mn-cs"/>
              </a:rPr>
              <a:t>測試 </a:t>
            </a:r>
            <a:r>
              <a:rPr lang="en-US" altLang="zh-TW" sz="1600" b="0" i="0" u="none" kern="1200" dirty="0">
                <a:solidFill>
                  <a:srgbClr val="1F1F1F"/>
                </a:solidFill>
                <a:effectLst/>
                <a:latin typeface="+mn-lt"/>
                <a:ea typeface="+mn-ea"/>
                <a:cs typeface="+mn-cs"/>
              </a:rPr>
              <a:t>GSK3 </a:t>
            </a:r>
            <a:r>
              <a:rPr lang="zh-TW" altLang="en-US" sz="1600" b="0" i="0" u="none" kern="1200" dirty="0">
                <a:solidFill>
                  <a:srgbClr val="1F1F1F"/>
                </a:solidFill>
                <a:effectLst/>
                <a:latin typeface="+mn-lt"/>
                <a:ea typeface="+mn-ea"/>
                <a:cs typeface="+mn-cs"/>
              </a:rPr>
              <a:t>和 </a:t>
            </a:r>
            <a:r>
              <a:rPr lang="en-US" altLang="zh-TW" sz="1600" b="0" i="0" u="none" kern="1200" dirty="0">
                <a:solidFill>
                  <a:srgbClr val="1F1F1F"/>
                </a:solidFill>
                <a:effectLst/>
                <a:latin typeface="+mn-lt"/>
                <a:ea typeface="+mn-ea"/>
                <a:cs typeface="+mn-cs"/>
              </a:rPr>
              <a:t>DDX3 </a:t>
            </a:r>
            <a:r>
              <a:rPr lang="zh-TW" altLang="en-US" sz="1600" b="0" i="0" u="none" kern="1200" dirty="0">
                <a:solidFill>
                  <a:srgbClr val="1F1F1F"/>
                </a:solidFill>
                <a:effectLst/>
                <a:latin typeface="+mn-lt"/>
                <a:ea typeface="+mn-ea"/>
                <a:cs typeface="+mn-cs"/>
              </a:rPr>
              <a:t>是否協同作用以抑制 </a:t>
            </a:r>
            <a:r>
              <a:rPr lang="en-US" altLang="zh-TW" sz="1600" b="0" i="0" u="none" kern="1200" dirty="0">
                <a:solidFill>
                  <a:srgbClr val="1F1F1F"/>
                </a:solidFill>
                <a:effectLst/>
                <a:latin typeface="+mn-lt"/>
                <a:ea typeface="+mn-ea"/>
                <a:cs typeface="+mn-cs"/>
              </a:rPr>
              <a:t>TRAIL-R2 </a:t>
            </a:r>
            <a:r>
              <a:rPr lang="zh-TW" altLang="en-US" sz="1600" b="0" i="0" u="none" kern="1200" dirty="0">
                <a:solidFill>
                  <a:srgbClr val="1F1F1F"/>
                </a:solidFill>
                <a:effectLst/>
                <a:latin typeface="+mn-lt"/>
                <a:ea typeface="+mn-ea"/>
                <a:cs typeface="+mn-cs"/>
              </a:rPr>
              <a:t>誘導的凋亡訊號傳導，他們測試了在敲低 </a:t>
            </a:r>
            <a:r>
              <a:rPr lang="en-US" altLang="zh-TW" sz="1600" b="0" i="0" u="none" kern="1200" dirty="0">
                <a:solidFill>
                  <a:srgbClr val="1F1F1F"/>
                </a:solidFill>
                <a:effectLst/>
                <a:latin typeface="+mn-lt"/>
                <a:ea typeface="+mn-ea"/>
                <a:cs typeface="+mn-cs"/>
              </a:rPr>
              <a:t>DDX3 </a:t>
            </a:r>
            <a:r>
              <a:rPr lang="zh-TW" altLang="en-US" sz="1600" b="0" i="0" u="none" kern="1200" dirty="0">
                <a:solidFill>
                  <a:srgbClr val="1F1F1F"/>
                </a:solidFill>
                <a:effectLst/>
                <a:latin typeface="+mn-lt"/>
                <a:ea typeface="+mn-ea"/>
                <a:cs typeface="+mn-cs"/>
              </a:rPr>
              <a:t>後 </a:t>
            </a:r>
            <a:r>
              <a:rPr lang="en-US" altLang="zh-TW" sz="1600" b="0" i="0" u="none" kern="1200" dirty="0">
                <a:solidFill>
                  <a:srgbClr val="1F1F1F"/>
                </a:solidFill>
                <a:effectLst/>
                <a:latin typeface="+mn-lt"/>
                <a:ea typeface="+mn-ea"/>
                <a:cs typeface="+mn-cs"/>
              </a:rPr>
              <a:t>GSK3 </a:t>
            </a:r>
            <a:r>
              <a:rPr lang="zh-TW" altLang="en-US" sz="1600" b="0" i="0" u="none" kern="1200" dirty="0">
                <a:solidFill>
                  <a:srgbClr val="1F1F1F"/>
                </a:solidFill>
                <a:effectLst/>
                <a:latin typeface="+mn-lt"/>
                <a:ea typeface="+mn-ea"/>
                <a:cs typeface="+mn-cs"/>
              </a:rPr>
              <a:t>抑制劑是否仍能促進細胞凋亡。敲低 </a:t>
            </a:r>
            <a:r>
              <a:rPr lang="en-US" altLang="zh-TW" sz="1600" b="0" i="0" u="none" kern="1200" dirty="0">
                <a:solidFill>
                  <a:srgbClr val="1F1F1F"/>
                </a:solidFill>
                <a:effectLst/>
                <a:latin typeface="+mn-lt"/>
                <a:ea typeface="+mn-ea"/>
                <a:cs typeface="+mn-cs"/>
              </a:rPr>
              <a:t>DDX3 </a:t>
            </a:r>
            <a:r>
              <a:rPr lang="zh-TW" altLang="en-US" sz="1600" b="0" i="0" u="none" kern="1200" dirty="0">
                <a:solidFill>
                  <a:srgbClr val="1F1F1F"/>
                </a:solidFill>
                <a:effectLst/>
                <a:latin typeface="+mn-lt"/>
                <a:ea typeface="+mn-ea"/>
                <a:cs typeface="+mn-cs"/>
              </a:rPr>
              <a:t>後，</a:t>
            </a:r>
            <a:r>
              <a:rPr lang="en-US" altLang="zh-TW" sz="1600" b="0" i="0" u="none" kern="1200" dirty="0" err="1">
                <a:solidFill>
                  <a:srgbClr val="1F1F1F"/>
                </a:solidFill>
                <a:effectLst/>
                <a:latin typeface="+mn-lt"/>
                <a:ea typeface="+mn-ea"/>
                <a:cs typeface="+mn-cs"/>
              </a:rPr>
              <a:t>Fas</a:t>
            </a:r>
            <a:r>
              <a:rPr lang="en-US" altLang="zh-TW" sz="1600" b="0" i="0" u="none" kern="1200" dirty="0">
                <a:solidFill>
                  <a:srgbClr val="1F1F1F"/>
                </a:solidFill>
                <a:effectLst/>
                <a:latin typeface="+mn-lt"/>
                <a:ea typeface="+mn-ea"/>
                <a:cs typeface="+mn-cs"/>
              </a:rPr>
              <a:t> </a:t>
            </a:r>
            <a:r>
              <a:rPr lang="zh-TW" altLang="en-US" sz="1600" b="0" i="0" u="none" kern="1200" dirty="0">
                <a:solidFill>
                  <a:srgbClr val="1F1F1F"/>
                </a:solidFill>
                <a:effectLst/>
                <a:latin typeface="+mn-lt"/>
                <a:ea typeface="+mn-ea"/>
                <a:cs typeface="+mn-cs"/>
              </a:rPr>
              <a:t>或 </a:t>
            </a:r>
            <a:r>
              <a:rPr lang="en-US" altLang="zh-TW" sz="1600" b="0" i="0" u="none" kern="1200" dirty="0">
                <a:solidFill>
                  <a:srgbClr val="1F1F1F"/>
                </a:solidFill>
                <a:effectLst/>
                <a:latin typeface="+mn-lt"/>
                <a:ea typeface="+mn-ea"/>
                <a:cs typeface="+mn-cs"/>
              </a:rPr>
              <a:t>TRAIL-R2 </a:t>
            </a:r>
            <a:r>
              <a:rPr lang="zh-TW" altLang="en-US" sz="1600" b="0" i="0" u="none" kern="1200" dirty="0">
                <a:solidFill>
                  <a:srgbClr val="1F1F1F"/>
                </a:solidFill>
                <a:effectLst/>
                <a:latin typeface="+mn-lt"/>
                <a:ea typeface="+mn-ea"/>
                <a:cs typeface="+mn-cs"/>
              </a:rPr>
              <a:t>刺激後 </a:t>
            </a:r>
            <a:r>
              <a:rPr lang="en-US" altLang="zh-TW" sz="1600" b="0" i="0" u="none" kern="1200" dirty="0">
                <a:solidFill>
                  <a:srgbClr val="1F1F1F"/>
                </a:solidFill>
                <a:effectLst/>
                <a:latin typeface="+mn-lt"/>
                <a:ea typeface="+mn-ea"/>
                <a:cs typeface="+mn-cs"/>
              </a:rPr>
              <a:t>caspase-3 </a:t>
            </a:r>
            <a:r>
              <a:rPr lang="zh-TW" altLang="en-US" sz="1600" b="0" i="0" u="none" kern="1200" dirty="0">
                <a:solidFill>
                  <a:srgbClr val="1F1F1F"/>
                </a:solidFill>
                <a:effectLst/>
                <a:latin typeface="+mn-lt"/>
                <a:ea typeface="+mn-ea"/>
                <a:cs typeface="+mn-cs"/>
              </a:rPr>
              <a:t>的活化增強（圖 </a:t>
            </a:r>
            <a:r>
              <a:rPr lang="en-US" altLang="zh-TW" sz="1600" b="0" i="0" u="none" kern="1200" dirty="0">
                <a:solidFill>
                  <a:srgbClr val="1F1F1F"/>
                </a:solidFill>
                <a:effectLst/>
                <a:latin typeface="+mn-lt"/>
                <a:ea typeface="+mn-ea"/>
                <a:cs typeface="+mn-cs"/>
              </a:rPr>
              <a:t>5d</a:t>
            </a:r>
            <a:r>
              <a:rPr lang="zh-TW" altLang="en-US" sz="1600" b="0" i="0" u="none" kern="1200" dirty="0">
                <a:solidFill>
                  <a:srgbClr val="1F1F1F"/>
                </a:solidFill>
                <a:effectLst/>
                <a:latin typeface="+mn-lt"/>
                <a:ea typeface="+mn-ea"/>
                <a:cs typeface="+mn-cs"/>
              </a:rPr>
              <a:t>），而用鋰抑制 </a:t>
            </a:r>
            <a:r>
              <a:rPr lang="en-US" altLang="zh-TW" sz="1600" b="0" i="0" u="none" kern="1200" dirty="0">
                <a:solidFill>
                  <a:srgbClr val="1F1F1F"/>
                </a:solidFill>
                <a:effectLst/>
                <a:latin typeface="+mn-lt"/>
                <a:ea typeface="+mn-ea"/>
                <a:cs typeface="+mn-cs"/>
              </a:rPr>
              <a:t>GSK3 </a:t>
            </a:r>
            <a:r>
              <a:rPr lang="zh-TW" altLang="en-US" sz="1600" b="0" i="0" u="none" kern="1200" dirty="0">
                <a:solidFill>
                  <a:srgbClr val="1F1F1F"/>
                </a:solidFill>
                <a:effectLst/>
                <a:latin typeface="+mn-lt"/>
                <a:ea typeface="+mn-ea"/>
                <a:cs typeface="+mn-cs"/>
              </a:rPr>
              <a:t>仍大大增強 </a:t>
            </a:r>
            <a:r>
              <a:rPr lang="en-US" altLang="zh-TW" sz="1600" b="0" i="0" u="none" kern="1200" dirty="0">
                <a:solidFill>
                  <a:srgbClr val="1F1F1F"/>
                </a:solidFill>
                <a:effectLst/>
                <a:latin typeface="+mn-lt"/>
                <a:ea typeface="+mn-ea"/>
                <a:cs typeface="+mn-cs"/>
              </a:rPr>
              <a:t>caspase-3 </a:t>
            </a:r>
            <a:r>
              <a:rPr lang="zh-TW" altLang="en-US" sz="1600" b="0" i="0" u="none" kern="1200" dirty="0">
                <a:solidFill>
                  <a:srgbClr val="1F1F1F"/>
                </a:solidFill>
                <a:effectLst/>
                <a:latin typeface="+mn-lt"/>
                <a:ea typeface="+mn-ea"/>
                <a:cs typeface="+mn-cs"/>
              </a:rPr>
              <a:t>的活化，這表明 </a:t>
            </a:r>
            <a:r>
              <a:rPr lang="en-US" altLang="zh-TW" sz="1600" b="0" i="0" u="none" kern="1200" dirty="0">
                <a:solidFill>
                  <a:srgbClr val="1F1F1F"/>
                </a:solidFill>
                <a:effectLst/>
                <a:latin typeface="+mn-lt"/>
                <a:ea typeface="+mn-ea"/>
                <a:cs typeface="+mn-cs"/>
              </a:rPr>
              <a:t>DDX3 </a:t>
            </a:r>
            <a:r>
              <a:rPr lang="zh-TW" altLang="en-US" sz="1600" b="0" i="0" u="none" kern="1200" dirty="0">
                <a:solidFill>
                  <a:srgbClr val="1F1F1F"/>
                </a:solidFill>
                <a:effectLst/>
                <a:latin typeface="+mn-lt"/>
                <a:ea typeface="+mn-ea"/>
                <a:cs typeface="+mn-cs"/>
              </a:rPr>
              <a:t>不是 </a:t>
            </a:r>
            <a:r>
              <a:rPr lang="en-US" altLang="zh-TW" sz="1600" b="0" i="0" u="none" kern="1200" dirty="0">
                <a:solidFill>
                  <a:srgbClr val="1F1F1F"/>
                </a:solidFill>
                <a:effectLst/>
                <a:latin typeface="+mn-lt"/>
                <a:ea typeface="+mn-ea"/>
                <a:cs typeface="+mn-cs"/>
              </a:rPr>
              <a:t>GSK3 </a:t>
            </a:r>
            <a:r>
              <a:rPr lang="zh-TW" altLang="en-US" sz="1600" b="0" i="0" u="none" kern="1200" dirty="0">
                <a:solidFill>
                  <a:srgbClr val="1F1F1F"/>
                </a:solidFill>
                <a:effectLst/>
                <a:latin typeface="+mn-lt"/>
                <a:ea typeface="+mn-ea"/>
                <a:cs typeface="+mn-cs"/>
              </a:rPr>
              <a:t>抗凋亡作用所必需的。同樣，在 </a:t>
            </a:r>
            <a:r>
              <a:rPr lang="en-US" altLang="zh-TW" sz="1600" b="0" i="0" u="none" kern="1200" dirty="0">
                <a:solidFill>
                  <a:srgbClr val="1F1F1F"/>
                </a:solidFill>
                <a:effectLst/>
                <a:latin typeface="+mn-lt"/>
                <a:ea typeface="+mn-ea"/>
                <a:cs typeface="+mn-cs"/>
              </a:rPr>
              <a:t>MDA-MB-231 </a:t>
            </a:r>
            <a:r>
              <a:rPr lang="zh-TW" altLang="en-US" sz="1600" b="0" i="0" u="none" kern="1200" dirty="0">
                <a:solidFill>
                  <a:srgbClr val="1F1F1F"/>
                </a:solidFill>
                <a:effectLst/>
                <a:latin typeface="+mn-lt"/>
                <a:ea typeface="+mn-ea"/>
                <a:cs typeface="+mn-cs"/>
              </a:rPr>
              <a:t>抗性細胞中敲低 </a:t>
            </a:r>
            <a:r>
              <a:rPr lang="en-US" altLang="zh-TW" sz="1600" b="0" i="0" u="none" kern="1200" dirty="0">
                <a:solidFill>
                  <a:srgbClr val="1F1F1F"/>
                </a:solidFill>
                <a:effectLst/>
                <a:latin typeface="+mn-lt"/>
                <a:ea typeface="+mn-ea"/>
                <a:cs typeface="+mn-cs"/>
              </a:rPr>
              <a:t>DDX3 </a:t>
            </a:r>
            <a:r>
              <a:rPr lang="zh-TW" altLang="en-US" sz="1600" b="0" i="0" u="none" kern="1200" dirty="0">
                <a:solidFill>
                  <a:srgbClr val="1F1F1F"/>
                </a:solidFill>
                <a:effectLst/>
                <a:latin typeface="+mn-lt"/>
                <a:ea typeface="+mn-ea"/>
                <a:cs typeface="+mn-cs"/>
              </a:rPr>
              <a:t>後，</a:t>
            </a:r>
            <a:r>
              <a:rPr lang="en-US" altLang="zh-TW" sz="1600" b="0" i="0" u="none" kern="1200" dirty="0">
                <a:solidFill>
                  <a:srgbClr val="1F1F1F"/>
                </a:solidFill>
                <a:effectLst/>
                <a:latin typeface="+mn-lt"/>
                <a:ea typeface="+mn-ea"/>
                <a:cs typeface="+mn-cs"/>
              </a:rPr>
              <a:t>TRA-8 </a:t>
            </a:r>
            <a:r>
              <a:rPr lang="zh-TW" altLang="en-US" sz="1600" b="0" i="0" u="none" kern="1200" dirty="0">
                <a:solidFill>
                  <a:srgbClr val="1F1F1F"/>
                </a:solidFill>
                <a:effectLst/>
                <a:latin typeface="+mn-lt"/>
                <a:ea typeface="+mn-ea"/>
                <a:cs typeface="+mn-cs"/>
              </a:rPr>
              <a:t>誘導的 </a:t>
            </a:r>
            <a:r>
              <a:rPr lang="en-US" altLang="zh-TW" sz="1600" b="0" i="0" u="none" kern="1200" dirty="0">
                <a:solidFill>
                  <a:srgbClr val="1F1F1F"/>
                </a:solidFill>
                <a:effectLst/>
                <a:latin typeface="+mn-lt"/>
                <a:ea typeface="+mn-ea"/>
                <a:cs typeface="+mn-cs"/>
              </a:rPr>
              <a:t>caspase-3 </a:t>
            </a:r>
            <a:r>
              <a:rPr lang="zh-TW" altLang="en-US" sz="1600" b="0" i="0" u="none" kern="1200" dirty="0">
                <a:solidFill>
                  <a:srgbClr val="1F1F1F"/>
                </a:solidFill>
                <a:effectLst/>
                <a:latin typeface="+mn-lt"/>
                <a:ea typeface="+mn-ea"/>
                <a:cs typeface="+mn-cs"/>
              </a:rPr>
              <a:t>活化增強，而用鋰處理大大增加了 </a:t>
            </a:r>
            <a:r>
              <a:rPr lang="en-US" altLang="zh-TW" sz="1600" b="0" i="0" u="none" kern="1200" dirty="0">
                <a:solidFill>
                  <a:srgbClr val="1F1F1F"/>
                </a:solidFill>
                <a:effectLst/>
                <a:latin typeface="+mn-lt"/>
                <a:ea typeface="+mn-ea"/>
                <a:cs typeface="+mn-cs"/>
              </a:rPr>
              <a:t>caspase-3 </a:t>
            </a:r>
            <a:r>
              <a:rPr lang="zh-TW" altLang="en-US" sz="1600" b="0" i="0" u="none" kern="1200" dirty="0">
                <a:solidFill>
                  <a:srgbClr val="1F1F1F"/>
                </a:solidFill>
                <a:effectLst/>
                <a:latin typeface="+mn-lt"/>
                <a:ea typeface="+mn-ea"/>
                <a:cs typeface="+mn-cs"/>
              </a:rPr>
              <a:t>的活性（圖 </a:t>
            </a:r>
            <a:r>
              <a:rPr lang="en-US" altLang="zh-TW" sz="1600" b="0" i="0" u="none" kern="1200" dirty="0">
                <a:solidFill>
                  <a:srgbClr val="1F1F1F"/>
                </a:solidFill>
                <a:effectLst/>
                <a:latin typeface="+mn-lt"/>
                <a:ea typeface="+mn-ea"/>
                <a:cs typeface="+mn-cs"/>
              </a:rPr>
              <a:t>5e</a:t>
            </a:r>
            <a:r>
              <a:rPr lang="zh-TW" altLang="en-US" sz="1600" b="0" i="0" u="none" kern="1200" dirty="0">
                <a:solidFill>
                  <a:srgbClr val="1F1F1F"/>
                </a:solidFill>
                <a:effectLst/>
                <a:latin typeface="+mn-lt"/>
                <a:ea typeface="+mn-ea"/>
                <a:cs typeface="+mn-cs"/>
              </a:rPr>
              <a:t>）。</a:t>
            </a:r>
            <a:endParaRPr lang="en-US" altLang="zh-TW" sz="1600" b="0" i="0" u="none" kern="1200" dirty="0">
              <a:solidFill>
                <a:srgbClr val="1F1F1F"/>
              </a:solidFill>
              <a:effectLst/>
              <a:latin typeface="+mn-lt"/>
              <a:ea typeface="+mn-ea"/>
              <a:cs typeface="+mn-cs"/>
            </a:endParaRPr>
          </a:p>
          <a:p>
            <a:endParaRPr lang="en-US" altLang="zh-TW" sz="1600" b="0" i="0" u="none" kern="1200" dirty="0">
              <a:solidFill>
                <a:srgbClr val="1F1F1F"/>
              </a:solidFill>
              <a:effectLst/>
              <a:latin typeface="+mn-lt"/>
              <a:ea typeface="+mn-ea"/>
              <a:cs typeface="+mn-cs"/>
            </a:endParaRPr>
          </a:p>
          <a:p>
            <a:r>
              <a:rPr lang="zh-TW" altLang="en-US" sz="1600" b="0" i="0" u="none" kern="1200" dirty="0">
                <a:solidFill>
                  <a:srgbClr val="1F1F1F"/>
                </a:solidFill>
                <a:effectLst/>
                <a:latin typeface="+mn-lt"/>
                <a:ea typeface="+mn-ea"/>
                <a:cs typeface="+mn-cs"/>
              </a:rPr>
              <a:t>後續實驗室是在證明</a:t>
            </a:r>
            <a:r>
              <a:rPr lang="en" altLang="zh-TW" b="0" i="0" dirty="0">
                <a:solidFill>
                  <a:srgbClr val="222222"/>
                </a:solidFill>
                <a:effectLst/>
                <a:latin typeface="-apple-system"/>
              </a:rPr>
              <a:t>GSK3</a:t>
            </a:r>
            <a:r>
              <a:rPr lang="zh-TW" altLang="en-US" b="0" i="0" dirty="0">
                <a:solidFill>
                  <a:srgbClr val="222222"/>
                </a:solidFill>
                <a:effectLst/>
                <a:latin typeface="-apple-system"/>
              </a:rPr>
              <a:t>及其相關蛋白是否與</a:t>
            </a:r>
            <a:r>
              <a:rPr lang="en" altLang="zh-TW" b="0" i="0" dirty="0">
                <a:solidFill>
                  <a:srgbClr val="222222"/>
                </a:solidFill>
                <a:effectLst/>
                <a:latin typeface="-apple-system"/>
              </a:rPr>
              <a:t>TRAIL-R2</a:t>
            </a:r>
            <a:r>
              <a:rPr lang="zh-TW" altLang="en-US" b="0" i="0" dirty="0">
                <a:solidFill>
                  <a:srgbClr val="222222"/>
                </a:solidFill>
                <a:effectLst/>
                <a:latin typeface="-apple-system"/>
              </a:rPr>
              <a:t>相互作用，並影響與</a:t>
            </a:r>
            <a:r>
              <a:rPr lang="en" altLang="zh-TW" b="0" i="0" dirty="0">
                <a:solidFill>
                  <a:srgbClr val="222222"/>
                </a:solidFill>
                <a:effectLst/>
                <a:latin typeface="-apple-system"/>
              </a:rPr>
              <a:t>DDX3</a:t>
            </a:r>
            <a:r>
              <a:rPr lang="zh-TW" altLang="en-US" b="0" i="0" dirty="0">
                <a:solidFill>
                  <a:srgbClr val="222222"/>
                </a:solidFill>
                <a:effectLst/>
                <a:latin typeface="-apple-system"/>
              </a:rPr>
              <a:t>和</a:t>
            </a:r>
            <a:r>
              <a:rPr lang="en" altLang="zh-TW" b="0" i="0" dirty="0">
                <a:solidFill>
                  <a:srgbClr val="222222"/>
                </a:solidFill>
                <a:effectLst/>
                <a:latin typeface="-apple-system"/>
              </a:rPr>
              <a:t>cIAP-1</a:t>
            </a:r>
            <a:r>
              <a:rPr lang="zh-TW" altLang="en-US" b="0" i="0" dirty="0">
                <a:solidFill>
                  <a:srgbClr val="222222"/>
                </a:solidFill>
                <a:effectLst/>
                <a:latin typeface="-apple-system"/>
              </a:rPr>
              <a:t>結合，</a:t>
            </a:r>
            <a:endParaRPr lang="en-US" altLang="zh-TW" sz="1600" b="0" i="0" u="none" kern="1200" dirty="0">
              <a:solidFill>
                <a:srgbClr val="1F1F1F"/>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6ADBEBEA-00E1-3D7A-B627-7302620C0E58}"/>
              </a:ext>
            </a:extLst>
          </p:cNvPr>
          <p:cNvSpPr>
            <a:spLocks noGrp="1"/>
          </p:cNvSpPr>
          <p:nvPr>
            <p:ph type="sldNum" sz="quarter" idx="5"/>
          </p:nvPr>
        </p:nvSpPr>
        <p:spPr/>
        <p:txBody>
          <a:bodyPr/>
          <a:lstStyle/>
          <a:p>
            <a:fld id="{61CA63BF-C9DC-9844-BCA0-064E1D9BA987}" type="slidenum">
              <a:rPr kumimoji="1" lang="zh-TW" altLang="en-US" smtClean="0"/>
              <a:t>24</a:t>
            </a:fld>
            <a:endParaRPr kumimoji="1" lang="zh-TW" altLang="en-US"/>
          </a:p>
        </p:txBody>
      </p:sp>
    </p:spTree>
    <p:extLst>
      <p:ext uri="{BB962C8B-B14F-4D97-AF65-F5344CB8AC3E}">
        <p14:creationId xmlns:p14="http://schemas.microsoft.com/office/powerpoint/2010/main" val="8635630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2CF6F-F35E-2176-5D0C-5F801695905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693FFB8-2D21-7840-E495-ED9622CFDBC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5D16A46-FAD0-2C7A-3847-ACFADDB5D4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GSK3</a:t>
            </a:r>
            <a:r>
              <a:rPr lang="zh-TW" altLang="en" dirty="0"/>
              <a:t>、</a:t>
            </a:r>
            <a:r>
              <a:rPr lang="en" altLang="zh-TW" dirty="0"/>
              <a:t>DDX3 </a:t>
            </a:r>
            <a:r>
              <a:rPr lang="zh-TW" altLang="en-US" dirty="0"/>
              <a:t>與 </a:t>
            </a:r>
            <a:r>
              <a:rPr lang="en" altLang="zh-TW" dirty="0"/>
              <a:t>cIAP-1 </a:t>
            </a:r>
            <a:r>
              <a:rPr lang="zh-TW" altLang="en-US" dirty="0"/>
              <a:t>可在未受刺激前覆蓋 </a:t>
            </a:r>
            <a:r>
              <a:rPr lang="en" altLang="zh-TW" dirty="0"/>
              <a:t>TRAIL-R2 </a:t>
            </a:r>
            <a:r>
              <a:rPr lang="zh-TW" altLang="en-US" dirty="0"/>
              <a:t>死亡受體，形成一個抗凋亡複合物。</a:t>
            </a:r>
            <a:r>
              <a:rPr lang="en" altLang="zh-TW" dirty="0"/>
              <a:t>TRAIL-R1</a:t>
            </a:r>
            <a:r>
              <a:rPr lang="zh-TW" altLang="en" dirty="0"/>
              <a:t>、</a:t>
            </a:r>
            <a:r>
              <a:rPr lang="en" altLang="zh-TW" dirty="0"/>
              <a:t>TRAIL-R2</a:t>
            </a:r>
            <a:r>
              <a:rPr lang="zh-TW" altLang="en" dirty="0"/>
              <a:t>、</a:t>
            </a:r>
            <a:r>
              <a:rPr lang="en" altLang="zh-TW" dirty="0" err="1"/>
              <a:t>Fas</a:t>
            </a:r>
            <a:r>
              <a:rPr lang="en" altLang="zh-TW" dirty="0"/>
              <a:t> </a:t>
            </a:r>
            <a:r>
              <a:rPr lang="zh-TW" altLang="en-US" dirty="0"/>
              <a:t>和 </a:t>
            </a:r>
            <a:r>
              <a:rPr lang="en" altLang="zh-TW" dirty="0"/>
              <a:t>TNF </a:t>
            </a:r>
            <a:r>
              <a:rPr lang="zh-TW" altLang="en-US" dirty="0"/>
              <a:t>等死亡受體均受到此抗凋亡複合物的調控。</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阻斷 </a:t>
            </a:r>
            <a:r>
              <a:rPr lang="en" altLang="zh-TW" dirty="0"/>
              <a:t>GSK3 </a:t>
            </a:r>
            <a:r>
              <a:rPr lang="zh-TW" altLang="en-US" dirty="0"/>
              <a:t>活性或降低 </a:t>
            </a:r>
            <a:r>
              <a:rPr lang="en" altLang="zh-TW" dirty="0"/>
              <a:t>DDX3 </a:t>
            </a:r>
            <a:r>
              <a:rPr lang="zh-TW" altLang="en-US" dirty="0"/>
              <a:t>表現可釋放死亡受體，使其在受刺激時產生更強的凋亡訊號。</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TRAIL-R2 </a:t>
            </a:r>
            <a:r>
              <a:rPr lang="zh-TW" altLang="en-US" dirty="0"/>
              <a:t>刺激會使 </a:t>
            </a:r>
            <a:r>
              <a:rPr lang="en" altLang="zh-TW" dirty="0"/>
              <a:t>GSK3 </a:t>
            </a:r>
            <a:r>
              <a:rPr lang="zh-TW" altLang="en-US" dirty="0"/>
              <a:t>失活、</a:t>
            </a:r>
            <a:r>
              <a:rPr lang="en" altLang="zh-TW" dirty="0"/>
              <a:t>DDX3 </a:t>
            </a:r>
            <a:r>
              <a:rPr lang="zh-TW" altLang="en-US" dirty="0"/>
              <a:t>和 </a:t>
            </a:r>
            <a:r>
              <a:rPr lang="en" altLang="zh-TW" dirty="0"/>
              <a:t>cIAP-1 </a:t>
            </a:r>
            <a:r>
              <a:rPr lang="zh-TW" altLang="en-US" dirty="0"/>
              <a:t>被裂解，解除對凋亡訊號的抑制。</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TRAIL-R2 </a:t>
            </a:r>
            <a:r>
              <a:rPr lang="zh-TW" altLang="en-US" dirty="0"/>
              <a:t>的活化快速導致 </a:t>
            </a:r>
            <a:r>
              <a:rPr lang="en" altLang="zh-TW" dirty="0"/>
              <a:t>DDX3 </a:t>
            </a:r>
            <a:r>
              <a:rPr lang="zh-TW" altLang="en-US" dirty="0"/>
              <a:t>被切割，可能是為了移除其抗凋亡功能。</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靶向 </a:t>
            </a:r>
            <a:r>
              <a:rPr lang="en" altLang="zh-TW" dirty="0"/>
              <a:t>GSK3 </a:t>
            </a:r>
            <a:r>
              <a:rPr lang="zh-TW" altLang="en-US" dirty="0"/>
              <a:t>與 </a:t>
            </a:r>
            <a:r>
              <a:rPr lang="en" altLang="zh-TW" dirty="0"/>
              <a:t>DDX3 </a:t>
            </a:r>
            <a:r>
              <a:rPr lang="zh-TW" altLang="en-US" dirty="0"/>
              <a:t>可作為一種策略，提升癌細胞對死亡受體誘導之凋亡的敏感性。</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solidFill>
                <a:srgbClr val="1B1B1B"/>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solidFill>
                <a:srgbClr val="1B1B1B"/>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solidFill>
                  <a:srgbClr val="1B1B1B"/>
                </a:solidFill>
              </a:rPr>
              <a:t>我們發現死亡受體被一個包含</a:t>
            </a:r>
            <a:r>
              <a:rPr lang="en" altLang="zh-TW" dirty="0">
                <a:solidFill>
                  <a:srgbClr val="1B1B1B"/>
                </a:solidFill>
              </a:rPr>
              <a:t>GSK3</a:t>
            </a:r>
            <a:r>
              <a:rPr lang="zh-TW" altLang="en" dirty="0">
                <a:solidFill>
                  <a:srgbClr val="1B1B1B"/>
                </a:solidFill>
              </a:rPr>
              <a:t>、</a:t>
            </a:r>
            <a:r>
              <a:rPr lang="en" altLang="zh-TW" dirty="0">
                <a:solidFill>
                  <a:srgbClr val="1B1B1B"/>
                </a:solidFill>
              </a:rPr>
              <a:t>DDX3</a:t>
            </a:r>
            <a:r>
              <a:rPr lang="zh-TW" altLang="en-US" dirty="0">
                <a:solidFill>
                  <a:srgbClr val="1B1B1B"/>
                </a:solidFill>
              </a:rPr>
              <a:t>和</a:t>
            </a:r>
            <a:r>
              <a:rPr lang="en" altLang="zh-TW" dirty="0">
                <a:solidFill>
                  <a:srgbClr val="1B1B1B"/>
                </a:solidFill>
              </a:rPr>
              <a:t>cIAP-1</a:t>
            </a:r>
            <a:r>
              <a:rPr lang="zh-TW" altLang="en-US" dirty="0">
                <a:solidFill>
                  <a:srgbClr val="1B1B1B"/>
                </a:solidFill>
              </a:rPr>
              <a:t>的抗凋亡蛋白複合物所覆蓋。刺激死亡受體會使這些蛋白質失去活性，導致</a:t>
            </a:r>
            <a:r>
              <a:rPr lang="en" altLang="zh-TW" dirty="0">
                <a:solidFill>
                  <a:srgbClr val="1B1B1B"/>
                </a:solidFill>
              </a:rPr>
              <a:t>GSK3</a:t>
            </a:r>
            <a:r>
              <a:rPr lang="zh-TW" altLang="en-US" dirty="0">
                <a:solidFill>
                  <a:srgbClr val="1B1B1B"/>
                </a:solidFill>
              </a:rPr>
              <a:t>失去活性以及</a:t>
            </a:r>
            <a:r>
              <a:rPr lang="en" altLang="zh-TW" dirty="0">
                <a:solidFill>
                  <a:srgbClr val="1B1B1B"/>
                </a:solidFill>
              </a:rPr>
              <a:t>DDX3</a:t>
            </a:r>
            <a:r>
              <a:rPr lang="zh-TW" altLang="en-US" dirty="0">
                <a:solidFill>
                  <a:srgbClr val="1B1B1B"/>
                </a:solidFill>
              </a:rPr>
              <a:t>和</a:t>
            </a:r>
            <a:r>
              <a:rPr lang="en" altLang="zh-TW" dirty="0">
                <a:solidFill>
                  <a:srgbClr val="1B1B1B"/>
                </a:solidFill>
              </a:rPr>
              <a:t>cIAP-1</a:t>
            </a:r>
            <a:r>
              <a:rPr lang="zh-TW" altLang="en-US" dirty="0">
                <a:solidFill>
                  <a:srgbClr val="1B1B1B"/>
                </a:solidFill>
              </a:rPr>
              <a:t>的裂解，從而允許凋亡訊號繼續進行。</a:t>
            </a:r>
            <a:endParaRPr lang="en" altLang="zh-TW" dirty="0">
              <a:solidFill>
                <a:srgbClr val="1B1B1B"/>
              </a:solidFill>
            </a:endParaRPr>
          </a:p>
        </p:txBody>
      </p:sp>
      <p:sp>
        <p:nvSpPr>
          <p:cNvPr id="4" name="投影片編號版面配置區 3">
            <a:extLst>
              <a:ext uri="{FF2B5EF4-FFF2-40B4-BE49-F238E27FC236}">
                <a16:creationId xmlns:a16="http://schemas.microsoft.com/office/drawing/2014/main" id="{028AFCD3-E258-8986-9703-84928EF6B58F}"/>
              </a:ext>
            </a:extLst>
          </p:cNvPr>
          <p:cNvSpPr>
            <a:spLocks noGrp="1"/>
          </p:cNvSpPr>
          <p:nvPr>
            <p:ph type="sldNum" sz="quarter" idx="5"/>
          </p:nvPr>
        </p:nvSpPr>
        <p:spPr/>
        <p:txBody>
          <a:bodyPr/>
          <a:lstStyle/>
          <a:p>
            <a:fld id="{61CA63BF-C9DC-9844-BCA0-064E1D9BA987}" type="slidenum">
              <a:rPr kumimoji="1" lang="zh-TW" altLang="en-US" smtClean="0"/>
              <a:t>25</a:t>
            </a:fld>
            <a:endParaRPr kumimoji="1" lang="zh-TW" altLang="en-US"/>
          </a:p>
        </p:txBody>
      </p:sp>
    </p:spTree>
    <p:extLst>
      <p:ext uri="{BB962C8B-B14F-4D97-AF65-F5344CB8AC3E}">
        <p14:creationId xmlns:p14="http://schemas.microsoft.com/office/powerpoint/2010/main" val="416485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4E931-44A2-C4B8-DD52-5ECD2CE816D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782FD03-2CD9-2A82-DDFA-94E65C967B1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23483B8-E929-4F7F-2B4C-FDE8EC7334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dirty="0"/>
              <a:t>接下來是第二篇是</a:t>
            </a:r>
            <a:r>
              <a:rPr lang="en" altLang="zh-TW" sz="1600" dirty="0">
                <a:solidFill>
                  <a:srgbClr val="1F1F1F"/>
                </a:solidFill>
                <a:latin typeface="+mj-lt"/>
              </a:rPr>
              <a:t>DDX3 regulates DNA damage-induced apoptosis and p53 stabilization</a:t>
            </a:r>
            <a:r>
              <a:rPr lang="zh-TW" altLang="en-US" sz="1600" dirty="0">
                <a:solidFill>
                  <a:srgbClr val="1F1F1F"/>
                </a:solidFill>
                <a:latin typeface="+mj-lt"/>
              </a:rPr>
              <a:t>，中文是</a:t>
            </a:r>
            <a:r>
              <a:rPr lang="en" altLang="zh-TW" sz="1600" dirty="0">
                <a:solidFill>
                  <a:srgbClr val="1F1F1F"/>
                </a:solidFill>
                <a:latin typeface="+mj-lt"/>
              </a:rPr>
              <a:t>DDX3 </a:t>
            </a:r>
            <a:r>
              <a:rPr lang="zh-TW" altLang="en-US" sz="1600" dirty="0">
                <a:solidFill>
                  <a:srgbClr val="1F1F1F"/>
                </a:solidFill>
                <a:latin typeface="+mj-lt"/>
              </a:rPr>
              <a:t>調控 </a:t>
            </a:r>
            <a:r>
              <a:rPr lang="en" altLang="zh-TW" sz="1600" dirty="0">
                <a:solidFill>
                  <a:srgbClr val="1F1F1F"/>
                </a:solidFill>
                <a:latin typeface="+mj-lt"/>
              </a:rPr>
              <a:t>DNA </a:t>
            </a:r>
            <a:r>
              <a:rPr lang="zh-TW" altLang="en-US" sz="1600" dirty="0">
                <a:solidFill>
                  <a:srgbClr val="1F1F1F"/>
                </a:solidFill>
                <a:latin typeface="+mj-lt"/>
              </a:rPr>
              <a:t>損傷所誘導的細胞凋亡和 </a:t>
            </a:r>
            <a:r>
              <a:rPr lang="en" altLang="zh-TW" sz="1600" dirty="0">
                <a:solidFill>
                  <a:srgbClr val="1F1F1F"/>
                </a:solidFill>
                <a:latin typeface="+mj-lt"/>
              </a:rPr>
              <a:t>p53 </a:t>
            </a:r>
            <a:r>
              <a:rPr lang="zh-TW" altLang="en-US" sz="1600" dirty="0">
                <a:solidFill>
                  <a:srgbClr val="1F1F1F"/>
                </a:solidFill>
                <a:latin typeface="+mj-lt"/>
              </a:rPr>
              <a:t>穩定性，</a:t>
            </a:r>
            <a:r>
              <a:rPr lang="zh-TW" altLang="en-US" sz="1600" b="0" kern="1200" dirty="0">
                <a:solidFill>
                  <a:schemeClr val="tx1"/>
                </a:solidFill>
                <a:latin typeface="+mn-lt"/>
                <a:ea typeface="+mn-ea"/>
                <a:cs typeface="+mn-cs"/>
              </a:rPr>
              <a:t>這篇研究主要是想證明</a:t>
            </a:r>
            <a:r>
              <a:rPr lang="en" altLang="zh-TW" b="0" i="0" dirty="0">
                <a:solidFill>
                  <a:srgbClr val="1F1F1F"/>
                </a:solidFill>
                <a:effectLst/>
                <a:latin typeface="ElsevierGulliver"/>
              </a:rPr>
              <a:t>DDX3</a:t>
            </a:r>
            <a:r>
              <a:rPr lang="zh-TW" altLang="en-US" b="0" i="0" dirty="0">
                <a:solidFill>
                  <a:srgbClr val="1F1F1F"/>
                </a:solidFill>
                <a:effectLst/>
                <a:latin typeface="ElsevierGulliver"/>
              </a:rPr>
              <a:t>如何參與</a:t>
            </a:r>
            <a:r>
              <a:rPr lang="en" altLang="zh-TW" b="0" i="0" dirty="0">
                <a:solidFill>
                  <a:srgbClr val="1F1F1F"/>
                </a:solidFill>
                <a:effectLst/>
                <a:latin typeface="ElsevierGulliver"/>
              </a:rPr>
              <a:t>DNA</a:t>
            </a:r>
            <a:r>
              <a:rPr lang="zh-TW" altLang="en-US" b="0" i="0" dirty="0">
                <a:solidFill>
                  <a:srgbClr val="1F1F1F"/>
                </a:solidFill>
                <a:effectLst/>
                <a:latin typeface="ElsevierGulliver"/>
              </a:rPr>
              <a:t> </a:t>
            </a:r>
            <a:r>
              <a:rPr lang="en-US" altLang="zh-TW" b="0" i="0" dirty="0">
                <a:solidFill>
                  <a:srgbClr val="1F1F1F"/>
                </a:solidFill>
                <a:effectLst/>
                <a:latin typeface="ElsevierGulliver"/>
              </a:rPr>
              <a:t>damage</a:t>
            </a:r>
            <a:r>
              <a:rPr lang="zh-TW" altLang="en-US" b="0" i="0" dirty="0">
                <a:solidFill>
                  <a:srgbClr val="1F1F1F"/>
                </a:solidFill>
                <a:effectLst/>
                <a:latin typeface="ElsevierGulliver"/>
              </a:rPr>
              <a:t>後對內源性 </a:t>
            </a:r>
            <a:r>
              <a:rPr lang="en-US" altLang="zh-TW" b="0" i="0" dirty="0">
                <a:solidFill>
                  <a:srgbClr val="1F1F1F"/>
                </a:solidFill>
                <a:effectLst/>
                <a:latin typeface="ElsevierGulliver"/>
              </a:rPr>
              <a:t>apoptosis</a:t>
            </a:r>
            <a:r>
              <a:rPr lang="zh-TW" altLang="en-US" b="0" i="0" dirty="0">
                <a:solidFill>
                  <a:srgbClr val="1F1F1F"/>
                </a:solidFill>
                <a:effectLst/>
                <a:latin typeface="ElsevierGulliver"/>
              </a:rPr>
              <a:t>訊號傳導的調控，以及是否促進</a:t>
            </a:r>
            <a:r>
              <a:rPr lang="en" altLang="zh-TW" b="0" i="0" dirty="0">
                <a:solidFill>
                  <a:srgbClr val="1F1F1F"/>
                </a:solidFill>
                <a:effectLst/>
                <a:latin typeface="ElsevierGulliver"/>
              </a:rPr>
              <a:t>p53</a:t>
            </a:r>
            <a:r>
              <a:rPr lang="zh-TW" altLang="en-US" b="0" i="0" dirty="0">
                <a:solidFill>
                  <a:srgbClr val="1F1F1F"/>
                </a:solidFill>
                <a:effectLst/>
                <a:latin typeface="ElsevierGulliver"/>
              </a:rPr>
              <a:t>在細胞核內的滯留和累積，那因為我們這次報告的重點主要在</a:t>
            </a:r>
            <a:r>
              <a:rPr lang="en-US" altLang="zh-TW" b="0" i="0" dirty="0">
                <a:solidFill>
                  <a:srgbClr val="1F1F1F"/>
                </a:solidFill>
                <a:effectLst/>
                <a:latin typeface="ElsevierGulliver"/>
              </a:rPr>
              <a:t>DDX3</a:t>
            </a:r>
            <a:r>
              <a:rPr lang="zh-TW" altLang="en-US" b="0" i="0" dirty="0">
                <a:solidFill>
                  <a:srgbClr val="1F1F1F"/>
                </a:solidFill>
                <a:effectLst/>
                <a:latin typeface="ElsevierGulliver"/>
              </a:rPr>
              <a:t>對</a:t>
            </a:r>
            <a:r>
              <a:rPr lang="en-US" altLang="zh-TW" b="0" i="0" dirty="0">
                <a:solidFill>
                  <a:srgbClr val="1F1F1F"/>
                </a:solidFill>
                <a:effectLst/>
                <a:latin typeface="ElsevierGulliver"/>
              </a:rPr>
              <a:t>Apoptosis</a:t>
            </a:r>
            <a:r>
              <a:rPr lang="zh-TW" altLang="en-US" b="0" i="0" dirty="0">
                <a:solidFill>
                  <a:srgbClr val="1F1F1F"/>
                </a:solidFill>
                <a:effectLst/>
                <a:latin typeface="ElsevierGulliver"/>
              </a:rPr>
              <a:t>的影響，所以關於</a:t>
            </a:r>
            <a:r>
              <a:rPr lang="en-US" altLang="zh-TW" b="0" i="0" dirty="0">
                <a:solidFill>
                  <a:srgbClr val="1F1F1F"/>
                </a:solidFill>
                <a:effectLst/>
                <a:latin typeface="ElsevierGulliver"/>
              </a:rPr>
              <a:t>DDX3</a:t>
            </a:r>
            <a:r>
              <a:rPr lang="zh-TW" altLang="en-US" b="0" i="0" dirty="0">
                <a:solidFill>
                  <a:srgbClr val="1F1F1F"/>
                </a:solidFill>
                <a:effectLst/>
                <a:latin typeface="ElsevierGulliver"/>
              </a:rPr>
              <a:t>對</a:t>
            </a:r>
            <a:r>
              <a:rPr lang="en-US" altLang="zh-TW" b="0" i="0" dirty="0">
                <a:solidFill>
                  <a:srgbClr val="1F1F1F"/>
                </a:solidFill>
                <a:effectLst/>
                <a:latin typeface="ElsevierGulliver"/>
              </a:rPr>
              <a:t>p53</a:t>
            </a:r>
            <a:r>
              <a:rPr lang="zh-TW" altLang="en-US" b="0" i="0" dirty="0">
                <a:solidFill>
                  <a:srgbClr val="1F1F1F"/>
                </a:solidFill>
                <a:effectLst/>
                <a:latin typeface="ElsevierGulliver"/>
              </a:rPr>
              <a:t>的累積和穩定性的部分就不會特別說。</a:t>
            </a:r>
            <a:endParaRPr lang="en-US" altLang="zh-TW" b="0" i="0" dirty="0">
              <a:solidFill>
                <a:srgbClr val="1F1F1F"/>
              </a:solidFill>
              <a:effectLst/>
              <a:latin typeface="ElsevierGulliver"/>
            </a:endParaRPr>
          </a:p>
        </p:txBody>
      </p:sp>
      <p:sp>
        <p:nvSpPr>
          <p:cNvPr id="4" name="投影片編號版面配置區 3">
            <a:extLst>
              <a:ext uri="{FF2B5EF4-FFF2-40B4-BE49-F238E27FC236}">
                <a16:creationId xmlns:a16="http://schemas.microsoft.com/office/drawing/2014/main" id="{254FF065-D929-7324-94BD-A9BF4950558F}"/>
              </a:ext>
            </a:extLst>
          </p:cNvPr>
          <p:cNvSpPr>
            <a:spLocks noGrp="1"/>
          </p:cNvSpPr>
          <p:nvPr>
            <p:ph type="sldNum" sz="quarter" idx="5"/>
          </p:nvPr>
        </p:nvSpPr>
        <p:spPr/>
        <p:txBody>
          <a:bodyPr/>
          <a:lstStyle/>
          <a:p>
            <a:fld id="{61CA63BF-C9DC-9844-BCA0-064E1D9BA987}" type="slidenum">
              <a:rPr kumimoji="1" lang="zh-TW" altLang="en-US" smtClean="0"/>
              <a:t>26</a:t>
            </a:fld>
            <a:endParaRPr kumimoji="1" lang="zh-TW" altLang="en-US"/>
          </a:p>
        </p:txBody>
      </p:sp>
    </p:spTree>
    <p:extLst>
      <p:ext uri="{BB962C8B-B14F-4D97-AF65-F5344CB8AC3E}">
        <p14:creationId xmlns:p14="http://schemas.microsoft.com/office/powerpoint/2010/main" val="2906872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0C62A-FCFC-5656-C2FD-C9F586F5B5D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72E9452-AF5C-2411-95D4-40282918D7A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51F3872-FA79-856F-D8EE-DCFB56BFF951}"/>
              </a:ext>
            </a:extLst>
          </p:cNvPr>
          <p:cNvSpPr>
            <a:spLocks noGrp="1"/>
          </p:cNvSpPr>
          <p:nvPr>
            <p:ph type="body" idx="1"/>
          </p:nvPr>
        </p:nvSpPr>
        <p:spPr/>
        <p:txBody>
          <a:bodyPr/>
          <a:lstStyle/>
          <a:p>
            <a:pPr marL="0" indent="-457200">
              <a:lnSpc>
                <a:spcPct val="100000"/>
              </a:lnSpc>
              <a:buNone/>
            </a:pPr>
            <a:r>
              <a:rPr lang="en" altLang="zh-TW" dirty="0"/>
              <a:t>MCF-7 </a:t>
            </a:r>
            <a:r>
              <a:rPr lang="zh-TW" altLang="en-US" dirty="0"/>
              <a:t>細胞：人類乳腺癌細胞</a:t>
            </a:r>
            <a:endParaRPr lang="en-US" altLang="zh-TW" dirty="0"/>
          </a:p>
          <a:p>
            <a:pPr marL="0" indent="-457200">
              <a:lnSpc>
                <a:spcPct val="100000"/>
              </a:lnSpc>
              <a:buNone/>
            </a:pPr>
            <a:endParaRPr lang="zh-TW" altLang="en-US"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首先他們想測試</a:t>
            </a:r>
            <a:r>
              <a:rPr lang="en"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是否參與調控</a:t>
            </a:r>
            <a:r>
              <a:rPr lang="zh-TW" altLang="en-US" b="0" i="0" dirty="0">
                <a:solidFill>
                  <a:srgbClr val="1F1F1F"/>
                </a:solidFill>
                <a:effectLst/>
                <a:latin typeface="ElsevierGulliver"/>
              </a:rPr>
              <a:t>內源性 </a:t>
            </a:r>
            <a:r>
              <a:rPr lang="en-US" altLang="zh-TW" b="0" i="0" dirty="0">
                <a:solidFill>
                  <a:srgbClr val="1F1F1F"/>
                </a:solidFill>
                <a:effectLst/>
                <a:latin typeface="ElsevierGulliver"/>
              </a:rPr>
              <a:t>apoptosis</a:t>
            </a:r>
            <a:r>
              <a:rPr lang="zh-TW" altLang="en-US" sz="1600" b="0" kern="1200" dirty="0">
                <a:solidFill>
                  <a:schemeClr val="tx1"/>
                </a:solidFill>
                <a:latin typeface="+mn-lt"/>
                <a:ea typeface="+mn-ea"/>
                <a:cs typeface="+mn-cs"/>
              </a:rPr>
              <a:t>。</a:t>
            </a:r>
            <a:endParaRPr lang="en-US" altLang="zh-TW"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他們先利用三種刺激內源性</a:t>
            </a:r>
            <a:r>
              <a:rPr lang="en" altLang="zh-TW" sz="1600" b="0" kern="1200" dirty="0">
                <a:solidFill>
                  <a:schemeClr val="tx1"/>
                </a:solidFill>
                <a:latin typeface="+mn-lt"/>
                <a:ea typeface="+mn-ea"/>
                <a:cs typeface="+mn-cs"/>
              </a:rPr>
              <a:t>apoptosis</a:t>
            </a:r>
            <a:r>
              <a:rPr lang="zh-TW" altLang="en-US" sz="1600" b="0" kern="1200" dirty="0">
                <a:solidFill>
                  <a:schemeClr val="tx1"/>
                </a:solidFill>
                <a:latin typeface="+mn-lt"/>
                <a:ea typeface="+mn-ea"/>
                <a:cs typeface="+mn-cs"/>
              </a:rPr>
              <a:t>的刺激物 ： </a:t>
            </a:r>
            <a:r>
              <a:rPr lang="en" altLang="zh-TW" sz="1600" b="0" kern="1200" dirty="0" err="1">
                <a:solidFill>
                  <a:schemeClr val="tx1"/>
                </a:solidFill>
                <a:latin typeface="+mn-lt"/>
                <a:ea typeface="+mn-ea"/>
                <a:cs typeface="+mn-cs"/>
              </a:rPr>
              <a:t>staurosporine</a:t>
            </a:r>
            <a:r>
              <a:rPr lang="zh-TW" altLang="en" sz="1600" b="0" kern="1200" dirty="0">
                <a:solidFill>
                  <a:schemeClr val="tx1"/>
                </a:solidFill>
                <a:latin typeface="+mn-lt"/>
                <a:ea typeface="+mn-ea"/>
                <a:cs typeface="+mn-cs"/>
              </a:rPr>
              <a:t>、</a:t>
            </a:r>
            <a:r>
              <a:rPr lang="en" altLang="zh-TW" sz="1600" b="0" kern="1200" dirty="0" err="1">
                <a:solidFill>
                  <a:schemeClr val="tx1"/>
                </a:solidFill>
                <a:latin typeface="+mn-lt"/>
                <a:ea typeface="+mn-ea"/>
                <a:cs typeface="+mn-cs"/>
              </a:rPr>
              <a:t>thapsigargin</a:t>
            </a:r>
            <a:r>
              <a:rPr lang="zh-TW" altLang="en" sz="1600" b="0" kern="1200" dirty="0">
                <a:solidFill>
                  <a:schemeClr val="tx1"/>
                </a:solidFill>
                <a:latin typeface="+mn-lt"/>
                <a:ea typeface="+mn-ea"/>
                <a:cs typeface="+mn-cs"/>
              </a:rPr>
              <a:t>、</a:t>
            </a:r>
            <a:r>
              <a:rPr lang="en" altLang="zh-TW" sz="1600" b="0" kern="1200" dirty="0" err="1">
                <a:solidFill>
                  <a:schemeClr val="tx1"/>
                </a:solidFill>
                <a:latin typeface="+mn-lt"/>
                <a:ea typeface="+mn-ea"/>
                <a:cs typeface="+mn-cs"/>
              </a:rPr>
              <a:t>camptothecin</a:t>
            </a:r>
            <a:r>
              <a:rPr lang="zh-TW" altLang="en-US" sz="1600" b="0" kern="1200" dirty="0">
                <a:solidFill>
                  <a:schemeClr val="tx1"/>
                </a:solidFill>
                <a:latin typeface="+mn-lt"/>
                <a:ea typeface="+mn-ea"/>
                <a:cs typeface="+mn-cs"/>
              </a:rPr>
              <a:t>來誘導內源性</a:t>
            </a:r>
            <a:r>
              <a:rPr lang="en-US" altLang="zh-TW" sz="1600" b="0" kern="1200" dirty="0">
                <a:solidFill>
                  <a:schemeClr val="tx1"/>
                </a:solidFill>
                <a:latin typeface="+mn-lt"/>
                <a:ea typeface="+mn-ea"/>
                <a:cs typeface="+mn-cs"/>
              </a:rPr>
              <a:t>apoptosis</a:t>
            </a:r>
            <a:r>
              <a:rPr lang="zh-TW" altLang="en-US" sz="1600" b="0" kern="1200" dirty="0">
                <a:solidFill>
                  <a:schemeClr val="tx1"/>
                </a:solidFill>
                <a:latin typeface="+mn-lt"/>
                <a:ea typeface="+mn-ea"/>
                <a:cs typeface="+mn-cs"/>
              </a:rPr>
              <a:t>，透過測量</a:t>
            </a:r>
            <a:r>
              <a:rPr lang="en" altLang="zh-TW" sz="1600" b="0" kern="1200" dirty="0">
                <a:solidFill>
                  <a:schemeClr val="tx1"/>
                </a:solidFill>
                <a:latin typeface="+mn-lt"/>
                <a:ea typeface="+mn-ea"/>
                <a:cs typeface="+mn-cs"/>
              </a:rPr>
              <a:t>caspase 3</a:t>
            </a:r>
            <a:r>
              <a:rPr lang="zh-TW" altLang="en-US" sz="1600" b="0" kern="1200" dirty="0">
                <a:solidFill>
                  <a:schemeClr val="tx1"/>
                </a:solidFill>
                <a:latin typeface="+mn-lt"/>
                <a:ea typeface="+mn-ea"/>
                <a:cs typeface="+mn-cs"/>
              </a:rPr>
              <a:t>或 </a:t>
            </a:r>
            <a:r>
              <a:rPr lang="en-US" altLang="zh-TW" sz="1600" b="0" kern="1200" dirty="0">
                <a:solidFill>
                  <a:schemeClr val="tx1"/>
                </a:solidFill>
                <a:latin typeface="+mn-lt"/>
                <a:ea typeface="+mn-ea"/>
                <a:cs typeface="+mn-cs"/>
              </a:rPr>
              <a:t>7 </a:t>
            </a:r>
            <a:r>
              <a:rPr lang="zh-TW" altLang="en-US" sz="1600" b="0" kern="1200" dirty="0">
                <a:solidFill>
                  <a:schemeClr val="tx1"/>
                </a:solidFill>
                <a:latin typeface="+mn-lt"/>
                <a:ea typeface="+mn-ea"/>
                <a:cs typeface="+mn-cs"/>
              </a:rPr>
              <a:t>的活化和</a:t>
            </a:r>
            <a:r>
              <a:rPr lang="en" altLang="zh-TW" sz="1600" b="0" kern="1200" dirty="0">
                <a:solidFill>
                  <a:schemeClr val="tx1"/>
                </a:solidFill>
                <a:latin typeface="+mn-lt"/>
                <a:ea typeface="+mn-ea"/>
                <a:cs typeface="+mn-cs"/>
              </a:rPr>
              <a:t>PARP</a:t>
            </a:r>
            <a:r>
              <a:rPr lang="zh-TW" altLang="en-US" sz="1600" b="0" kern="1200" dirty="0">
                <a:solidFill>
                  <a:schemeClr val="tx1"/>
                </a:solidFill>
                <a:latin typeface="+mn-lt"/>
                <a:ea typeface="+mn-ea"/>
                <a:cs typeface="+mn-cs"/>
              </a:rPr>
              <a:t>的裂解來檢測</a:t>
            </a:r>
            <a:r>
              <a:rPr lang="en-US" altLang="zh-TW" sz="1600" b="0" kern="1200" dirty="0">
                <a:solidFill>
                  <a:schemeClr val="tx1"/>
                </a:solidFill>
                <a:latin typeface="+mn-lt"/>
                <a:ea typeface="+mn-ea"/>
                <a:cs typeface="+mn-cs"/>
              </a:rPr>
              <a:t>apoptosis</a:t>
            </a:r>
            <a:r>
              <a:rPr lang="zh-TW" altLang="en-US" sz="1600" b="0" kern="1200" dirty="0">
                <a:solidFill>
                  <a:schemeClr val="tx1"/>
                </a:solidFill>
                <a:latin typeface="+mn-lt"/>
                <a:ea typeface="+mn-ea"/>
                <a:cs typeface="+mn-cs"/>
              </a:rPr>
              <a:t>訊號，並且實驗和對照組分別用</a:t>
            </a:r>
            <a:r>
              <a:rPr lang="en-US" altLang="zh-TW" sz="1600" b="0" kern="1200" dirty="0">
                <a:solidFill>
                  <a:schemeClr val="tx1"/>
                </a:solidFill>
                <a:latin typeface="+mn-lt"/>
                <a:ea typeface="+mn-ea"/>
                <a:cs typeface="+mn-cs"/>
              </a:rPr>
              <a:t>WT KD</a:t>
            </a:r>
            <a:r>
              <a:rPr lang="zh-TW" altLang="en-US" sz="1600" b="0" kern="1200" dirty="0">
                <a:solidFill>
                  <a:schemeClr val="tx1"/>
                </a:solidFill>
                <a:latin typeface="+mn-lt"/>
                <a:ea typeface="+mn-ea"/>
                <a:cs typeface="+mn-cs"/>
              </a:rPr>
              <a:t> </a:t>
            </a:r>
            <a:r>
              <a:rPr lang="en"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的細胞來檢查 </a:t>
            </a:r>
            <a:r>
              <a:rPr lang="en"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的調控作用。</a:t>
            </a:r>
            <a:endParaRPr lang="en-US" altLang="zh-TW" sz="1600" b="0" kern="1200" dirty="0">
              <a:solidFill>
                <a:schemeClr val="tx1"/>
              </a:solidFill>
              <a:latin typeface="+mn-lt"/>
              <a:ea typeface="+mn-ea"/>
              <a:cs typeface="+mn-cs"/>
            </a:endParaRPr>
          </a:p>
          <a:p>
            <a:pPr marL="0" indent="-457200">
              <a:lnSpc>
                <a:spcPct val="100000"/>
              </a:lnSpc>
              <a:buNone/>
            </a:pPr>
            <a:endParaRPr lang="en-US" altLang="zh-TW"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。從圖ａ和圖ｂ可以看見：</a:t>
            </a:r>
            <a:endParaRPr lang="en-US" altLang="zh-TW"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不論是用</a:t>
            </a:r>
            <a:r>
              <a:rPr lang="en-US" altLang="zh-TW" sz="1600" b="0" kern="1200" dirty="0">
                <a:solidFill>
                  <a:schemeClr val="tx1"/>
                </a:solidFill>
                <a:latin typeface="+mn-lt"/>
                <a:ea typeface="+mn-ea"/>
                <a:cs typeface="+mn-cs"/>
              </a:rPr>
              <a:t>1 </a:t>
            </a:r>
            <a:r>
              <a:rPr lang="el-GR" altLang="zh-TW" sz="1600" b="0" kern="1200" dirty="0">
                <a:solidFill>
                  <a:schemeClr val="tx1"/>
                </a:solidFill>
                <a:latin typeface="+mn-lt"/>
                <a:ea typeface="+mn-ea"/>
                <a:cs typeface="+mn-cs"/>
              </a:rPr>
              <a:t>μ</a:t>
            </a:r>
            <a:r>
              <a:rPr lang="en" altLang="zh-TW" sz="1600" b="0" kern="1200" dirty="0">
                <a:solidFill>
                  <a:schemeClr val="tx1"/>
                </a:solidFill>
                <a:latin typeface="+mn-lt"/>
                <a:ea typeface="+mn-ea"/>
                <a:cs typeface="+mn-cs"/>
              </a:rPr>
              <a:t>M </a:t>
            </a:r>
            <a:r>
              <a:rPr lang="en" altLang="zh-TW" sz="1600" b="0" kern="1200" dirty="0" err="1">
                <a:solidFill>
                  <a:schemeClr val="tx1"/>
                </a:solidFill>
                <a:latin typeface="+mn-lt"/>
                <a:ea typeface="+mn-ea"/>
                <a:cs typeface="+mn-cs"/>
              </a:rPr>
              <a:t>staurosporine</a:t>
            </a:r>
            <a:r>
              <a:rPr lang="zh-TW" altLang="en-US" sz="1600" b="0" kern="1200" dirty="0">
                <a:solidFill>
                  <a:schemeClr val="tx1"/>
                </a:solidFill>
                <a:latin typeface="+mn-lt"/>
                <a:ea typeface="+mn-ea"/>
                <a:cs typeface="+mn-cs"/>
              </a:rPr>
              <a:t>或是用 </a:t>
            </a:r>
            <a:r>
              <a:rPr lang="en-US" altLang="zh-TW" sz="1600" b="0" kern="1200" dirty="0">
                <a:solidFill>
                  <a:schemeClr val="tx1"/>
                </a:solidFill>
                <a:latin typeface="+mn-lt"/>
                <a:ea typeface="+mn-ea"/>
                <a:cs typeface="+mn-cs"/>
              </a:rPr>
              <a:t>1 </a:t>
            </a:r>
            <a:r>
              <a:rPr lang="el-GR" altLang="zh-TW" sz="1600" b="0" kern="1200" dirty="0">
                <a:solidFill>
                  <a:schemeClr val="tx1"/>
                </a:solidFill>
                <a:latin typeface="+mn-lt"/>
                <a:ea typeface="+mn-ea"/>
                <a:cs typeface="+mn-cs"/>
              </a:rPr>
              <a:t>μ</a:t>
            </a:r>
            <a:r>
              <a:rPr lang="en" altLang="zh-TW" sz="1600" b="0" kern="1200" dirty="0">
                <a:solidFill>
                  <a:schemeClr val="tx1"/>
                </a:solidFill>
                <a:latin typeface="+mn-lt"/>
                <a:ea typeface="+mn-ea"/>
                <a:cs typeface="+mn-cs"/>
              </a:rPr>
              <a:t>M </a:t>
            </a:r>
            <a:r>
              <a:rPr lang="en" altLang="zh-TW" sz="1600" b="0" kern="1200" dirty="0" err="1">
                <a:solidFill>
                  <a:schemeClr val="tx1"/>
                </a:solidFill>
                <a:latin typeface="+mn-lt"/>
                <a:ea typeface="+mn-ea"/>
                <a:cs typeface="+mn-cs"/>
              </a:rPr>
              <a:t>thapsigargin</a:t>
            </a:r>
            <a:r>
              <a:rPr lang="zh-TW" altLang="en-US" sz="1600" b="0" kern="1200" dirty="0">
                <a:solidFill>
                  <a:schemeClr val="tx1"/>
                </a:solidFill>
                <a:latin typeface="+mn-lt"/>
                <a:ea typeface="+mn-ea"/>
                <a:cs typeface="+mn-cs"/>
              </a:rPr>
              <a:t>處理，都導致 </a:t>
            </a:r>
            <a:r>
              <a:rPr lang="en" altLang="zh-TW" sz="1600" b="0" kern="1200" dirty="0">
                <a:solidFill>
                  <a:schemeClr val="tx1"/>
                </a:solidFill>
                <a:latin typeface="+mn-lt"/>
                <a:ea typeface="+mn-ea"/>
                <a:cs typeface="+mn-cs"/>
              </a:rPr>
              <a:t>MCF-7 </a:t>
            </a:r>
            <a:r>
              <a:rPr lang="zh-TW" altLang="en-US" sz="1600" b="0" kern="1200" dirty="0">
                <a:solidFill>
                  <a:schemeClr val="tx1"/>
                </a:solidFill>
                <a:latin typeface="+mn-lt"/>
                <a:ea typeface="+mn-ea"/>
                <a:cs typeface="+mn-cs"/>
              </a:rPr>
              <a:t>細胞中 </a:t>
            </a:r>
            <a:r>
              <a:rPr lang="en" altLang="zh-TW" sz="1600" b="0" kern="1200" dirty="0">
                <a:solidFill>
                  <a:schemeClr val="tx1"/>
                </a:solidFill>
                <a:latin typeface="+mn-lt"/>
                <a:ea typeface="+mn-ea"/>
                <a:cs typeface="+mn-cs"/>
              </a:rPr>
              <a:t>caspase-7 </a:t>
            </a:r>
            <a:r>
              <a:rPr lang="zh-TW" altLang="en-US" sz="1600" b="0" kern="1200" dirty="0">
                <a:solidFill>
                  <a:schemeClr val="tx1"/>
                </a:solidFill>
                <a:latin typeface="+mn-lt"/>
                <a:ea typeface="+mn-ea"/>
                <a:cs typeface="+mn-cs"/>
              </a:rPr>
              <a:t>活化和</a:t>
            </a:r>
            <a:r>
              <a:rPr lang="en" altLang="zh-TW" sz="1600" b="0" kern="1200" dirty="0">
                <a:solidFill>
                  <a:schemeClr val="tx1"/>
                </a:solidFill>
                <a:latin typeface="+mn-lt"/>
                <a:ea typeface="+mn-ea"/>
                <a:cs typeface="+mn-cs"/>
              </a:rPr>
              <a:t>PARP</a:t>
            </a:r>
            <a:r>
              <a:rPr lang="zh-TW" altLang="en-US" sz="1600" b="0" kern="1200" dirty="0">
                <a:solidFill>
                  <a:schemeClr val="tx1"/>
                </a:solidFill>
                <a:latin typeface="+mn-lt"/>
                <a:ea typeface="+mn-ea"/>
                <a:cs typeface="+mn-cs"/>
              </a:rPr>
              <a:t>的裂解會隨時間增加，並且在 </a:t>
            </a:r>
            <a:r>
              <a:rPr lang="en-US" altLang="zh-TW" sz="1600" b="0" kern="1200" dirty="0">
                <a:solidFill>
                  <a:schemeClr val="tx1"/>
                </a:solidFill>
                <a:latin typeface="+mn-lt"/>
                <a:ea typeface="+mn-ea"/>
                <a:cs typeface="+mn-cs"/>
              </a:rPr>
              <a:t>KD</a:t>
            </a:r>
            <a:r>
              <a:rPr lang="zh-TW" altLang="en-US" sz="1600" b="0" kern="1200" dirty="0">
                <a:solidFill>
                  <a:schemeClr val="tx1"/>
                </a:solidFill>
                <a:latin typeface="+mn-lt"/>
                <a:ea typeface="+mn-ea"/>
                <a:cs typeface="+mn-cs"/>
              </a:rPr>
              <a:t> </a:t>
            </a:r>
            <a:r>
              <a:rPr lang="en"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並不會改變這樣的結果</a:t>
            </a:r>
            <a:r>
              <a:rPr lang="zh-TW" altLang="en" sz="1600" b="0" kern="1200" dirty="0">
                <a:solidFill>
                  <a:schemeClr val="tx1"/>
                </a:solidFill>
                <a:latin typeface="+mn-lt"/>
                <a:ea typeface="+mn-ea"/>
                <a:cs typeface="+mn-cs"/>
              </a:rPr>
              <a:t>。</a:t>
            </a:r>
            <a:endParaRPr lang="en-US" altLang="zh-TW" sz="1600" b="0" kern="1200" dirty="0">
              <a:solidFill>
                <a:schemeClr val="tx1"/>
              </a:solidFill>
              <a:latin typeface="+mn-lt"/>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lang="zh-TW" altLang="en-US" sz="1600" b="0" kern="1200" dirty="0">
                <a:solidFill>
                  <a:schemeClr val="tx1"/>
                </a:solidFill>
                <a:latin typeface="+mn-lt"/>
                <a:ea typeface="+mn-ea"/>
                <a:cs typeface="+mn-cs"/>
              </a:rPr>
              <a:t>。從圖</a:t>
            </a:r>
            <a:r>
              <a:rPr lang="en-US" altLang="zh-TW" sz="1600" b="0" kern="1200" dirty="0">
                <a:solidFill>
                  <a:schemeClr val="tx1"/>
                </a:solidFill>
                <a:latin typeface="+mn-lt"/>
                <a:ea typeface="+mn-ea"/>
                <a:cs typeface="+mn-cs"/>
              </a:rPr>
              <a:t>c</a:t>
            </a:r>
            <a:r>
              <a:rPr lang="zh-TW" altLang="en-US" sz="1600" b="0" kern="1200" dirty="0">
                <a:solidFill>
                  <a:schemeClr val="tx1"/>
                </a:solidFill>
                <a:latin typeface="+mn-lt"/>
                <a:ea typeface="+mn-ea"/>
                <a:cs typeface="+mn-cs"/>
              </a:rPr>
              <a:t>可以看見：</a:t>
            </a:r>
            <a:endParaRPr lang="en-US" altLang="zh-TW"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與其他兩種相反，在 </a:t>
            </a:r>
            <a:r>
              <a:rPr lang="en-US" altLang="zh-TW" sz="1600" b="0" kern="1200" dirty="0">
                <a:solidFill>
                  <a:schemeClr val="tx1"/>
                </a:solidFill>
                <a:latin typeface="+mn-lt"/>
                <a:ea typeface="+mn-ea"/>
                <a:cs typeface="+mn-cs"/>
              </a:rPr>
              <a:t>10 </a:t>
            </a:r>
            <a:r>
              <a:rPr lang="el-GR" altLang="zh-TW" sz="1600" b="0" kern="1200" dirty="0">
                <a:solidFill>
                  <a:schemeClr val="tx1"/>
                </a:solidFill>
                <a:latin typeface="+mn-lt"/>
                <a:ea typeface="+mn-ea"/>
                <a:cs typeface="+mn-cs"/>
              </a:rPr>
              <a:t>μ</a:t>
            </a:r>
            <a:r>
              <a:rPr lang="en" altLang="zh-TW" sz="1600" b="0" kern="1200" dirty="0">
                <a:solidFill>
                  <a:schemeClr val="tx1"/>
                </a:solidFill>
                <a:latin typeface="+mn-lt"/>
                <a:ea typeface="+mn-ea"/>
                <a:cs typeface="+mn-cs"/>
              </a:rPr>
              <a:t>M </a:t>
            </a:r>
            <a:r>
              <a:rPr lang="zh-TW" altLang="en-US" sz="1600" b="0" kern="1200" dirty="0">
                <a:solidFill>
                  <a:schemeClr val="tx1"/>
                </a:solidFill>
                <a:latin typeface="+mn-lt"/>
                <a:ea typeface="+mn-ea"/>
                <a:cs typeface="+mn-cs"/>
              </a:rPr>
              <a:t>喜樹鹼處理後，敲低 </a:t>
            </a:r>
            <a:r>
              <a:rPr lang="en" altLang="zh-TW" sz="1600" b="0" kern="1200" dirty="0">
                <a:solidFill>
                  <a:schemeClr val="tx1"/>
                </a:solidFill>
                <a:latin typeface="+mn-lt"/>
                <a:ea typeface="+mn-ea"/>
                <a:cs typeface="+mn-cs"/>
              </a:rPr>
              <a:t>DDX3</a:t>
            </a:r>
            <a:r>
              <a:rPr lang="zh-TW" altLang="en-US" sz="1600" b="0" kern="1200" dirty="0">
                <a:solidFill>
                  <a:schemeClr val="tx1"/>
                </a:solidFill>
                <a:latin typeface="+mn-lt"/>
                <a:ea typeface="+mn-ea"/>
                <a:cs typeface="+mn-cs"/>
              </a:rPr>
              <a:t>反而會導致 </a:t>
            </a:r>
            <a:r>
              <a:rPr lang="en" altLang="zh-TW" sz="1600" b="0" kern="1200" dirty="0">
                <a:solidFill>
                  <a:schemeClr val="tx1"/>
                </a:solidFill>
                <a:latin typeface="+mn-lt"/>
                <a:ea typeface="+mn-ea"/>
                <a:cs typeface="+mn-cs"/>
              </a:rPr>
              <a:t>MCF-7 </a:t>
            </a:r>
            <a:r>
              <a:rPr lang="zh-TW" altLang="en-US" sz="1600" b="0" kern="1200" dirty="0">
                <a:solidFill>
                  <a:schemeClr val="tx1"/>
                </a:solidFill>
                <a:latin typeface="+mn-lt"/>
                <a:ea typeface="+mn-ea"/>
                <a:cs typeface="+mn-cs"/>
              </a:rPr>
              <a:t>細胞中 </a:t>
            </a:r>
            <a:r>
              <a:rPr lang="en" altLang="zh-TW" sz="1600" b="0" kern="1200" dirty="0">
                <a:solidFill>
                  <a:schemeClr val="tx1"/>
                </a:solidFill>
                <a:latin typeface="+mn-lt"/>
                <a:ea typeface="+mn-ea"/>
                <a:cs typeface="+mn-cs"/>
              </a:rPr>
              <a:t>caspase-7 </a:t>
            </a:r>
            <a:r>
              <a:rPr lang="zh-TW" altLang="en-US" sz="1600" b="0" kern="1200" dirty="0">
                <a:solidFill>
                  <a:schemeClr val="tx1"/>
                </a:solidFill>
                <a:latin typeface="+mn-lt"/>
                <a:ea typeface="+mn-ea"/>
                <a:cs typeface="+mn-cs"/>
              </a:rPr>
              <a:t>活化和 </a:t>
            </a:r>
            <a:r>
              <a:rPr lang="en" altLang="zh-TW" sz="1600" b="0" kern="1200" dirty="0">
                <a:solidFill>
                  <a:schemeClr val="tx1"/>
                </a:solidFill>
                <a:latin typeface="+mn-lt"/>
                <a:ea typeface="+mn-ea"/>
                <a:cs typeface="+mn-cs"/>
              </a:rPr>
              <a:t>PARP </a:t>
            </a:r>
            <a:r>
              <a:rPr lang="zh-TW" altLang="en-US" sz="1600" b="0" kern="1200" dirty="0">
                <a:solidFill>
                  <a:schemeClr val="tx1"/>
                </a:solidFill>
                <a:latin typeface="+mn-lt"/>
                <a:ea typeface="+mn-ea"/>
                <a:cs typeface="+mn-cs"/>
              </a:rPr>
              <a:t>裂解降低</a:t>
            </a:r>
            <a:endParaRPr lang="en-US" altLang="zh-TW" sz="1600" b="0" kern="1200" dirty="0">
              <a:solidFill>
                <a:schemeClr val="tx1"/>
              </a:solidFill>
              <a:latin typeface="+mn-lt"/>
              <a:ea typeface="+mn-ea"/>
              <a:cs typeface="+mn-cs"/>
            </a:endParaRPr>
          </a:p>
          <a:p>
            <a:pPr marL="0" indent="-457200">
              <a:lnSpc>
                <a:spcPct val="100000"/>
              </a:lnSpc>
              <a:buNone/>
            </a:pPr>
            <a:endParaRPr lang="zh-TW" altLang="en"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這些結果表明，</a:t>
            </a:r>
            <a:r>
              <a:rPr lang="en"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並不像影響外在凋亡訊號那樣會普遍影響內在凋亡訊號，但 </a:t>
            </a:r>
            <a:r>
              <a:rPr lang="en"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選擇性地調控由 </a:t>
            </a:r>
            <a:r>
              <a:rPr lang="en" altLang="zh-TW" b="0" i="0" dirty="0">
                <a:solidFill>
                  <a:srgbClr val="1F1F1F"/>
                </a:solidFill>
                <a:effectLst/>
                <a:latin typeface="ElsevierGulliver"/>
              </a:rPr>
              <a:t>DNA</a:t>
            </a:r>
            <a:r>
              <a:rPr lang="zh-TW" altLang="en-US" b="0" i="0" dirty="0">
                <a:solidFill>
                  <a:srgbClr val="1F1F1F"/>
                </a:solidFill>
                <a:effectLst/>
                <a:latin typeface="ElsevierGulliver"/>
              </a:rPr>
              <a:t> </a:t>
            </a:r>
            <a:r>
              <a:rPr lang="en-US" altLang="zh-TW" b="0" i="0" dirty="0">
                <a:solidFill>
                  <a:srgbClr val="1F1F1F"/>
                </a:solidFill>
                <a:effectLst/>
                <a:latin typeface="ElsevierGulliver"/>
              </a:rPr>
              <a:t>damage</a:t>
            </a:r>
            <a:r>
              <a:rPr lang="zh-TW" altLang="en-US" sz="1600" b="0" kern="1200" dirty="0">
                <a:solidFill>
                  <a:schemeClr val="tx1"/>
                </a:solidFill>
                <a:latin typeface="+mn-lt"/>
                <a:ea typeface="+mn-ea"/>
                <a:cs typeface="+mn-cs"/>
              </a:rPr>
              <a:t>引起的內在凋亡訊號 。</a:t>
            </a:r>
            <a:endParaRPr lang="en-US" altLang="zh-TW" sz="1600" b="0" kern="1200" dirty="0">
              <a:solidFill>
                <a:schemeClr val="tx1"/>
              </a:solidFill>
              <a:latin typeface="+mn-lt"/>
              <a:ea typeface="+mn-ea"/>
              <a:cs typeface="+mn-cs"/>
            </a:endParaRPr>
          </a:p>
          <a:p>
            <a:pPr marL="0" indent="-457200">
              <a:lnSpc>
                <a:spcPct val="100000"/>
              </a:lnSpc>
              <a:buNone/>
            </a:pPr>
            <a:endParaRPr lang="en-US" altLang="zh-TW" sz="1600" b="0" kern="1200" dirty="0">
              <a:solidFill>
                <a:schemeClr val="tx1"/>
              </a:solidFill>
              <a:latin typeface="+mn-lt"/>
              <a:ea typeface="+mn-ea"/>
              <a:cs typeface="+mn-cs"/>
            </a:endParaRPr>
          </a:p>
          <a:p>
            <a:pPr marL="0" indent="-457200">
              <a:lnSpc>
                <a:spcPct val="100000"/>
              </a:lnSpc>
              <a:buNone/>
            </a:pPr>
            <a:endParaRPr lang="en-US" altLang="zh-TW"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星形孢菌素，一種激酶抑制劑，眾所周知，它可以誘導幾乎所有類型細胞的內在細胞凋亡</a:t>
            </a:r>
            <a:r>
              <a:rPr lang="en-US" altLang="zh-TW" sz="1600" b="0" kern="1200" dirty="0">
                <a:solidFill>
                  <a:schemeClr val="tx1"/>
                </a:solidFill>
                <a:latin typeface="+mn-lt"/>
                <a:ea typeface="+mn-ea"/>
                <a:cs typeface="+mn-cs"/>
              </a:rPr>
              <a:t>[23]</a:t>
            </a:r>
            <a:r>
              <a:rPr lang="zh-TW" altLang="en-US" sz="1600" b="0" kern="1200" dirty="0">
                <a:solidFill>
                  <a:schemeClr val="tx1"/>
                </a:solidFill>
                <a:latin typeface="+mn-lt"/>
                <a:ea typeface="+mn-ea"/>
                <a:cs typeface="+mn-cs"/>
              </a:rPr>
              <a:t>，毒胡蘿蔔素，它抑制內質網</a:t>
            </a:r>
            <a:r>
              <a:rPr lang="en-US" altLang="zh-TW" sz="1600" b="0" kern="1200" dirty="0">
                <a:solidFill>
                  <a:schemeClr val="tx1"/>
                </a:solidFill>
                <a:latin typeface="+mn-lt"/>
                <a:ea typeface="+mn-ea"/>
                <a:cs typeface="+mn-cs"/>
              </a:rPr>
              <a:t>(</a:t>
            </a:r>
            <a:r>
              <a:rPr lang="en" altLang="zh-TW" sz="1600" b="0" kern="1200" dirty="0">
                <a:solidFill>
                  <a:schemeClr val="tx1"/>
                </a:solidFill>
                <a:latin typeface="+mn-lt"/>
                <a:ea typeface="+mn-ea"/>
                <a:cs typeface="+mn-cs"/>
              </a:rPr>
              <a:t>ER)</a:t>
            </a:r>
            <a:r>
              <a:rPr lang="zh-TW" altLang="en-US" sz="1600" b="0" kern="1200" dirty="0">
                <a:solidFill>
                  <a:schemeClr val="tx1"/>
                </a:solidFill>
                <a:latin typeface="+mn-lt"/>
                <a:ea typeface="+mn-ea"/>
                <a:cs typeface="+mn-cs"/>
              </a:rPr>
              <a:t>中的</a:t>
            </a:r>
            <a:r>
              <a:rPr lang="en" altLang="zh-TW" sz="1600" b="0" kern="1200" dirty="0">
                <a:solidFill>
                  <a:schemeClr val="tx1"/>
                </a:solidFill>
                <a:latin typeface="+mn-lt"/>
                <a:ea typeface="+mn-ea"/>
                <a:cs typeface="+mn-cs"/>
              </a:rPr>
              <a:t>Ca ++ -ATPase </a:t>
            </a:r>
            <a:r>
              <a:rPr lang="zh-TW" altLang="en" sz="1600" b="0" kern="1200" dirty="0">
                <a:solidFill>
                  <a:schemeClr val="tx1"/>
                </a:solidFill>
                <a:latin typeface="+mn-lt"/>
                <a:ea typeface="+mn-ea"/>
                <a:cs typeface="+mn-cs"/>
              </a:rPr>
              <a:t>，</a:t>
            </a:r>
            <a:r>
              <a:rPr lang="zh-TW" altLang="en-US" sz="1600" b="0" kern="1200" dirty="0">
                <a:solidFill>
                  <a:schemeClr val="tx1"/>
                </a:solidFill>
                <a:latin typeface="+mn-lt"/>
                <a:ea typeface="+mn-ea"/>
                <a:cs typeface="+mn-cs"/>
              </a:rPr>
              <a:t>導致 </a:t>
            </a:r>
            <a:r>
              <a:rPr lang="en" altLang="zh-TW" sz="1600" b="0" kern="1200" dirty="0">
                <a:solidFill>
                  <a:schemeClr val="tx1"/>
                </a:solidFill>
                <a:latin typeface="+mn-lt"/>
                <a:ea typeface="+mn-ea"/>
                <a:cs typeface="+mn-cs"/>
              </a:rPr>
              <a:t>ER </a:t>
            </a:r>
            <a:r>
              <a:rPr lang="zh-TW" altLang="en-US" sz="1600" b="0" kern="1200" dirty="0">
                <a:solidFill>
                  <a:schemeClr val="tx1"/>
                </a:solidFill>
                <a:latin typeface="+mn-lt"/>
                <a:ea typeface="+mn-ea"/>
                <a:cs typeface="+mn-cs"/>
              </a:rPr>
              <a:t>壓力誘導的細胞凋亡，</a:t>
            </a:r>
            <a:r>
              <a:rPr lang="en" altLang="zh-TW" sz="1600" b="0" kern="1200" dirty="0">
                <a:solidFill>
                  <a:schemeClr val="tx1"/>
                </a:solidFill>
                <a:latin typeface="+mn-lt"/>
                <a:ea typeface="+mn-ea"/>
                <a:cs typeface="+mn-cs"/>
              </a:rPr>
              <a:t>a topoisomerase 1 inhibitor that causes DNA damage resulting in p53-mediated apoptosis </a:t>
            </a:r>
            <a:endParaRPr lang="zh-TW" altLang="en-US" sz="1600" b="0" kern="1200" dirty="0">
              <a:solidFill>
                <a:schemeClr val="tx1"/>
              </a:solidFill>
              <a:latin typeface="+mn-lt"/>
              <a:ea typeface="+mn-ea"/>
              <a:cs typeface="+mn-cs"/>
            </a:endParaRPr>
          </a:p>
          <a:p>
            <a:pPr marL="0" indent="-457200">
              <a:lnSpc>
                <a:spcPct val="100000"/>
              </a:lnSpc>
              <a:buNone/>
            </a:pPr>
            <a:endParaRPr lang="zh-TW" altLang="en-US" sz="1200" b="0" kern="1200" dirty="0">
              <a:solidFill>
                <a:schemeClr val="tx1"/>
              </a:solidFill>
              <a:latin typeface="+mn-lt"/>
              <a:ea typeface="+mn-ea"/>
              <a:cs typeface="+mn-cs"/>
            </a:endParaRPr>
          </a:p>
          <a:p>
            <a:pPr marL="0" indent="0">
              <a:buNone/>
            </a:pPr>
            <a:endParaRPr lang="en-US" altLang="zh-TW" b="0" dirty="0"/>
          </a:p>
          <a:p>
            <a:pPr marL="0" indent="0">
              <a:buNone/>
            </a:pPr>
            <a:endParaRPr lang="en-US" altLang="zh-TW" sz="1200" b="0" i="0" u="none" kern="1200" dirty="0">
              <a:solidFill>
                <a:srgbClr val="1F1F1F"/>
              </a:solidFill>
              <a:effectLst/>
              <a:latin typeface="ElsevierGulliver"/>
              <a:ea typeface="+mn-ea"/>
              <a:cs typeface="+mn-cs"/>
            </a:endParaRPr>
          </a:p>
        </p:txBody>
      </p:sp>
      <p:sp>
        <p:nvSpPr>
          <p:cNvPr id="4" name="投影片編號版面配置區 3">
            <a:extLst>
              <a:ext uri="{FF2B5EF4-FFF2-40B4-BE49-F238E27FC236}">
                <a16:creationId xmlns:a16="http://schemas.microsoft.com/office/drawing/2014/main" id="{6405D236-04ED-ACD1-B7D2-DC9076F819B9}"/>
              </a:ext>
            </a:extLst>
          </p:cNvPr>
          <p:cNvSpPr>
            <a:spLocks noGrp="1"/>
          </p:cNvSpPr>
          <p:nvPr>
            <p:ph type="sldNum" sz="quarter" idx="5"/>
          </p:nvPr>
        </p:nvSpPr>
        <p:spPr/>
        <p:txBody>
          <a:bodyPr/>
          <a:lstStyle/>
          <a:p>
            <a:fld id="{61CA63BF-C9DC-9844-BCA0-064E1D9BA987}" type="slidenum">
              <a:rPr kumimoji="1" lang="zh-TW" altLang="en-US" smtClean="0"/>
              <a:t>27</a:t>
            </a:fld>
            <a:endParaRPr kumimoji="1" lang="zh-TW" altLang="en-US"/>
          </a:p>
        </p:txBody>
      </p:sp>
    </p:spTree>
    <p:extLst>
      <p:ext uri="{BB962C8B-B14F-4D97-AF65-F5344CB8AC3E}">
        <p14:creationId xmlns:p14="http://schemas.microsoft.com/office/powerpoint/2010/main" val="16376806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014A8-8EEC-E79D-6CCF-D738269AAE1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BDFFEA7-A813-1856-3B81-13E489200CA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2CD11AA-AEFA-E4E8-0B72-1E645CCFAD63}"/>
              </a:ext>
            </a:extLst>
          </p:cNvPr>
          <p:cNvSpPr>
            <a:spLocks noGrp="1"/>
          </p:cNvSpPr>
          <p:nvPr>
            <p:ph type="body" idx="1"/>
          </p:nvPr>
        </p:nvSpPr>
        <p:spPr/>
        <p:txBody>
          <a:bodyPr/>
          <a:lstStyle/>
          <a:p>
            <a:pPr marL="0" indent="-457200">
              <a:lnSpc>
                <a:spcPct val="100000"/>
              </a:lnSpc>
              <a:buNone/>
            </a:pPr>
            <a:r>
              <a:rPr lang="zh-TW" altLang="en-US" sz="1600" b="0" kern="1200" dirty="0">
                <a:solidFill>
                  <a:schemeClr val="tx1"/>
                </a:solidFill>
                <a:latin typeface="+mn-lt"/>
                <a:ea typeface="+mn-ea"/>
                <a:cs typeface="+mn-cs"/>
              </a:rPr>
              <a:t>前面他們已經確定</a:t>
            </a:r>
            <a:r>
              <a:rPr lang="en-US" altLang="zh-TW" sz="1600" b="0" kern="1200" dirty="0">
                <a:solidFill>
                  <a:schemeClr val="tx1"/>
                </a:solidFill>
                <a:latin typeface="+mn-lt"/>
                <a:ea typeface="+mn-ea"/>
                <a:cs typeface="+mn-cs"/>
              </a:rPr>
              <a:t>DDX3</a:t>
            </a:r>
            <a:r>
              <a:rPr lang="zh-TW" altLang="en-US" sz="1600" b="0" kern="1200" dirty="0">
                <a:solidFill>
                  <a:schemeClr val="tx1"/>
                </a:solidFill>
                <a:latin typeface="+mn-lt"/>
                <a:ea typeface="+mn-ea"/>
                <a:cs typeface="+mn-cs"/>
              </a:rPr>
              <a:t>會選擇性對內源性</a:t>
            </a:r>
            <a:r>
              <a:rPr lang="en-US" altLang="zh-TW" sz="1600" b="0" kern="1200" dirty="0">
                <a:solidFill>
                  <a:schemeClr val="tx1"/>
                </a:solidFill>
                <a:latin typeface="+mn-lt"/>
                <a:ea typeface="+mn-ea"/>
                <a:cs typeface="+mn-cs"/>
              </a:rPr>
              <a:t>apoptosis</a:t>
            </a:r>
            <a:r>
              <a:rPr lang="zh-TW" altLang="en-US" sz="1600" b="0" kern="1200" dirty="0">
                <a:solidFill>
                  <a:schemeClr val="tx1"/>
                </a:solidFill>
                <a:latin typeface="+mn-lt"/>
                <a:ea typeface="+mn-ea"/>
                <a:cs typeface="+mn-cs"/>
              </a:rPr>
              <a:t>進行調控，接下來他們想研究這些調控是否涉及 </a:t>
            </a:r>
            <a:r>
              <a:rPr lang="en-US" altLang="zh-TW" sz="1600" b="0" kern="1200" dirty="0">
                <a:solidFill>
                  <a:schemeClr val="tx1"/>
                </a:solidFill>
                <a:latin typeface="+mn-lt"/>
                <a:ea typeface="+mn-ea"/>
                <a:cs typeface="+mn-cs"/>
              </a:rPr>
              <a:t>p53</a:t>
            </a:r>
            <a:r>
              <a:rPr lang="zh-TW" altLang="en-US" sz="1600" b="0" kern="1200" dirty="0">
                <a:solidFill>
                  <a:schemeClr val="tx1"/>
                </a:solidFill>
                <a:latin typeface="+mn-lt"/>
                <a:ea typeface="+mn-ea"/>
                <a:cs typeface="+mn-cs"/>
              </a:rPr>
              <a:t>。</a:t>
            </a:r>
          </a:p>
          <a:p>
            <a:pPr marL="0" indent="-457200">
              <a:lnSpc>
                <a:spcPct val="100000"/>
              </a:lnSpc>
              <a:buNone/>
            </a:pPr>
            <a:endParaRPr lang="zh-TW" altLang="en-US"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他們選用</a:t>
            </a:r>
            <a:r>
              <a:rPr lang="en-US" altLang="zh-TW" sz="1600" b="0" kern="1200" dirty="0">
                <a:solidFill>
                  <a:schemeClr val="tx1"/>
                </a:solidFill>
                <a:latin typeface="+mn-lt"/>
                <a:ea typeface="+mn-ea"/>
                <a:cs typeface="+mn-cs"/>
              </a:rPr>
              <a:t>Hela</a:t>
            </a:r>
            <a:r>
              <a:rPr lang="zh-TW" altLang="en-US" sz="1600" b="0" kern="1200" dirty="0">
                <a:solidFill>
                  <a:schemeClr val="tx1"/>
                </a:solidFill>
                <a:latin typeface="+mn-lt"/>
                <a:ea typeface="+mn-ea"/>
                <a:cs typeface="+mn-cs"/>
              </a:rPr>
              <a:t>細胞來進行實驗（含非功能性</a:t>
            </a:r>
            <a:r>
              <a:rPr lang="en-US" altLang="zh-TW" sz="1600" b="0" kern="1200" dirty="0">
                <a:solidFill>
                  <a:schemeClr val="tx1"/>
                </a:solidFill>
                <a:latin typeface="+mn-lt"/>
                <a:ea typeface="+mn-ea"/>
                <a:cs typeface="+mn-cs"/>
              </a:rPr>
              <a:t>p53</a:t>
            </a:r>
            <a:r>
              <a:rPr lang="zh-TW" altLang="en-US" sz="1600" b="0" kern="1200" dirty="0">
                <a:solidFill>
                  <a:schemeClr val="tx1"/>
                </a:solidFill>
                <a:latin typeface="+mn-lt"/>
                <a:ea typeface="+mn-ea"/>
                <a:cs typeface="+mn-cs"/>
              </a:rPr>
              <a:t>：該細胞含有野生型 </a:t>
            </a:r>
            <a:r>
              <a:rPr lang="en-US" altLang="zh-TW" sz="1600" b="0" kern="1200" dirty="0">
                <a:solidFill>
                  <a:schemeClr val="tx1"/>
                </a:solidFill>
                <a:latin typeface="+mn-lt"/>
                <a:ea typeface="+mn-ea"/>
                <a:cs typeface="+mn-cs"/>
              </a:rPr>
              <a:t>p53</a:t>
            </a:r>
            <a:r>
              <a:rPr lang="zh-TW" altLang="en-US" sz="1600" b="0" kern="1200" dirty="0">
                <a:solidFill>
                  <a:schemeClr val="tx1"/>
                </a:solidFill>
                <a:latin typeface="+mn-lt"/>
                <a:ea typeface="+mn-ea"/>
                <a:cs typeface="+mn-cs"/>
              </a:rPr>
              <a:t>由於人類乳頭瘤病毒</a:t>
            </a:r>
            <a:r>
              <a:rPr lang="en-US" altLang="zh-TW" sz="1600" b="0" kern="1200" dirty="0">
                <a:solidFill>
                  <a:schemeClr val="tx1"/>
                </a:solidFill>
                <a:latin typeface="+mn-lt"/>
                <a:ea typeface="+mn-ea"/>
                <a:cs typeface="+mn-cs"/>
              </a:rPr>
              <a:t>E6 </a:t>
            </a:r>
            <a:r>
              <a:rPr lang="zh-TW" altLang="en-US" sz="1600" b="0" kern="1200" dirty="0">
                <a:solidFill>
                  <a:schemeClr val="tx1"/>
                </a:solidFill>
                <a:latin typeface="+mn-lt"/>
                <a:ea typeface="+mn-ea"/>
                <a:cs typeface="+mn-cs"/>
              </a:rPr>
              <a:t>蛋白的存在，其功能被破壞）。而 </a:t>
            </a:r>
            <a:r>
              <a:rPr lang="en-US" altLang="zh-TW" sz="1600" b="0" kern="1200" dirty="0">
                <a:solidFill>
                  <a:schemeClr val="tx1"/>
                </a:solidFill>
                <a:latin typeface="+mn-lt"/>
                <a:ea typeface="+mn-ea"/>
                <a:cs typeface="+mn-cs"/>
              </a:rPr>
              <a:t>MCF-7 </a:t>
            </a:r>
            <a:r>
              <a:rPr lang="zh-TW" altLang="en-US" sz="1600" b="0" kern="1200" dirty="0">
                <a:solidFill>
                  <a:schemeClr val="tx1"/>
                </a:solidFill>
                <a:latin typeface="+mn-lt"/>
                <a:ea typeface="+mn-ea"/>
                <a:cs typeface="+mn-cs"/>
              </a:rPr>
              <a:t>細胞則負責表達野生型功能性</a:t>
            </a:r>
            <a:r>
              <a:rPr lang="en-US" altLang="zh-TW" sz="1600" b="0" kern="1200" dirty="0">
                <a:solidFill>
                  <a:schemeClr val="tx1"/>
                </a:solidFill>
                <a:latin typeface="+mn-lt"/>
                <a:ea typeface="+mn-ea"/>
                <a:cs typeface="+mn-cs"/>
              </a:rPr>
              <a:t>p53</a:t>
            </a:r>
            <a:r>
              <a:rPr lang="zh-TW" altLang="en-US" sz="1600" b="0" kern="1200" dirty="0">
                <a:solidFill>
                  <a:schemeClr val="tx1"/>
                </a:solidFill>
                <a:latin typeface="+mn-lt"/>
                <a:ea typeface="+mn-ea"/>
                <a:cs typeface="+mn-cs"/>
              </a:rPr>
              <a:t>。</a:t>
            </a:r>
            <a:endParaRPr lang="en-US" altLang="zh-TW" sz="1600" b="0" kern="1200" dirty="0">
              <a:solidFill>
                <a:schemeClr val="tx1"/>
              </a:solidFill>
              <a:latin typeface="+mn-lt"/>
              <a:ea typeface="+mn-ea"/>
              <a:cs typeface="+mn-cs"/>
            </a:endParaRPr>
          </a:p>
          <a:p>
            <a:pPr marL="0" indent="-457200">
              <a:lnSpc>
                <a:spcPct val="100000"/>
              </a:lnSpc>
              <a:buNone/>
            </a:pPr>
            <a:endParaRPr lang="zh-TW" altLang="en-US"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。從圖</a:t>
            </a:r>
            <a:r>
              <a:rPr lang="en-US" altLang="zh-TW" sz="1600" b="0" kern="1200" dirty="0">
                <a:solidFill>
                  <a:schemeClr val="tx1"/>
                </a:solidFill>
                <a:latin typeface="+mn-lt"/>
                <a:ea typeface="+mn-ea"/>
                <a:cs typeface="+mn-cs"/>
              </a:rPr>
              <a:t>d</a:t>
            </a:r>
            <a:r>
              <a:rPr lang="zh-TW" altLang="en-US" sz="1600" b="0" kern="1200" dirty="0">
                <a:solidFill>
                  <a:schemeClr val="tx1"/>
                </a:solidFill>
                <a:latin typeface="+mn-lt"/>
                <a:ea typeface="+mn-ea"/>
                <a:cs typeface="+mn-cs"/>
              </a:rPr>
              <a:t>和圖</a:t>
            </a:r>
            <a:r>
              <a:rPr lang="en-US" altLang="zh-TW" sz="1600" b="0" kern="1200" dirty="0">
                <a:solidFill>
                  <a:schemeClr val="tx1"/>
                </a:solidFill>
                <a:latin typeface="+mn-lt"/>
                <a:ea typeface="+mn-ea"/>
                <a:cs typeface="+mn-cs"/>
              </a:rPr>
              <a:t>e</a:t>
            </a:r>
            <a:r>
              <a:rPr lang="zh-TW" altLang="en-US" sz="1600" b="0" kern="1200" dirty="0">
                <a:solidFill>
                  <a:schemeClr val="tx1"/>
                </a:solidFill>
                <a:latin typeface="+mn-lt"/>
                <a:ea typeface="+mn-ea"/>
                <a:cs typeface="+mn-cs"/>
              </a:rPr>
              <a:t>可以看見：</a:t>
            </a:r>
            <a:endParaRPr lang="en-US" altLang="zh-TW"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用</a:t>
            </a:r>
            <a:r>
              <a:rPr lang="en-US" altLang="zh-TW" sz="1600" b="0" kern="1200" dirty="0">
                <a:solidFill>
                  <a:schemeClr val="tx1"/>
                </a:solidFill>
                <a:latin typeface="+mn-lt"/>
                <a:ea typeface="+mn-ea"/>
                <a:cs typeface="+mn-cs"/>
              </a:rPr>
              <a:t>10 </a:t>
            </a:r>
            <a:r>
              <a:rPr lang="el-GR" altLang="zh-TW" sz="1600" b="0" kern="1200" dirty="0">
                <a:solidFill>
                  <a:schemeClr val="tx1"/>
                </a:solidFill>
                <a:latin typeface="+mn-lt"/>
                <a:ea typeface="+mn-ea"/>
                <a:cs typeface="+mn-cs"/>
              </a:rPr>
              <a:t>μ</a:t>
            </a:r>
            <a:r>
              <a:rPr lang="en" altLang="zh-TW" sz="1600" b="0" kern="1200" dirty="0">
                <a:solidFill>
                  <a:schemeClr val="tx1"/>
                </a:solidFill>
                <a:latin typeface="+mn-lt"/>
                <a:ea typeface="+mn-ea"/>
                <a:cs typeface="+mn-cs"/>
              </a:rPr>
              <a:t>M </a:t>
            </a:r>
            <a:r>
              <a:rPr lang="en" altLang="zh-TW" sz="1600" dirty="0" err="1">
                <a:latin typeface="+mj-lt"/>
              </a:rPr>
              <a:t>camptothecin</a:t>
            </a:r>
            <a:r>
              <a:rPr lang="zh-TW" altLang="en-US" sz="1600" b="0" kern="1200" dirty="0">
                <a:solidFill>
                  <a:schemeClr val="tx1"/>
                </a:solidFill>
                <a:latin typeface="+mn-lt"/>
                <a:ea typeface="+mn-ea"/>
                <a:cs typeface="+mn-cs"/>
              </a:rPr>
              <a:t>處理，導致 </a:t>
            </a:r>
            <a:r>
              <a:rPr lang="en-US" altLang="zh-TW" sz="1600" b="0" kern="1200" dirty="0">
                <a:solidFill>
                  <a:schemeClr val="tx1"/>
                </a:solidFill>
                <a:latin typeface="+mn-lt"/>
                <a:ea typeface="+mn-ea"/>
                <a:cs typeface="+mn-cs"/>
              </a:rPr>
              <a:t>Hela</a:t>
            </a:r>
            <a:r>
              <a:rPr lang="zh-TW" altLang="en-US" sz="1600" b="0" kern="1200" dirty="0">
                <a:solidFill>
                  <a:schemeClr val="tx1"/>
                </a:solidFill>
                <a:latin typeface="+mn-lt"/>
                <a:ea typeface="+mn-ea"/>
                <a:cs typeface="+mn-cs"/>
              </a:rPr>
              <a:t>細胞中 </a:t>
            </a:r>
            <a:r>
              <a:rPr lang="en" altLang="zh-TW" sz="1600" b="0" kern="1200" dirty="0">
                <a:solidFill>
                  <a:schemeClr val="tx1"/>
                </a:solidFill>
                <a:latin typeface="+mn-lt"/>
                <a:ea typeface="+mn-ea"/>
                <a:cs typeface="+mn-cs"/>
              </a:rPr>
              <a:t>caspase-3 </a:t>
            </a:r>
            <a:r>
              <a:rPr lang="zh-TW" altLang="en-US" sz="1600" b="0" kern="1200" dirty="0">
                <a:solidFill>
                  <a:schemeClr val="tx1"/>
                </a:solidFill>
                <a:latin typeface="+mn-lt"/>
                <a:ea typeface="+mn-ea"/>
                <a:cs typeface="+mn-cs"/>
              </a:rPr>
              <a:t>活化和</a:t>
            </a:r>
            <a:r>
              <a:rPr lang="en" altLang="zh-TW" sz="1600" b="0" kern="1200" dirty="0">
                <a:solidFill>
                  <a:schemeClr val="tx1"/>
                </a:solidFill>
                <a:latin typeface="+mn-lt"/>
                <a:ea typeface="+mn-ea"/>
                <a:cs typeface="+mn-cs"/>
              </a:rPr>
              <a:t>PARP</a:t>
            </a:r>
            <a:r>
              <a:rPr lang="zh-TW" altLang="en-US" sz="1600" b="0" kern="1200" dirty="0">
                <a:solidFill>
                  <a:schemeClr val="tx1"/>
                </a:solidFill>
                <a:latin typeface="+mn-lt"/>
                <a:ea typeface="+mn-ea"/>
                <a:cs typeface="+mn-cs"/>
              </a:rPr>
              <a:t>的裂解會隨時間增加，並且在 </a:t>
            </a:r>
            <a:r>
              <a:rPr lang="en-US" altLang="zh-TW" sz="1600" b="0" kern="1200" dirty="0">
                <a:solidFill>
                  <a:schemeClr val="tx1"/>
                </a:solidFill>
                <a:latin typeface="+mn-lt"/>
                <a:ea typeface="+mn-ea"/>
                <a:cs typeface="+mn-cs"/>
              </a:rPr>
              <a:t>KD</a:t>
            </a:r>
            <a:r>
              <a:rPr lang="zh-TW" altLang="en-US" sz="1600" b="0" kern="1200" dirty="0">
                <a:solidFill>
                  <a:schemeClr val="tx1"/>
                </a:solidFill>
                <a:latin typeface="+mn-lt"/>
                <a:ea typeface="+mn-ea"/>
                <a:cs typeface="+mn-cs"/>
              </a:rPr>
              <a:t> </a:t>
            </a:r>
            <a:r>
              <a:rPr lang="en"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的組別中表現量更加明顯</a:t>
            </a:r>
            <a:r>
              <a:rPr lang="zh-TW" altLang="en" sz="1600" b="0" kern="1200" dirty="0">
                <a:solidFill>
                  <a:schemeClr val="tx1"/>
                </a:solidFill>
                <a:latin typeface="+mn-lt"/>
                <a:ea typeface="+mn-ea"/>
                <a:cs typeface="+mn-cs"/>
              </a:rPr>
              <a:t>。</a:t>
            </a:r>
            <a:r>
              <a:rPr lang="zh-TW" altLang="en-US" b="0" i="0" dirty="0">
                <a:solidFill>
                  <a:srgbClr val="1F1F1F"/>
                </a:solidFill>
                <a:effectLst/>
                <a:latin typeface="ElsevierGulliver"/>
              </a:rPr>
              <a:t>這與先前報告的 </a:t>
            </a:r>
            <a:r>
              <a:rPr lang="en" altLang="zh-TW" b="0" i="0" dirty="0">
                <a:solidFill>
                  <a:srgbClr val="1F1F1F"/>
                </a:solidFill>
                <a:effectLst/>
                <a:latin typeface="ElsevierGulliver"/>
              </a:rPr>
              <a:t>DDX3 </a:t>
            </a:r>
            <a:r>
              <a:rPr lang="zh-TW" altLang="en-US" b="0" i="0" dirty="0">
                <a:solidFill>
                  <a:srgbClr val="1F1F1F"/>
                </a:solidFill>
                <a:effectLst/>
                <a:latin typeface="ElsevierGulliver"/>
              </a:rPr>
              <a:t>抑制外在凋亡訊號傳導相似</a:t>
            </a:r>
            <a:endParaRPr lang="en-US" altLang="zh-TW" b="0" i="0" dirty="0">
              <a:solidFill>
                <a:srgbClr val="1F1F1F"/>
              </a:solidFill>
              <a:effectLst/>
              <a:latin typeface="ElsevierGulliver"/>
            </a:endParaRPr>
          </a:p>
          <a:p>
            <a:pPr marL="0" indent="-457200">
              <a:lnSpc>
                <a:spcPct val="100000"/>
              </a:lnSpc>
              <a:buNone/>
            </a:pPr>
            <a:r>
              <a:rPr lang="zh-TW" altLang="en-US" sz="1600" b="0" kern="1200" dirty="0">
                <a:solidFill>
                  <a:schemeClr val="tx1"/>
                </a:solidFill>
                <a:latin typeface="+mn-lt"/>
                <a:ea typeface="+mn-ea"/>
                <a:cs typeface="+mn-cs"/>
              </a:rPr>
              <a:t>接著他們選用另一種和</a:t>
            </a:r>
            <a:r>
              <a:rPr lang="en-US" altLang="zh-TW" sz="1600" b="0" kern="1200" dirty="0" err="1">
                <a:solidFill>
                  <a:schemeClr val="tx1"/>
                </a:solidFill>
                <a:latin typeface="+mn-lt"/>
                <a:ea typeface="+mn-ea"/>
                <a:cs typeface="+mn-cs"/>
              </a:rPr>
              <a:t>hela</a:t>
            </a:r>
            <a:r>
              <a:rPr lang="zh-TW" altLang="en-US" sz="1600" b="0" kern="1200" dirty="0">
                <a:solidFill>
                  <a:schemeClr val="tx1"/>
                </a:solidFill>
                <a:latin typeface="+mn-lt"/>
                <a:ea typeface="+mn-ea"/>
                <a:cs typeface="+mn-cs"/>
              </a:rPr>
              <a:t>細胞一樣含有突變</a:t>
            </a:r>
            <a:r>
              <a:rPr lang="en-US" altLang="zh-TW" sz="1600" b="0" kern="1200" dirty="0">
                <a:solidFill>
                  <a:schemeClr val="tx1"/>
                </a:solidFill>
                <a:latin typeface="+mn-lt"/>
                <a:ea typeface="+mn-ea"/>
                <a:cs typeface="+mn-cs"/>
              </a:rPr>
              <a:t>p53</a:t>
            </a:r>
            <a:r>
              <a:rPr lang="zh-TW" altLang="en-US" sz="1600" b="0" kern="1200" dirty="0">
                <a:solidFill>
                  <a:schemeClr val="tx1"/>
                </a:solidFill>
                <a:latin typeface="+mn-lt"/>
                <a:ea typeface="+mn-ea"/>
                <a:cs typeface="+mn-cs"/>
              </a:rPr>
              <a:t>的細胞，</a:t>
            </a:r>
            <a:r>
              <a:rPr lang="en" altLang="zh-TW" b="0" i="0" dirty="0">
                <a:solidFill>
                  <a:srgbClr val="1F1F1F"/>
                </a:solidFill>
                <a:effectLst/>
                <a:latin typeface="ElsevierGulliver"/>
              </a:rPr>
              <a:t>MDA-MB-231</a:t>
            </a:r>
            <a:r>
              <a:rPr lang="zh-TW" altLang="en-US" b="0" i="0" dirty="0">
                <a:solidFill>
                  <a:srgbClr val="1F1F1F"/>
                </a:solidFill>
                <a:effectLst/>
                <a:latin typeface="ElsevierGulliver"/>
              </a:rPr>
              <a:t>，也得到和</a:t>
            </a:r>
            <a:r>
              <a:rPr lang="en-US" altLang="zh-TW" b="0" i="0" dirty="0">
                <a:solidFill>
                  <a:srgbClr val="1F1F1F"/>
                </a:solidFill>
                <a:effectLst/>
                <a:latin typeface="ElsevierGulliver"/>
              </a:rPr>
              <a:t>Hela</a:t>
            </a:r>
            <a:r>
              <a:rPr lang="zh-TW" altLang="en-US" b="0" i="0" dirty="0">
                <a:solidFill>
                  <a:srgbClr val="1F1F1F"/>
                </a:solidFill>
                <a:effectLst/>
                <a:latin typeface="ElsevierGulliver"/>
              </a:rPr>
              <a:t>細胞類似的結果。</a:t>
            </a:r>
            <a:endParaRPr lang="en-US" altLang="zh-TW" b="0" i="0" dirty="0">
              <a:solidFill>
                <a:srgbClr val="1F1F1F"/>
              </a:solidFill>
              <a:effectLst/>
              <a:latin typeface="ElsevierGulliver"/>
            </a:endParaRPr>
          </a:p>
          <a:p>
            <a:pPr marL="0" indent="-457200">
              <a:lnSpc>
                <a:spcPct val="100000"/>
              </a:lnSpc>
              <a:buNone/>
            </a:pPr>
            <a:r>
              <a:rPr lang="zh-TW" altLang="en-US" b="0" i="0" dirty="0">
                <a:solidFill>
                  <a:srgbClr val="1F1F1F"/>
                </a:solidFill>
                <a:effectLst/>
                <a:latin typeface="ElsevierGulliver"/>
              </a:rPr>
              <a:t>證明 </a:t>
            </a:r>
            <a:r>
              <a:rPr lang="en" altLang="zh-TW" b="0" i="0" dirty="0">
                <a:solidFill>
                  <a:srgbClr val="1F1F1F"/>
                </a:solidFill>
                <a:effectLst/>
                <a:latin typeface="ElsevierGulliver"/>
              </a:rPr>
              <a:t>DDX3 </a:t>
            </a:r>
            <a:r>
              <a:rPr lang="zh-TW" altLang="en-US" b="0" i="0" dirty="0">
                <a:solidFill>
                  <a:srgbClr val="1F1F1F"/>
                </a:solidFill>
                <a:effectLst/>
                <a:latin typeface="ElsevierGulliver"/>
              </a:rPr>
              <a:t>可以抑制 </a:t>
            </a:r>
            <a:r>
              <a:rPr lang="en-US" altLang="zh-TW" b="0" i="0" dirty="0">
                <a:solidFill>
                  <a:srgbClr val="1F1F1F"/>
                </a:solidFill>
                <a:effectLst/>
                <a:latin typeface="ElsevierGulliver"/>
              </a:rPr>
              <a:t>nonfunctional</a:t>
            </a:r>
            <a:r>
              <a:rPr lang="zh-TW" altLang="en-US" b="0" i="0" dirty="0">
                <a:solidFill>
                  <a:srgbClr val="1F1F1F"/>
                </a:solidFill>
                <a:effectLst/>
                <a:latin typeface="ElsevierGulliver"/>
              </a:rPr>
              <a:t> </a:t>
            </a:r>
            <a:r>
              <a:rPr lang="en" altLang="zh-TW" b="0" i="0" dirty="0">
                <a:solidFill>
                  <a:srgbClr val="1F1F1F"/>
                </a:solidFill>
                <a:effectLst/>
                <a:latin typeface="ElsevierGulliver"/>
              </a:rPr>
              <a:t>p53 </a:t>
            </a:r>
            <a:r>
              <a:rPr lang="zh-TW" altLang="en-US" b="0" i="0" dirty="0">
                <a:solidFill>
                  <a:srgbClr val="1F1F1F"/>
                </a:solidFill>
                <a:effectLst/>
                <a:latin typeface="ElsevierGulliver"/>
              </a:rPr>
              <a:t>細胞中 </a:t>
            </a:r>
            <a:r>
              <a:rPr lang="en" altLang="zh-TW" b="0" i="0" dirty="0">
                <a:solidFill>
                  <a:srgbClr val="1F1F1F"/>
                </a:solidFill>
                <a:effectLst/>
                <a:latin typeface="ElsevierGulliver"/>
              </a:rPr>
              <a:t>DNA</a:t>
            </a:r>
            <a:r>
              <a:rPr lang="zh-TW" altLang="en-US" b="0" i="0" dirty="0">
                <a:solidFill>
                  <a:srgbClr val="1F1F1F"/>
                </a:solidFill>
                <a:effectLst/>
                <a:latin typeface="ElsevierGulliver"/>
              </a:rPr>
              <a:t> </a:t>
            </a:r>
            <a:r>
              <a:rPr lang="en-US" altLang="zh-TW" b="0" i="0" dirty="0">
                <a:solidFill>
                  <a:srgbClr val="1F1F1F"/>
                </a:solidFill>
                <a:effectLst/>
                <a:latin typeface="ElsevierGulliver"/>
              </a:rPr>
              <a:t>damage</a:t>
            </a:r>
            <a:r>
              <a:rPr lang="zh-TW" altLang="en-US" b="0" i="0" dirty="0">
                <a:solidFill>
                  <a:srgbClr val="1F1F1F"/>
                </a:solidFill>
                <a:effectLst/>
                <a:latin typeface="ElsevierGulliver"/>
              </a:rPr>
              <a:t>所誘導的凋亡。</a:t>
            </a:r>
            <a:endParaRPr lang="en-US" altLang="zh-TW" b="0" i="0" dirty="0">
              <a:solidFill>
                <a:srgbClr val="1F1F1F"/>
              </a:solidFill>
              <a:effectLst/>
              <a:latin typeface="ElsevierGulliver"/>
            </a:endParaRPr>
          </a:p>
          <a:p>
            <a:pPr marL="0" indent="-457200">
              <a:lnSpc>
                <a:spcPct val="100000"/>
              </a:lnSpc>
              <a:buNone/>
            </a:pPr>
            <a:endParaRPr lang="zh-TW" altLang="en-US" sz="1600" b="0" kern="1200" dirty="0">
              <a:solidFill>
                <a:schemeClr val="tx1"/>
              </a:solidFill>
              <a:latin typeface="+mn-lt"/>
              <a:ea typeface="+mn-ea"/>
              <a:cs typeface="+mn-cs"/>
            </a:endParaRPr>
          </a:p>
          <a:p>
            <a:pPr marL="0" indent="-457200">
              <a:lnSpc>
                <a:spcPct val="100000"/>
              </a:lnSpc>
              <a:buNone/>
            </a:pPr>
            <a:endParaRPr lang="zh-TW" altLang="en-US" sz="1600" b="0" kern="1200" dirty="0">
              <a:solidFill>
                <a:schemeClr val="tx1"/>
              </a:solidFill>
              <a:latin typeface="+mn-lt"/>
              <a:ea typeface="+mn-ea"/>
              <a:cs typeface="+mn-cs"/>
            </a:endParaRPr>
          </a:p>
          <a:p>
            <a:pPr marL="0" indent="-457200">
              <a:lnSpc>
                <a:spcPct val="100000"/>
              </a:lnSpc>
              <a:buNone/>
            </a:pPr>
            <a:endParaRPr lang="en-US" altLang="zh-TW" sz="1600" b="0" kern="1200" dirty="0">
              <a:solidFill>
                <a:schemeClr val="tx1"/>
              </a:solidFill>
              <a:latin typeface="+mn-lt"/>
              <a:ea typeface="+mn-ea"/>
              <a:cs typeface="+mn-cs"/>
            </a:endParaRPr>
          </a:p>
          <a:p>
            <a:pPr marL="0" indent="0">
              <a:buNone/>
            </a:pPr>
            <a:endParaRPr lang="en-US" altLang="zh-TW" sz="1200" b="0" i="0" u="none" kern="1200" dirty="0">
              <a:solidFill>
                <a:srgbClr val="1F1F1F"/>
              </a:solidFill>
              <a:effectLst/>
              <a:latin typeface="ElsevierGulliver"/>
              <a:ea typeface="+mn-ea"/>
              <a:cs typeface="+mn-cs"/>
            </a:endParaRPr>
          </a:p>
        </p:txBody>
      </p:sp>
      <p:sp>
        <p:nvSpPr>
          <p:cNvPr id="4" name="投影片編號版面配置區 3">
            <a:extLst>
              <a:ext uri="{FF2B5EF4-FFF2-40B4-BE49-F238E27FC236}">
                <a16:creationId xmlns:a16="http://schemas.microsoft.com/office/drawing/2014/main" id="{F250CBBF-E6DC-1857-1FCA-AF26C10F89DE}"/>
              </a:ext>
            </a:extLst>
          </p:cNvPr>
          <p:cNvSpPr>
            <a:spLocks noGrp="1"/>
          </p:cNvSpPr>
          <p:nvPr>
            <p:ph type="sldNum" sz="quarter" idx="5"/>
          </p:nvPr>
        </p:nvSpPr>
        <p:spPr/>
        <p:txBody>
          <a:bodyPr/>
          <a:lstStyle/>
          <a:p>
            <a:fld id="{61CA63BF-C9DC-9844-BCA0-064E1D9BA987}" type="slidenum">
              <a:rPr kumimoji="1" lang="zh-TW" altLang="en-US" smtClean="0"/>
              <a:t>28</a:t>
            </a:fld>
            <a:endParaRPr kumimoji="1" lang="zh-TW" altLang="en-US"/>
          </a:p>
        </p:txBody>
      </p:sp>
    </p:spTree>
    <p:extLst>
      <p:ext uri="{BB962C8B-B14F-4D97-AF65-F5344CB8AC3E}">
        <p14:creationId xmlns:p14="http://schemas.microsoft.com/office/powerpoint/2010/main" val="15253687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091E7-7DED-1532-58CF-B1F1FAAFD17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D6AFA09-5054-BCB6-68D1-ACFCF38CE8D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B3ADA29-2A80-61A5-196F-68FAD655BEBE}"/>
              </a:ext>
            </a:extLst>
          </p:cNvPr>
          <p:cNvSpPr>
            <a:spLocks noGrp="1"/>
          </p:cNvSpPr>
          <p:nvPr>
            <p:ph type="body" idx="1"/>
          </p:nvPr>
        </p:nvSpPr>
        <p:spPr/>
        <p:txBody>
          <a:bodyPr/>
          <a:lstStyle/>
          <a:p>
            <a:pPr marL="0" indent="-457200">
              <a:lnSpc>
                <a:spcPct val="100000"/>
              </a:lnSpc>
              <a:buNone/>
            </a:pPr>
            <a:r>
              <a:rPr lang="zh-TW" altLang="en-US" sz="1600" b="0" kern="1200" dirty="0">
                <a:solidFill>
                  <a:schemeClr val="tx1"/>
                </a:solidFill>
                <a:latin typeface="+mn-lt"/>
                <a:ea typeface="+mn-ea"/>
                <a:cs typeface="+mn-cs"/>
              </a:rPr>
              <a:t>接著他們以</a:t>
            </a:r>
            <a:r>
              <a:rPr lang="en-US" altLang="zh-TW" sz="1600" b="0" kern="1200" dirty="0">
                <a:solidFill>
                  <a:schemeClr val="tx1"/>
                </a:solidFill>
                <a:latin typeface="+mn-lt"/>
                <a:ea typeface="+mn-ea"/>
                <a:cs typeface="+mn-cs"/>
              </a:rPr>
              <a:t>10  </a:t>
            </a:r>
            <a:r>
              <a:rPr lang="el-GR" altLang="zh-TW" sz="1600" b="0" kern="1200" dirty="0">
                <a:solidFill>
                  <a:schemeClr val="tx1"/>
                </a:solidFill>
                <a:latin typeface="+mn-lt"/>
                <a:ea typeface="+mn-ea"/>
                <a:cs typeface="+mn-cs"/>
              </a:rPr>
              <a:t>μ</a:t>
            </a:r>
            <a:r>
              <a:rPr lang="en-US" altLang="zh-TW" sz="1600" b="0" kern="1200" dirty="0">
                <a:solidFill>
                  <a:schemeClr val="tx1"/>
                </a:solidFill>
                <a:latin typeface="+mn-lt"/>
                <a:ea typeface="+mn-ea"/>
                <a:cs typeface="+mn-cs"/>
              </a:rPr>
              <a:t>M</a:t>
            </a:r>
            <a:r>
              <a:rPr lang="zh-TW" altLang="en-US" sz="1600" b="0" kern="1200" dirty="0">
                <a:solidFill>
                  <a:schemeClr val="tx1"/>
                </a:solidFill>
                <a:latin typeface="+mn-lt"/>
                <a:ea typeface="+mn-ea"/>
                <a:cs typeface="+mn-cs"/>
              </a:rPr>
              <a:t> 阿黴素處理含有 </a:t>
            </a:r>
            <a:r>
              <a:rPr lang="en-US"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或敲低 </a:t>
            </a:r>
            <a:r>
              <a:rPr lang="en-US"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的 </a:t>
            </a:r>
            <a:r>
              <a:rPr lang="en-US" altLang="zh-TW" sz="1600" b="0" kern="1200" dirty="0">
                <a:solidFill>
                  <a:schemeClr val="tx1"/>
                </a:solidFill>
                <a:latin typeface="+mn-lt"/>
                <a:ea typeface="+mn-ea"/>
                <a:cs typeface="+mn-cs"/>
              </a:rPr>
              <a:t>MCF-7</a:t>
            </a:r>
            <a:r>
              <a:rPr lang="zh-TW" altLang="en-US" sz="1600" b="0" kern="1200" dirty="0">
                <a:solidFill>
                  <a:schemeClr val="tx1"/>
                </a:solidFill>
                <a:latin typeface="+mn-lt"/>
                <a:ea typeface="+mn-ea"/>
                <a:cs typeface="+mn-cs"/>
              </a:rPr>
              <a:t>、</a:t>
            </a:r>
            <a:r>
              <a:rPr lang="en-US" altLang="zh-TW" sz="1600" b="0" kern="1200" dirty="0">
                <a:solidFill>
                  <a:schemeClr val="tx1"/>
                </a:solidFill>
                <a:latin typeface="+mn-lt"/>
                <a:ea typeface="+mn-ea"/>
                <a:cs typeface="+mn-cs"/>
              </a:rPr>
              <a:t>HeLa </a:t>
            </a:r>
            <a:r>
              <a:rPr lang="zh-TW" altLang="en-US" sz="1600" b="0" kern="1200" dirty="0">
                <a:solidFill>
                  <a:schemeClr val="tx1"/>
                </a:solidFill>
                <a:latin typeface="+mn-lt"/>
                <a:ea typeface="+mn-ea"/>
                <a:cs typeface="+mn-cs"/>
              </a:rPr>
              <a:t>和 </a:t>
            </a:r>
            <a:r>
              <a:rPr lang="en-US" altLang="zh-TW" sz="1600" b="0" kern="1200" dirty="0">
                <a:solidFill>
                  <a:schemeClr val="tx1"/>
                </a:solidFill>
                <a:latin typeface="+mn-lt"/>
                <a:ea typeface="+mn-ea"/>
                <a:cs typeface="+mn-cs"/>
              </a:rPr>
              <a:t>MDA-MB-231 </a:t>
            </a:r>
            <a:r>
              <a:rPr lang="zh-TW" altLang="en-US" sz="1600" b="0" kern="1200" dirty="0">
                <a:solidFill>
                  <a:schemeClr val="tx1"/>
                </a:solidFill>
                <a:latin typeface="+mn-lt"/>
                <a:ea typeface="+mn-ea"/>
                <a:cs typeface="+mn-cs"/>
              </a:rPr>
              <a:t>細胞 </a:t>
            </a:r>
            <a:r>
              <a:rPr lang="en-US" altLang="zh-TW" sz="1600" b="0" kern="1200" dirty="0">
                <a:solidFill>
                  <a:schemeClr val="tx1"/>
                </a:solidFill>
                <a:latin typeface="+mn-lt"/>
                <a:ea typeface="+mn-ea"/>
                <a:cs typeface="+mn-cs"/>
              </a:rPr>
              <a:t>24 </a:t>
            </a:r>
            <a:r>
              <a:rPr lang="zh-TW" altLang="en-US" sz="1600" b="0" kern="1200" dirty="0">
                <a:solidFill>
                  <a:schemeClr val="tx1"/>
                </a:solidFill>
                <a:latin typeface="+mn-lt"/>
                <a:ea typeface="+mn-ea"/>
                <a:cs typeface="+mn-cs"/>
              </a:rPr>
              <a:t>或 </a:t>
            </a:r>
            <a:r>
              <a:rPr lang="en-US" altLang="zh-TW" sz="1600" b="0" kern="1200" dirty="0">
                <a:solidFill>
                  <a:schemeClr val="tx1"/>
                </a:solidFill>
                <a:latin typeface="+mn-lt"/>
                <a:ea typeface="+mn-ea"/>
                <a:cs typeface="+mn-cs"/>
              </a:rPr>
              <a:t>48 </a:t>
            </a:r>
            <a:r>
              <a:rPr lang="zh-TW" altLang="en-US" sz="1600" b="0" kern="1200" dirty="0">
                <a:solidFill>
                  <a:schemeClr val="tx1"/>
                </a:solidFill>
                <a:latin typeface="+mn-lt"/>
                <a:ea typeface="+mn-ea"/>
                <a:cs typeface="+mn-cs"/>
              </a:rPr>
              <a:t>小時。</a:t>
            </a:r>
            <a:endParaRPr lang="en-US" altLang="zh-TW"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在 </a:t>
            </a:r>
            <a:r>
              <a:rPr lang="en-US" altLang="zh-TW" sz="1600" b="0" kern="1200" dirty="0">
                <a:solidFill>
                  <a:schemeClr val="tx1"/>
                </a:solidFill>
                <a:latin typeface="+mn-lt"/>
                <a:ea typeface="+mn-ea"/>
                <a:cs typeface="+mn-cs"/>
              </a:rPr>
              <a:t>MCF-7 </a:t>
            </a:r>
            <a:r>
              <a:rPr lang="zh-TW" altLang="en-US" sz="1600" b="0" kern="1200" dirty="0">
                <a:solidFill>
                  <a:schemeClr val="tx1"/>
                </a:solidFill>
                <a:latin typeface="+mn-lt"/>
                <a:ea typeface="+mn-ea"/>
                <a:cs typeface="+mn-cs"/>
              </a:rPr>
              <a:t>細胞中敲低 </a:t>
            </a:r>
            <a:r>
              <a:rPr lang="en-US"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可減少細胞凋亡，</a:t>
            </a:r>
            <a:endParaRPr lang="en-US" altLang="zh-TW"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但在 </a:t>
            </a:r>
            <a:r>
              <a:rPr lang="en-US" altLang="zh-TW" sz="1600" b="0" kern="1200" dirty="0">
                <a:solidFill>
                  <a:schemeClr val="tx1"/>
                </a:solidFill>
                <a:latin typeface="+mn-lt"/>
                <a:ea typeface="+mn-ea"/>
                <a:cs typeface="+mn-cs"/>
              </a:rPr>
              <a:t>HeLa </a:t>
            </a:r>
            <a:r>
              <a:rPr lang="zh-TW" altLang="en-US" sz="1600" b="0" kern="1200" dirty="0">
                <a:solidFill>
                  <a:schemeClr val="tx1"/>
                </a:solidFill>
                <a:latin typeface="+mn-lt"/>
                <a:ea typeface="+mn-ea"/>
                <a:cs typeface="+mn-cs"/>
              </a:rPr>
              <a:t>和 </a:t>
            </a:r>
            <a:r>
              <a:rPr lang="en-US" altLang="zh-TW" sz="1600" b="0" kern="1200" dirty="0">
                <a:solidFill>
                  <a:schemeClr val="tx1"/>
                </a:solidFill>
                <a:latin typeface="+mn-lt"/>
                <a:ea typeface="+mn-ea"/>
                <a:cs typeface="+mn-cs"/>
              </a:rPr>
              <a:t>MDA-MB-231 </a:t>
            </a:r>
            <a:r>
              <a:rPr lang="zh-TW" altLang="en-US" sz="1600" b="0" kern="1200" dirty="0">
                <a:solidFill>
                  <a:schemeClr val="tx1"/>
                </a:solidFill>
                <a:latin typeface="+mn-lt"/>
                <a:ea typeface="+mn-ea"/>
                <a:cs typeface="+mn-cs"/>
              </a:rPr>
              <a:t>細胞中敲低 </a:t>
            </a:r>
            <a:r>
              <a:rPr lang="en-US" altLang="zh-TW" sz="1600" b="0" kern="1200" dirty="0">
                <a:solidFill>
                  <a:schemeClr val="tx1"/>
                </a:solidFill>
                <a:latin typeface="+mn-lt"/>
                <a:ea typeface="+mn-ea"/>
                <a:cs typeface="+mn-cs"/>
              </a:rPr>
              <a:t>DDX3</a:t>
            </a:r>
            <a:r>
              <a:rPr lang="zh-TW" altLang="en-US" sz="1600" b="0" kern="1200" dirty="0">
                <a:solidFill>
                  <a:schemeClr val="tx1"/>
                </a:solidFill>
                <a:latin typeface="+mn-lt"/>
                <a:ea typeface="+mn-ea"/>
                <a:cs typeface="+mn-cs"/>
              </a:rPr>
              <a:t>則會增加細胞凋亡。</a:t>
            </a:r>
            <a:endParaRPr lang="en-US" altLang="zh-TW"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這些結果表明，</a:t>
            </a:r>
            <a:r>
              <a:rPr lang="en-US" altLang="zh-TW" sz="1600" b="0" kern="1200" dirty="0">
                <a:solidFill>
                  <a:schemeClr val="tx1"/>
                </a:solidFill>
                <a:latin typeface="+mn-lt"/>
                <a:ea typeface="+mn-ea"/>
                <a:cs typeface="+mn-cs"/>
              </a:rPr>
              <a:t>DDX3</a:t>
            </a:r>
            <a:r>
              <a:rPr lang="zh-TW" altLang="en-US" sz="1600" b="0" kern="1200" dirty="0">
                <a:solidFill>
                  <a:schemeClr val="tx1"/>
                </a:solidFill>
                <a:latin typeface="+mn-lt"/>
                <a:ea typeface="+mn-ea"/>
                <a:cs typeface="+mn-cs"/>
              </a:rPr>
              <a:t>會因為</a:t>
            </a:r>
            <a:r>
              <a:rPr lang="en-US" altLang="zh-TW" sz="1600" b="0" kern="1200" dirty="0">
                <a:solidFill>
                  <a:schemeClr val="tx1"/>
                </a:solidFill>
                <a:latin typeface="+mn-lt"/>
                <a:ea typeface="+mn-ea"/>
                <a:cs typeface="+mn-cs"/>
              </a:rPr>
              <a:t>p53</a:t>
            </a:r>
            <a:r>
              <a:rPr lang="zh-TW" altLang="en-US" sz="1600" b="0" kern="1200" dirty="0">
                <a:solidFill>
                  <a:schemeClr val="tx1"/>
                </a:solidFill>
                <a:latin typeface="+mn-lt"/>
                <a:ea typeface="+mn-ea"/>
                <a:cs typeface="+mn-cs"/>
              </a:rPr>
              <a:t>為 </a:t>
            </a:r>
            <a:r>
              <a:rPr lang="en-US" altLang="zh-TW" sz="1600" b="0" kern="1200" dirty="0">
                <a:solidFill>
                  <a:schemeClr val="tx1"/>
                </a:solidFill>
                <a:latin typeface="+mn-lt"/>
                <a:ea typeface="+mn-ea"/>
                <a:cs typeface="+mn-cs"/>
              </a:rPr>
              <a:t>functional</a:t>
            </a:r>
            <a:r>
              <a:rPr lang="zh-TW" altLang="en-US" sz="1600" b="0" kern="1200" dirty="0">
                <a:solidFill>
                  <a:schemeClr val="tx1"/>
                </a:solidFill>
                <a:latin typeface="+mn-lt"/>
                <a:ea typeface="+mn-ea"/>
                <a:cs typeface="+mn-cs"/>
              </a:rPr>
              <a:t> 或</a:t>
            </a:r>
            <a:r>
              <a:rPr lang="en-US" altLang="zh-TW" sz="1600" b="0" kern="1200" dirty="0">
                <a:solidFill>
                  <a:schemeClr val="tx1"/>
                </a:solidFill>
                <a:latin typeface="+mn-lt"/>
                <a:ea typeface="+mn-ea"/>
                <a:cs typeface="+mn-cs"/>
              </a:rPr>
              <a:t> nonfunctional</a:t>
            </a:r>
            <a:r>
              <a:rPr lang="zh-TW" altLang="en-US" sz="1600" b="0" kern="1200" dirty="0">
                <a:solidFill>
                  <a:schemeClr val="tx1"/>
                </a:solidFill>
                <a:latin typeface="+mn-lt"/>
                <a:ea typeface="+mn-ea"/>
                <a:cs typeface="+mn-cs"/>
              </a:rPr>
              <a:t> 來選擇性調控</a:t>
            </a:r>
            <a:r>
              <a:rPr lang="en-US" altLang="zh-TW" sz="1600" b="0" kern="1200" dirty="0">
                <a:solidFill>
                  <a:schemeClr val="tx1"/>
                </a:solidFill>
                <a:latin typeface="+mn-lt"/>
                <a:ea typeface="+mn-ea"/>
                <a:cs typeface="+mn-cs"/>
              </a:rPr>
              <a:t> </a:t>
            </a:r>
            <a:r>
              <a:rPr lang="en" altLang="zh-TW" b="0" i="0" dirty="0">
                <a:solidFill>
                  <a:srgbClr val="1F1F1F"/>
                </a:solidFill>
                <a:effectLst/>
                <a:latin typeface="ElsevierGulliver"/>
              </a:rPr>
              <a:t>DNA</a:t>
            </a:r>
            <a:r>
              <a:rPr lang="zh-TW" altLang="en-US" b="0" i="0" dirty="0">
                <a:solidFill>
                  <a:srgbClr val="1F1F1F"/>
                </a:solidFill>
                <a:effectLst/>
                <a:latin typeface="ElsevierGulliver"/>
              </a:rPr>
              <a:t> </a:t>
            </a:r>
            <a:r>
              <a:rPr lang="en-US" altLang="zh-TW" b="0" i="0" dirty="0">
                <a:solidFill>
                  <a:srgbClr val="1F1F1F"/>
                </a:solidFill>
                <a:effectLst/>
                <a:latin typeface="ElsevierGulliver"/>
              </a:rPr>
              <a:t>damage</a:t>
            </a:r>
            <a:r>
              <a:rPr lang="zh-TW" altLang="en-US" sz="1600" b="0" kern="1200" dirty="0">
                <a:solidFill>
                  <a:schemeClr val="tx1"/>
                </a:solidFill>
                <a:latin typeface="+mn-lt"/>
                <a:ea typeface="+mn-ea"/>
                <a:cs typeface="+mn-cs"/>
              </a:rPr>
              <a:t>誘導的</a:t>
            </a:r>
            <a:r>
              <a:rPr lang="en-US" altLang="zh-TW" sz="1600" b="0" kern="1200" dirty="0">
                <a:solidFill>
                  <a:schemeClr val="tx1"/>
                </a:solidFill>
                <a:latin typeface="+mn-lt"/>
                <a:ea typeface="+mn-ea"/>
                <a:cs typeface="+mn-cs"/>
              </a:rPr>
              <a:t>caspase</a:t>
            </a:r>
            <a:r>
              <a:rPr lang="zh-TW" altLang="en-US" sz="1600" b="0" kern="1200" dirty="0">
                <a:solidFill>
                  <a:schemeClr val="tx1"/>
                </a:solidFill>
                <a:latin typeface="+mn-lt"/>
                <a:ea typeface="+mn-ea"/>
                <a:cs typeface="+mn-cs"/>
              </a:rPr>
              <a:t>活化。</a:t>
            </a:r>
          </a:p>
          <a:p>
            <a:pPr marL="0" indent="-457200">
              <a:lnSpc>
                <a:spcPct val="100000"/>
              </a:lnSpc>
              <a:buNone/>
            </a:pPr>
            <a:endParaRPr lang="en-US" altLang="zh-TW" sz="1600" b="0" kern="1200" dirty="0">
              <a:solidFill>
                <a:schemeClr val="tx1"/>
              </a:solidFill>
              <a:latin typeface="+mn-lt"/>
              <a:ea typeface="+mn-ea"/>
              <a:cs typeface="+mn-cs"/>
            </a:endParaRPr>
          </a:p>
          <a:p>
            <a:pPr marL="0" indent="0">
              <a:buNone/>
            </a:pPr>
            <a:endParaRPr lang="en-US" altLang="zh-TW" sz="1200" b="0" i="0" u="none" kern="1200" dirty="0">
              <a:solidFill>
                <a:srgbClr val="1F1F1F"/>
              </a:solidFill>
              <a:effectLst/>
              <a:latin typeface="ElsevierGulliver"/>
              <a:ea typeface="+mn-ea"/>
              <a:cs typeface="+mn-cs"/>
            </a:endParaRPr>
          </a:p>
        </p:txBody>
      </p:sp>
      <p:sp>
        <p:nvSpPr>
          <p:cNvPr id="4" name="投影片編號版面配置區 3">
            <a:extLst>
              <a:ext uri="{FF2B5EF4-FFF2-40B4-BE49-F238E27FC236}">
                <a16:creationId xmlns:a16="http://schemas.microsoft.com/office/drawing/2014/main" id="{CC47B4B6-F1D6-6F13-37F8-793B347581EB}"/>
              </a:ext>
            </a:extLst>
          </p:cNvPr>
          <p:cNvSpPr>
            <a:spLocks noGrp="1"/>
          </p:cNvSpPr>
          <p:nvPr>
            <p:ph type="sldNum" sz="quarter" idx="5"/>
          </p:nvPr>
        </p:nvSpPr>
        <p:spPr/>
        <p:txBody>
          <a:bodyPr/>
          <a:lstStyle/>
          <a:p>
            <a:fld id="{61CA63BF-C9DC-9844-BCA0-064E1D9BA987}" type="slidenum">
              <a:rPr kumimoji="1" lang="zh-TW" altLang="en-US" smtClean="0"/>
              <a:t>29</a:t>
            </a:fld>
            <a:endParaRPr kumimoji="1" lang="zh-TW" altLang="en-US"/>
          </a:p>
        </p:txBody>
      </p:sp>
    </p:spTree>
    <p:extLst>
      <p:ext uri="{BB962C8B-B14F-4D97-AF65-F5344CB8AC3E}">
        <p14:creationId xmlns:p14="http://schemas.microsoft.com/office/powerpoint/2010/main" val="21643434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69EC4-D918-9411-DEEA-0903ACE9B31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2E442C-5212-3B5C-C7C1-B4B4209F62B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ACBC9D3-9DC7-8BF5-29F8-7F5D5B506C21}"/>
              </a:ext>
            </a:extLst>
          </p:cNvPr>
          <p:cNvSpPr>
            <a:spLocks noGrp="1"/>
          </p:cNvSpPr>
          <p:nvPr>
            <p:ph type="body" idx="1"/>
          </p:nvPr>
        </p:nvSpPr>
        <p:spPr/>
        <p:txBody>
          <a:bodyPr/>
          <a:lstStyle/>
          <a:p>
            <a:pPr marL="0" indent="-457200">
              <a:lnSpc>
                <a:spcPct val="100000"/>
              </a:lnSpc>
              <a:buNone/>
            </a:pPr>
            <a:r>
              <a:rPr lang="zh-TW" altLang="en-US" sz="1600" b="0" kern="1200" dirty="0">
                <a:solidFill>
                  <a:schemeClr val="tx1"/>
                </a:solidFill>
                <a:latin typeface="+mn-lt"/>
                <a:ea typeface="+mn-ea"/>
                <a:cs typeface="+mn-cs"/>
              </a:rPr>
              <a:t>為了進一步研究 </a:t>
            </a:r>
            <a:r>
              <a:rPr lang="en"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在如何調控具有</a:t>
            </a:r>
            <a:r>
              <a:rPr lang="en-US" altLang="zh-TW" sz="1600" b="0" kern="1200" dirty="0">
                <a:solidFill>
                  <a:schemeClr val="tx1"/>
                </a:solidFill>
                <a:latin typeface="+mn-lt"/>
                <a:ea typeface="+mn-ea"/>
                <a:cs typeface="+mn-cs"/>
              </a:rPr>
              <a:t>functional</a:t>
            </a:r>
            <a:r>
              <a:rPr lang="zh-TW" altLang="en-US" sz="1600" b="0" kern="1200" dirty="0">
                <a:solidFill>
                  <a:schemeClr val="tx1"/>
                </a:solidFill>
                <a:latin typeface="+mn-lt"/>
                <a:ea typeface="+mn-ea"/>
                <a:cs typeface="+mn-cs"/>
              </a:rPr>
              <a:t> 和</a:t>
            </a:r>
            <a:r>
              <a:rPr lang="en-US" altLang="zh-TW" sz="1600" b="0" kern="1200" dirty="0">
                <a:solidFill>
                  <a:schemeClr val="tx1"/>
                </a:solidFill>
                <a:latin typeface="+mn-lt"/>
                <a:ea typeface="+mn-ea"/>
                <a:cs typeface="+mn-cs"/>
              </a:rPr>
              <a:t> nonfunctional</a:t>
            </a:r>
            <a:r>
              <a:rPr lang="zh-TW" altLang="en-US" sz="1600" b="0" kern="1200" dirty="0">
                <a:solidFill>
                  <a:schemeClr val="tx1"/>
                </a:solidFill>
                <a:latin typeface="+mn-lt"/>
                <a:ea typeface="+mn-ea"/>
                <a:cs typeface="+mn-cs"/>
              </a:rPr>
              <a:t> </a:t>
            </a:r>
            <a:r>
              <a:rPr lang="en-US" altLang="zh-TW" sz="1600" b="0" kern="1200" dirty="0">
                <a:solidFill>
                  <a:schemeClr val="tx1"/>
                </a:solidFill>
                <a:latin typeface="+mn-lt"/>
                <a:ea typeface="+mn-ea"/>
                <a:cs typeface="+mn-cs"/>
              </a:rPr>
              <a:t>p53</a:t>
            </a:r>
            <a:r>
              <a:rPr lang="zh-TW" altLang="en-US" sz="1600" b="0" kern="1200" dirty="0">
                <a:solidFill>
                  <a:schemeClr val="tx1"/>
                </a:solidFill>
                <a:latin typeface="+mn-lt"/>
                <a:ea typeface="+mn-ea"/>
                <a:cs typeface="+mn-cs"/>
              </a:rPr>
              <a:t>的細胞中的細胞凋亡，他們檢查了 </a:t>
            </a:r>
            <a:r>
              <a:rPr lang="en" altLang="zh-TW" sz="1600" b="0" kern="1200" dirty="0">
                <a:solidFill>
                  <a:schemeClr val="tx1"/>
                </a:solidFill>
                <a:latin typeface="+mn-lt"/>
                <a:ea typeface="+mn-ea"/>
                <a:cs typeface="+mn-cs"/>
              </a:rPr>
              <a:t>p38 </a:t>
            </a:r>
            <a:r>
              <a:rPr lang="zh-TW" altLang="en-US" sz="1600" b="0" kern="1200" dirty="0">
                <a:solidFill>
                  <a:schemeClr val="tx1"/>
                </a:solidFill>
                <a:latin typeface="+mn-lt"/>
                <a:ea typeface="+mn-ea"/>
                <a:cs typeface="+mn-cs"/>
              </a:rPr>
              <a:t>的活化，因為 </a:t>
            </a:r>
            <a:r>
              <a:rPr lang="en" altLang="zh-TW" sz="1600" b="0" kern="1200" dirty="0">
                <a:solidFill>
                  <a:schemeClr val="tx1"/>
                </a:solidFill>
                <a:latin typeface="+mn-lt"/>
                <a:ea typeface="+mn-ea"/>
                <a:cs typeface="+mn-cs"/>
              </a:rPr>
              <a:t>p38 </a:t>
            </a:r>
            <a:r>
              <a:rPr lang="zh-TW" altLang="en-US" sz="1600" b="0" kern="1200" dirty="0">
                <a:solidFill>
                  <a:schemeClr val="tx1"/>
                </a:solidFill>
                <a:latin typeface="+mn-lt"/>
                <a:ea typeface="+mn-ea"/>
                <a:cs typeface="+mn-cs"/>
              </a:rPr>
              <a:t>和 </a:t>
            </a:r>
            <a:r>
              <a:rPr lang="en" altLang="zh-TW" sz="1600" b="0" kern="1200" dirty="0">
                <a:solidFill>
                  <a:schemeClr val="tx1"/>
                </a:solidFill>
                <a:latin typeface="+mn-lt"/>
                <a:ea typeface="+mn-ea"/>
                <a:cs typeface="+mn-cs"/>
              </a:rPr>
              <a:t>p53</a:t>
            </a:r>
            <a:r>
              <a:rPr lang="zh-TW" altLang="en-US" sz="1600" b="0" kern="1200" dirty="0">
                <a:solidFill>
                  <a:schemeClr val="tx1"/>
                </a:solidFill>
                <a:latin typeface="+mn-lt"/>
                <a:ea typeface="+mn-ea"/>
                <a:cs typeface="+mn-cs"/>
              </a:rPr>
              <a:t>信號通路可以在</a:t>
            </a:r>
            <a:r>
              <a:rPr lang="en" altLang="zh-TW" sz="1600" b="0" kern="1200" dirty="0">
                <a:solidFill>
                  <a:schemeClr val="tx1"/>
                </a:solidFill>
                <a:latin typeface="+mn-lt"/>
                <a:ea typeface="+mn-ea"/>
                <a:cs typeface="+mn-cs"/>
              </a:rPr>
              <a:t>DNA</a:t>
            </a:r>
            <a:r>
              <a:rPr lang="zh-TW" altLang="en-US" sz="1600" b="0" kern="1200" dirty="0">
                <a:solidFill>
                  <a:schemeClr val="tx1"/>
                </a:solidFill>
                <a:latin typeface="+mn-lt"/>
                <a:ea typeface="+mn-ea"/>
                <a:cs typeface="+mn-cs"/>
              </a:rPr>
              <a:t>損傷反應中相互調節，根據先前的研究曾發現，</a:t>
            </a:r>
            <a:r>
              <a:rPr lang="en" altLang="zh-TW" sz="1600" b="0" kern="1200" dirty="0">
                <a:solidFill>
                  <a:schemeClr val="tx1"/>
                </a:solidFill>
                <a:latin typeface="+mn-lt"/>
                <a:ea typeface="+mn-ea"/>
                <a:cs typeface="+mn-cs"/>
              </a:rPr>
              <a:t>p38 </a:t>
            </a:r>
            <a:r>
              <a:rPr lang="zh-TW" altLang="en-US" sz="1600" b="0" kern="1200" dirty="0">
                <a:solidFill>
                  <a:schemeClr val="tx1"/>
                </a:solidFill>
                <a:latin typeface="+mn-lt"/>
                <a:ea typeface="+mn-ea"/>
                <a:cs typeface="+mn-cs"/>
              </a:rPr>
              <a:t>參與了外在凋亡</a:t>
            </a:r>
            <a:r>
              <a:rPr lang="en-US" altLang="zh-TW" sz="1600" b="0" kern="1200" dirty="0">
                <a:solidFill>
                  <a:schemeClr val="tx1"/>
                </a:solidFill>
                <a:latin typeface="+mn-lt"/>
                <a:ea typeface="+mn-ea"/>
                <a:cs typeface="+mn-cs"/>
              </a:rPr>
              <a:t>pathway</a:t>
            </a:r>
            <a:r>
              <a:rPr lang="zh-TW" altLang="en-US" sz="1600" b="0" kern="1200" dirty="0">
                <a:solidFill>
                  <a:schemeClr val="tx1"/>
                </a:solidFill>
                <a:latin typeface="+mn-lt"/>
                <a:ea typeface="+mn-ea"/>
                <a:cs typeface="+mn-cs"/>
              </a:rPr>
              <a:t>，而 </a:t>
            </a:r>
            <a:r>
              <a:rPr lang="en"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調節在該通路中喜樹鹼處理後，以免疫印跡法測定 </a:t>
            </a:r>
            <a:r>
              <a:rPr lang="en" altLang="zh-TW" sz="1600" b="0" kern="1200" dirty="0">
                <a:solidFill>
                  <a:schemeClr val="tx1"/>
                </a:solidFill>
                <a:latin typeface="+mn-lt"/>
                <a:ea typeface="+mn-ea"/>
                <a:cs typeface="+mn-cs"/>
              </a:rPr>
              <a:t>p38 </a:t>
            </a:r>
            <a:r>
              <a:rPr lang="zh-TW" altLang="en-US" sz="1600" b="0" kern="1200" dirty="0">
                <a:solidFill>
                  <a:schemeClr val="tx1"/>
                </a:solidFill>
                <a:latin typeface="+mn-lt"/>
                <a:ea typeface="+mn-ea"/>
                <a:cs typeface="+mn-cs"/>
              </a:rPr>
              <a:t>的活性磷酸化水平，發現 </a:t>
            </a:r>
            <a:r>
              <a:rPr lang="en"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敲低減弱了</a:t>
            </a:r>
            <a:r>
              <a:rPr lang="en" altLang="zh-TW" sz="1600" b="0" kern="1200" dirty="0">
                <a:solidFill>
                  <a:schemeClr val="tx1"/>
                </a:solidFill>
                <a:latin typeface="+mn-lt"/>
                <a:ea typeface="+mn-ea"/>
                <a:cs typeface="+mn-cs"/>
              </a:rPr>
              <a:t>MCF-7 </a:t>
            </a:r>
            <a:r>
              <a:rPr lang="zh-TW" altLang="en-US" sz="1600" b="0" kern="1200" dirty="0">
                <a:solidFill>
                  <a:schemeClr val="tx1"/>
                </a:solidFill>
                <a:latin typeface="+mn-lt"/>
                <a:ea typeface="+mn-ea"/>
                <a:cs typeface="+mn-cs"/>
              </a:rPr>
              <a:t>細胞（</a:t>
            </a:r>
            <a:r>
              <a:rPr lang="en-US" altLang="zh-TW" sz="1600" b="0" kern="1200" dirty="0">
                <a:solidFill>
                  <a:schemeClr val="tx1"/>
                </a:solidFill>
                <a:latin typeface="+mn-lt"/>
                <a:ea typeface="+mn-ea"/>
                <a:cs typeface="+mn-cs"/>
              </a:rPr>
              <a:t>functional p53</a:t>
            </a:r>
            <a:r>
              <a:rPr lang="zh-TW" altLang="en-US" sz="1600" b="0" kern="1200" dirty="0">
                <a:solidFill>
                  <a:schemeClr val="tx1"/>
                </a:solidFill>
                <a:latin typeface="+mn-lt"/>
                <a:ea typeface="+mn-ea"/>
                <a:cs typeface="+mn-cs"/>
              </a:rPr>
              <a:t>）中 </a:t>
            </a:r>
            <a:r>
              <a:rPr lang="en" altLang="zh-TW" sz="1600" b="0" kern="1200" dirty="0">
                <a:solidFill>
                  <a:schemeClr val="tx1"/>
                </a:solidFill>
                <a:latin typeface="+mn-lt"/>
                <a:ea typeface="+mn-ea"/>
                <a:cs typeface="+mn-cs"/>
              </a:rPr>
              <a:t>p38 </a:t>
            </a:r>
            <a:r>
              <a:rPr lang="zh-TW" altLang="en-US" sz="1600" b="0" kern="1200" dirty="0">
                <a:solidFill>
                  <a:schemeClr val="tx1"/>
                </a:solidFill>
                <a:latin typeface="+mn-lt"/>
                <a:ea typeface="+mn-ea"/>
                <a:cs typeface="+mn-cs"/>
              </a:rPr>
              <a:t>的活化（圖 </a:t>
            </a:r>
            <a:r>
              <a:rPr lang="en-US" altLang="zh-TW" sz="1600" b="0" kern="1200" dirty="0">
                <a:solidFill>
                  <a:schemeClr val="tx1"/>
                </a:solidFill>
                <a:latin typeface="+mn-lt"/>
                <a:ea typeface="+mn-ea"/>
                <a:cs typeface="+mn-cs"/>
              </a:rPr>
              <a:t>2 </a:t>
            </a:r>
            <a:r>
              <a:rPr lang="en" altLang="zh-TW" sz="1600" b="0" kern="1200" dirty="0">
                <a:solidFill>
                  <a:schemeClr val="tx1"/>
                </a:solidFill>
                <a:latin typeface="+mn-lt"/>
                <a:ea typeface="+mn-ea"/>
                <a:cs typeface="+mn-cs"/>
              </a:rPr>
              <a:t>A</a:t>
            </a:r>
            <a:r>
              <a:rPr lang="zh-TW" altLang="en" sz="1600" b="0" kern="1200" dirty="0">
                <a:solidFill>
                  <a:schemeClr val="tx1"/>
                </a:solidFill>
                <a:latin typeface="+mn-lt"/>
                <a:ea typeface="+mn-ea"/>
                <a:cs typeface="+mn-cs"/>
              </a:rPr>
              <a:t>），</a:t>
            </a:r>
            <a:r>
              <a:rPr lang="zh-TW" altLang="en-US" sz="1600" b="0" kern="1200" dirty="0">
                <a:solidFill>
                  <a:schemeClr val="tx1"/>
                </a:solidFill>
                <a:latin typeface="+mn-lt"/>
                <a:ea typeface="+mn-ea"/>
                <a:cs typeface="+mn-cs"/>
              </a:rPr>
              <a:t>但增強了 </a:t>
            </a:r>
            <a:r>
              <a:rPr lang="en" altLang="zh-TW" sz="1600" b="0" kern="1200" dirty="0">
                <a:solidFill>
                  <a:schemeClr val="tx1"/>
                </a:solidFill>
                <a:latin typeface="+mn-lt"/>
                <a:ea typeface="+mn-ea"/>
                <a:cs typeface="+mn-cs"/>
              </a:rPr>
              <a:t>HeLa </a:t>
            </a:r>
            <a:r>
              <a:rPr lang="zh-TW" altLang="en-US" sz="1600" b="0" kern="1200" dirty="0">
                <a:solidFill>
                  <a:schemeClr val="tx1"/>
                </a:solidFill>
                <a:latin typeface="+mn-lt"/>
                <a:ea typeface="+mn-ea"/>
                <a:cs typeface="+mn-cs"/>
              </a:rPr>
              <a:t>細胞（</a:t>
            </a:r>
            <a:r>
              <a:rPr lang="en-US" altLang="zh-TW" sz="1600" b="0" kern="1200" dirty="0">
                <a:solidFill>
                  <a:schemeClr val="tx1"/>
                </a:solidFill>
                <a:latin typeface="+mn-lt"/>
                <a:ea typeface="+mn-ea"/>
                <a:cs typeface="+mn-cs"/>
              </a:rPr>
              <a:t>nonfunctional p53</a:t>
            </a:r>
            <a:r>
              <a:rPr lang="zh-TW" altLang="en-US" sz="1600" b="0" kern="1200" dirty="0">
                <a:solidFill>
                  <a:schemeClr val="tx1"/>
                </a:solidFill>
                <a:latin typeface="+mn-lt"/>
                <a:ea typeface="+mn-ea"/>
                <a:cs typeface="+mn-cs"/>
              </a:rPr>
              <a:t>）中</a:t>
            </a:r>
            <a:r>
              <a:rPr lang="en" altLang="zh-TW" sz="1600" b="0" kern="1200" dirty="0">
                <a:solidFill>
                  <a:schemeClr val="tx1"/>
                </a:solidFill>
                <a:latin typeface="+mn-lt"/>
                <a:ea typeface="+mn-ea"/>
                <a:cs typeface="+mn-cs"/>
              </a:rPr>
              <a:t>p38 </a:t>
            </a:r>
            <a:r>
              <a:rPr lang="zh-TW" altLang="en-US" sz="1600" b="0" kern="1200" dirty="0">
                <a:solidFill>
                  <a:schemeClr val="tx1"/>
                </a:solidFill>
                <a:latin typeface="+mn-lt"/>
                <a:ea typeface="+mn-ea"/>
                <a:cs typeface="+mn-cs"/>
              </a:rPr>
              <a:t>的活化（圖 </a:t>
            </a:r>
            <a:r>
              <a:rPr lang="en-US" altLang="zh-TW" sz="1600" b="0" kern="1200" dirty="0">
                <a:solidFill>
                  <a:schemeClr val="tx1"/>
                </a:solidFill>
                <a:latin typeface="+mn-lt"/>
                <a:ea typeface="+mn-ea"/>
                <a:cs typeface="+mn-cs"/>
              </a:rPr>
              <a:t>2 </a:t>
            </a:r>
            <a:r>
              <a:rPr lang="en" altLang="zh-TW" sz="1600" b="0" kern="1200" dirty="0">
                <a:solidFill>
                  <a:schemeClr val="tx1"/>
                </a:solidFill>
                <a:latin typeface="+mn-lt"/>
                <a:ea typeface="+mn-ea"/>
                <a:cs typeface="+mn-cs"/>
              </a:rPr>
              <a:t>B</a:t>
            </a:r>
            <a:r>
              <a:rPr lang="zh-TW" altLang="en" sz="1600" b="0" kern="1200" dirty="0">
                <a:solidFill>
                  <a:schemeClr val="tx1"/>
                </a:solidFill>
                <a:latin typeface="+mn-lt"/>
                <a:ea typeface="+mn-ea"/>
                <a:cs typeface="+mn-cs"/>
              </a:rPr>
              <a:t>）。</a:t>
            </a:r>
            <a:endParaRPr lang="en-US" altLang="zh-TW" sz="1600" b="0" kern="1200" dirty="0">
              <a:solidFill>
                <a:schemeClr val="tx1"/>
              </a:solidFill>
              <a:latin typeface="+mn-lt"/>
              <a:ea typeface="+mn-ea"/>
              <a:cs typeface="+mn-cs"/>
            </a:endParaRPr>
          </a:p>
          <a:p>
            <a:pPr marL="0" indent="-457200">
              <a:lnSpc>
                <a:spcPct val="100000"/>
              </a:lnSpc>
              <a:buNone/>
            </a:pPr>
            <a:endParaRPr lang="en-US" altLang="zh-TW" sz="1600" b="0" kern="1200" dirty="0">
              <a:solidFill>
                <a:schemeClr val="tx1"/>
              </a:solidFill>
              <a:latin typeface="+mn-lt"/>
              <a:ea typeface="+mn-ea"/>
              <a:cs typeface="+mn-cs"/>
            </a:endParaRPr>
          </a:p>
          <a:p>
            <a:pPr marL="0" indent="-457200">
              <a:lnSpc>
                <a:spcPct val="100000"/>
              </a:lnSpc>
              <a:buNone/>
            </a:pPr>
            <a:r>
              <a:rPr lang="en-US"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的消耗會促進死亡受體刺激引起的 </a:t>
            </a:r>
            <a:r>
              <a:rPr lang="en-US" altLang="zh-TW" sz="1600" b="0" kern="1200" dirty="0">
                <a:solidFill>
                  <a:schemeClr val="tx1"/>
                </a:solidFill>
                <a:latin typeface="+mn-lt"/>
                <a:ea typeface="+mn-ea"/>
                <a:cs typeface="+mn-cs"/>
              </a:rPr>
              <a:t>caspase-8 </a:t>
            </a:r>
            <a:r>
              <a:rPr lang="zh-TW" altLang="en-US" sz="1600" b="0" kern="1200" dirty="0">
                <a:solidFill>
                  <a:schemeClr val="tx1"/>
                </a:solidFill>
                <a:latin typeface="+mn-lt"/>
                <a:ea typeface="+mn-ea"/>
                <a:cs typeface="+mn-cs"/>
              </a:rPr>
              <a:t>活化。先前研究已經證實 </a:t>
            </a:r>
            <a:r>
              <a:rPr lang="en-US" altLang="zh-TW" sz="1600" b="0" kern="1200" dirty="0">
                <a:solidFill>
                  <a:schemeClr val="tx1"/>
                </a:solidFill>
                <a:latin typeface="+mn-lt"/>
                <a:ea typeface="+mn-ea"/>
                <a:cs typeface="+mn-cs"/>
              </a:rPr>
              <a:t>caspase-8 </a:t>
            </a:r>
            <a:r>
              <a:rPr lang="zh-TW" altLang="en-US" sz="1600" b="0" kern="1200" dirty="0">
                <a:solidFill>
                  <a:schemeClr val="tx1"/>
                </a:solidFill>
                <a:latin typeface="+mn-lt"/>
                <a:ea typeface="+mn-ea"/>
                <a:cs typeface="+mn-cs"/>
              </a:rPr>
              <a:t>介導的外在凋亡途徑會在 </a:t>
            </a:r>
            <a:r>
              <a:rPr lang="en-US" altLang="zh-TW" sz="1600" b="0" kern="1200" dirty="0">
                <a:solidFill>
                  <a:schemeClr val="tx1"/>
                </a:solidFill>
                <a:latin typeface="+mn-lt"/>
                <a:ea typeface="+mn-ea"/>
                <a:cs typeface="+mn-cs"/>
              </a:rPr>
              <a:t>DNA </a:t>
            </a:r>
            <a:r>
              <a:rPr lang="zh-TW" altLang="en-US" sz="1600" b="0" kern="1200" dirty="0">
                <a:solidFill>
                  <a:schemeClr val="tx1"/>
                </a:solidFill>
                <a:latin typeface="+mn-lt"/>
                <a:ea typeface="+mn-ea"/>
                <a:cs typeface="+mn-cs"/>
              </a:rPr>
              <a:t>損傷後被激活，所以他們想測試了這是否受 </a:t>
            </a:r>
            <a:r>
              <a:rPr lang="en-US"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的調節。</a:t>
            </a:r>
            <a:endParaRPr lang="en-US" altLang="zh-TW"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在 </a:t>
            </a:r>
            <a:r>
              <a:rPr lang="en-US" altLang="zh-TW" sz="1600" b="0" kern="1200" dirty="0">
                <a:solidFill>
                  <a:schemeClr val="tx1"/>
                </a:solidFill>
                <a:latin typeface="+mn-lt"/>
                <a:ea typeface="+mn-ea"/>
                <a:cs typeface="+mn-cs"/>
              </a:rPr>
              <a:t>HeLa </a:t>
            </a:r>
            <a:r>
              <a:rPr lang="zh-TW" altLang="en-US" sz="1600" b="0" kern="1200" dirty="0">
                <a:solidFill>
                  <a:schemeClr val="tx1"/>
                </a:solidFill>
                <a:latin typeface="+mn-lt"/>
                <a:ea typeface="+mn-ea"/>
                <a:cs typeface="+mn-cs"/>
              </a:rPr>
              <a:t>細胞（圖 </a:t>
            </a:r>
            <a:r>
              <a:rPr lang="en-US" altLang="zh-TW" sz="1600" b="0" kern="1200" dirty="0">
                <a:solidFill>
                  <a:schemeClr val="tx1"/>
                </a:solidFill>
                <a:latin typeface="+mn-lt"/>
                <a:ea typeface="+mn-ea"/>
                <a:cs typeface="+mn-cs"/>
              </a:rPr>
              <a:t>2 C</a:t>
            </a:r>
            <a:r>
              <a:rPr lang="zh-TW" altLang="en-US" sz="1600" b="0" kern="1200" dirty="0">
                <a:solidFill>
                  <a:schemeClr val="tx1"/>
                </a:solidFill>
                <a:latin typeface="+mn-lt"/>
                <a:ea typeface="+mn-ea"/>
                <a:cs typeface="+mn-cs"/>
              </a:rPr>
              <a:t>）和表達突變型、無功能性 </a:t>
            </a:r>
            <a:r>
              <a:rPr lang="en-US" altLang="zh-TW" sz="1600" b="0" kern="1200" dirty="0">
                <a:solidFill>
                  <a:schemeClr val="tx1"/>
                </a:solidFill>
                <a:latin typeface="+mn-lt"/>
                <a:ea typeface="+mn-ea"/>
                <a:cs typeface="+mn-cs"/>
              </a:rPr>
              <a:t>p53 </a:t>
            </a:r>
            <a:r>
              <a:rPr lang="zh-TW" altLang="en-US" sz="1600" b="0" kern="1200" dirty="0">
                <a:solidFill>
                  <a:schemeClr val="tx1"/>
                </a:solidFill>
                <a:latin typeface="+mn-lt"/>
                <a:ea typeface="+mn-ea"/>
                <a:cs typeface="+mn-cs"/>
              </a:rPr>
              <a:t>的 </a:t>
            </a:r>
            <a:r>
              <a:rPr lang="en-US" altLang="zh-TW" sz="1600" b="0" kern="1200" dirty="0">
                <a:solidFill>
                  <a:schemeClr val="tx1"/>
                </a:solidFill>
                <a:latin typeface="+mn-lt"/>
                <a:ea typeface="+mn-ea"/>
                <a:cs typeface="+mn-cs"/>
              </a:rPr>
              <a:t>I </a:t>
            </a:r>
            <a:r>
              <a:rPr lang="zh-TW" altLang="en-US" sz="1600" b="0" kern="1200" dirty="0">
                <a:solidFill>
                  <a:schemeClr val="tx1"/>
                </a:solidFill>
                <a:latin typeface="+mn-lt"/>
                <a:ea typeface="+mn-ea"/>
                <a:cs typeface="+mn-cs"/>
              </a:rPr>
              <a:t>型 </a:t>
            </a:r>
            <a:r>
              <a:rPr lang="en-US" altLang="zh-TW" sz="1600" b="0" kern="1200" dirty="0">
                <a:solidFill>
                  <a:schemeClr val="tx1"/>
                </a:solidFill>
                <a:latin typeface="+mn-lt"/>
                <a:ea typeface="+mn-ea"/>
                <a:cs typeface="+mn-cs"/>
              </a:rPr>
              <a:t>BJAB </a:t>
            </a:r>
            <a:r>
              <a:rPr lang="zh-TW" altLang="en-US" sz="1600" b="0" kern="1200" dirty="0">
                <a:solidFill>
                  <a:schemeClr val="tx1"/>
                </a:solidFill>
                <a:latin typeface="+mn-lt"/>
                <a:ea typeface="+mn-ea"/>
                <a:cs typeface="+mn-cs"/>
              </a:rPr>
              <a:t>細胞（圖 </a:t>
            </a:r>
            <a:r>
              <a:rPr lang="en-US" altLang="zh-TW" sz="1600" b="0" kern="1200" dirty="0">
                <a:solidFill>
                  <a:schemeClr val="tx1"/>
                </a:solidFill>
                <a:latin typeface="+mn-lt"/>
                <a:ea typeface="+mn-ea"/>
                <a:cs typeface="+mn-cs"/>
              </a:rPr>
              <a:t>2 D</a:t>
            </a:r>
            <a:r>
              <a:rPr lang="zh-TW" altLang="en-US" sz="1600" b="0" kern="1200" dirty="0">
                <a:solidFill>
                  <a:schemeClr val="tx1"/>
                </a:solidFill>
                <a:latin typeface="+mn-lt"/>
                <a:ea typeface="+mn-ea"/>
                <a:cs typeface="+mn-cs"/>
              </a:rPr>
              <a:t>）中，</a:t>
            </a:r>
            <a:r>
              <a:rPr lang="en-US" altLang="zh-TW" sz="1600" b="0" kern="1200" dirty="0">
                <a:solidFill>
                  <a:schemeClr val="tx1"/>
                </a:solidFill>
                <a:latin typeface="+mn-lt"/>
                <a:ea typeface="+mn-ea"/>
                <a:cs typeface="+mn-cs"/>
              </a:rPr>
              <a:t>DNA </a:t>
            </a:r>
            <a:r>
              <a:rPr lang="zh-TW" altLang="en-US" sz="1600" b="0" kern="1200" dirty="0">
                <a:solidFill>
                  <a:schemeClr val="tx1"/>
                </a:solidFill>
                <a:latin typeface="+mn-lt"/>
                <a:ea typeface="+mn-ea"/>
                <a:cs typeface="+mn-cs"/>
              </a:rPr>
              <a:t>損傷後，</a:t>
            </a:r>
            <a:r>
              <a:rPr lang="en-US" altLang="zh-TW" sz="1600" b="0" kern="1200" dirty="0">
                <a:solidFill>
                  <a:schemeClr val="tx1"/>
                </a:solidFill>
                <a:latin typeface="+mn-lt"/>
                <a:ea typeface="+mn-ea"/>
                <a:cs typeface="+mn-cs"/>
              </a:rPr>
              <a:t>Caspase-8 </a:t>
            </a:r>
            <a:r>
              <a:rPr lang="zh-TW" altLang="en-US" sz="1600" b="0" kern="1200" dirty="0">
                <a:solidFill>
                  <a:schemeClr val="tx1"/>
                </a:solidFill>
                <a:latin typeface="+mn-lt"/>
                <a:ea typeface="+mn-ea"/>
                <a:cs typeface="+mn-cs"/>
              </a:rPr>
              <a:t>被激活，且 </a:t>
            </a:r>
            <a:r>
              <a:rPr lang="en-US"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消耗會增加。雖然這不太可能是 </a:t>
            </a:r>
            <a:r>
              <a:rPr lang="en-US"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的唯一作用，因為檢測到 </a:t>
            </a:r>
            <a:r>
              <a:rPr lang="en-US" altLang="zh-TW" sz="1600" b="0" kern="1200" dirty="0">
                <a:solidFill>
                  <a:schemeClr val="tx1"/>
                </a:solidFill>
                <a:latin typeface="+mn-lt"/>
                <a:ea typeface="+mn-ea"/>
                <a:cs typeface="+mn-cs"/>
              </a:rPr>
              <a:t>caspase-3 </a:t>
            </a:r>
            <a:r>
              <a:rPr lang="zh-TW" altLang="en-US" sz="1600" b="0" kern="1200" dirty="0">
                <a:solidFill>
                  <a:schemeClr val="tx1"/>
                </a:solidFill>
                <a:latin typeface="+mn-lt"/>
                <a:ea typeface="+mn-ea"/>
                <a:cs typeface="+mn-cs"/>
              </a:rPr>
              <a:t>活化增加的時間早於 </a:t>
            </a:r>
            <a:r>
              <a:rPr lang="en-US" altLang="zh-TW" sz="1600" b="0" kern="1200" dirty="0">
                <a:solidFill>
                  <a:schemeClr val="tx1"/>
                </a:solidFill>
                <a:latin typeface="+mn-lt"/>
                <a:ea typeface="+mn-ea"/>
                <a:cs typeface="+mn-cs"/>
              </a:rPr>
              <a:t>caspase-8 </a:t>
            </a:r>
            <a:r>
              <a:rPr lang="zh-TW" altLang="en-US" sz="1600" b="0" kern="1200" dirty="0">
                <a:solidFill>
                  <a:schemeClr val="tx1"/>
                </a:solidFill>
                <a:latin typeface="+mn-lt"/>
                <a:ea typeface="+mn-ea"/>
                <a:cs typeface="+mn-cs"/>
              </a:rPr>
              <a:t>活化的時間，但這些結果與先前的報告一致，即死亡受體可以在 </a:t>
            </a:r>
            <a:r>
              <a:rPr lang="en-US" altLang="zh-TW" sz="1600" b="0" kern="1200" dirty="0">
                <a:solidFill>
                  <a:schemeClr val="tx1"/>
                </a:solidFill>
                <a:latin typeface="+mn-lt"/>
                <a:ea typeface="+mn-ea"/>
                <a:cs typeface="+mn-cs"/>
              </a:rPr>
              <a:t>DNA </a:t>
            </a:r>
            <a:r>
              <a:rPr lang="zh-TW" altLang="en-US" sz="1600" b="0" kern="1200" dirty="0">
                <a:solidFill>
                  <a:schemeClr val="tx1"/>
                </a:solidFill>
                <a:latin typeface="+mn-lt"/>
                <a:ea typeface="+mn-ea"/>
                <a:cs typeface="+mn-cs"/>
              </a:rPr>
              <a:t>損傷後被激活，而敲低 </a:t>
            </a:r>
            <a:r>
              <a:rPr lang="en-US"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會促進死亡受體誘導的凋亡訊號傳導。</a:t>
            </a:r>
            <a:endParaRPr lang="en-US" altLang="zh-TW" sz="1600" b="0" kern="1200" dirty="0">
              <a:solidFill>
                <a:schemeClr val="tx1"/>
              </a:solidFill>
              <a:latin typeface="+mn-lt"/>
              <a:ea typeface="+mn-ea"/>
              <a:cs typeface="+mn-cs"/>
            </a:endParaRPr>
          </a:p>
          <a:p>
            <a:pPr marL="0" indent="-457200">
              <a:lnSpc>
                <a:spcPct val="100000"/>
              </a:lnSpc>
              <a:buNone/>
            </a:pPr>
            <a:endParaRPr lang="en-US" altLang="zh-TW" sz="1600" b="0" kern="1200" dirty="0">
              <a:solidFill>
                <a:schemeClr val="tx1"/>
              </a:solidFill>
              <a:latin typeface="+mn-lt"/>
              <a:ea typeface="+mn-ea"/>
              <a:cs typeface="+mn-cs"/>
            </a:endParaRPr>
          </a:p>
          <a:p>
            <a:pPr marL="0" indent="-457200">
              <a:lnSpc>
                <a:spcPct val="100000"/>
              </a:lnSpc>
              <a:buNone/>
            </a:pPr>
            <a:r>
              <a:rPr lang="zh-TW" altLang="en-US" sz="1600" b="0" kern="1200" dirty="0">
                <a:solidFill>
                  <a:schemeClr val="tx1"/>
                </a:solidFill>
                <a:latin typeface="+mn-lt"/>
                <a:ea typeface="+mn-ea"/>
                <a:cs typeface="+mn-cs"/>
              </a:rPr>
              <a:t>另外他們還測量了 </a:t>
            </a:r>
            <a:r>
              <a:rPr lang="en-US" altLang="zh-TW" sz="1600" b="0" kern="1200" dirty="0">
                <a:solidFill>
                  <a:schemeClr val="tx1"/>
                </a:solidFill>
                <a:latin typeface="+mn-lt"/>
                <a:ea typeface="+mn-ea"/>
                <a:cs typeface="+mn-cs"/>
              </a:rPr>
              <a:t>MCF-7</a:t>
            </a:r>
            <a:r>
              <a:rPr lang="zh-TW" altLang="en-US" sz="1600" b="0" kern="1200" dirty="0">
                <a:solidFill>
                  <a:schemeClr val="tx1"/>
                </a:solidFill>
                <a:latin typeface="+mn-lt"/>
                <a:ea typeface="+mn-ea"/>
                <a:cs typeface="+mn-cs"/>
              </a:rPr>
              <a:t>（圖 </a:t>
            </a:r>
            <a:r>
              <a:rPr lang="en-US" altLang="zh-TW" sz="1600" b="0" kern="1200" dirty="0">
                <a:solidFill>
                  <a:schemeClr val="tx1"/>
                </a:solidFill>
                <a:latin typeface="+mn-lt"/>
                <a:ea typeface="+mn-ea"/>
                <a:cs typeface="+mn-cs"/>
              </a:rPr>
              <a:t>2 E</a:t>
            </a:r>
            <a:r>
              <a:rPr lang="zh-TW" altLang="en-US" sz="1600" b="0" kern="1200" dirty="0">
                <a:solidFill>
                  <a:schemeClr val="tx1"/>
                </a:solidFill>
                <a:latin typeface="+mn-lt"/>
                <a:ea typeface="+mn-ea"/>
                <a:cs typeface="+mn-cs"/>
              </a:rPr>
              <a:t>）、</a:t>
            </a:r>
            <a:r>
              <a:rPr lang="en-US" altLang="zh-TW" sz="1600" b="0" kern="1200" dirty="0">
                <a:solidFill>
                  <a:schemeClr val="tx1"/>
                </a:solidFill>
                <a:latin typeface="+mn-lt"/>
                <a:ea typeface="+mn-ea"/>
                <a:cs typeface="+mn-cs"/>
              </a:rPr>
              <a:t>HeLa</a:t>
            </a:r>
            <a:r>
              <a:rPr lang="zh-TW" altLang="en-US" sz="1600" b="0" kern="1200" dirty="0">
                <a:solidFill>
                  <a:schemeClr val="tx1"/>
                </a:solidFill>
                <a:latin typeface="+mn-lt"/>
                <a:ea typeface="+mn-ea"/>
                <a:cs typeface="+mn-cs"/>
              </a:rPr>
              <a:t>（圖 </a:t>
            </a:r>
            <a:r>
              <a:rPr lang="en-US" altLang="zh-TW" sz="1600" b="0" kern="1200" dirty="0">
                <a:solidFill>
                  <a:schemeClr val="tx1"/>
                </a:solidFill>
                <a:latin typeface="+mn-lt"/>
                <a:ea typeface="+mn-ea"/>
                <a:cs typeface="+mn-cs"/>
              </a:rPr>
              <a:t>2 F</a:t>
            </a:r>
            <a:r>
              <a:rPr lang="zh-TW" altLang="en-US" sz="1600" b="0" kern="1200" dirty="0">
                <a:solidFill>
                  <a:schemeClr val="tx1"/>
                </a:solidFill>
                <a:latin typeface="+mn-lt"/>
                <a:ea typeface="+mn-ea"/>
                <a:cs typeface="+mn-cs"/>
              </a:rPr>
              <a:t>）和 </a:t>
            </a:r>
            <a:r>
              <a:rPr lang="en-US" altLang="zh-TW" sz="1600" b="0" kern="1200" dirty="0">
                <a:solidFill>
                  <a:schemeClr val="tx1"/>
                </a:solidFill>
                <a:latin typeface="+mn-lt"/>
                <a:ea typeface="+mn-ea"/>
                <a:cs typeface="+mn-cs"/>
              </a:rPr>
              <a:t>MDA-MB-231 </a:t>
            </a:r>
            <a:r>
              <a:rPr lang="zh-TW" altLang="en-US" sz="1600" b="0" kern="1200" dirty="0">
                <a:solidFill>
                  <a:schemeClr val="tx1"/>
                </a:solidFill>
                <a:latin typeface="+mn-lt"/>
                <a:ea typeface="+mn-ea"/>
                <a:cs typeface="+mn-cs"/>
              </a:rPr>
              <a:t>細胞（圖 </a:t>
            </a:r>
            <a:r>
              <a:rPr lang="en-US" altLang="zh-TW" sz="1600" b="0" kern="1200" dirty="0">
                <a:solidFill>
                  <a:schemeClr val="tx1"/>
                </a:solidFill>
                <a:latin typeface="+mn-lt"/>
                <a:ea typeface="+mn-ea"/>
                <a:cs typeface="+mn-cs"/>
              </a:rPr>
              <a:t>2 G</a:t>
            </a:r>
            <a:r>
              <a:rPr lang="zh-TW" altLang="en-US" sz="1600" b="0" kern="1200" dirty="0">
                <a:solidFill>
                  <a:schemeClr val="tx1"/>
                </a:solidFill>
                <a:latin typeface="+mn-lt"/>
                <a:ea typeface="+mn-ea"/>
                <a:cs typeface="+mn-cs"/>
              </a:rPr>
              <a:t>）的細胞存活率。</a:t>
            </a:r>
            <a:r>
              <a:rPr lang="en-US" altLang="zh-TW" sz="1600" b="0" kern="1200" dirty="0">
                <a:solidFill>
                  <a:schemeClr val="tx1"/>
                </a:solidFill>
                <a:latin typeface="+mn-lt"/>
                <a:ea typeface="+mn-ea"/>
                <a:cs typeface="+mn-cs"/>
              </a:rPr>
              <a:t>KD</a:t>
            </a:r>
            <a:r>
              <a:rPr lang="zh-TW" altLang="en-US" sz="1600" b="0" kern="1200" dirty="0">
                <a:solidFill>
                  <a:schemeClr val="tx1"/>
                </a:solidFill>
                <a:latin typeface="+mn-lt"/>
                <a:ea typeface="+mn-ea"/>
                <a:cs typeface="+mn-cs"/>
              </a:rPr>
              <a:t> </a:t>
            </a:r>
            <a:r>
              <a:rPr lang="en-US"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可增加具有功能性 </a:t>
            </a:r>
            <a:r>
              <a:rPr lang="en-US" altLang="zh-TW" sz="1600" b="0" kern="1200" dirty="0">
                <a:solidFill>
                  <a:schemeClr val="tx1"/>
                </a:solidFill>
                <a:latin typeface="+mn-lt"/>
                <a:ea typeface="+mn-ea"/>
                <a:cs typeface="+mn-cs"/>
              </a:rPr>
              <a:t>p53 </a:t>
            </a:r>
            <a:r>
              <a:rPr lang="zh-TW" altLang="en-US" sz="1600" b="0" kern="1200" dirty="0">
                <a:solidFill>
                  <a:schemeClr val="tx1"/>
                </a:solidFill>
                <a:latin typeface="+mn-lt"/>
                <a:ea typeface="+mn-ea"/>
                <a:cs typeface="+mn-cs"/>
              </a:rPr>
              <a:t>的 </a:t>
            </a:r>
            <a:r>
              <a:rPr lang="en-US" altLang="zh-TW" sz="1600" b="0" kern="1200" dirty="0">
                <a:solidFill>
                  <a:schemeClr val="tx1"/>
                </a:solidFill>
                <a:latin typeface="+mn-lt"/>
                <a:ea typeface="+mn-ea"/>
                <a:cs typeface="+mn-cs"/>
              </a:rPr>
              <a:t>MCF-7 </a:t>
            </a:r>
            <a:r>
              <a:rPr lang="zh-TW" altLang="en-US" sz="1600" b="0" kern="1200" dirty="0">
                <a:solidFill>
                  <a:schemeClr val="tx1"/>
                </a:solidFill>
                <a:latin typeface="+mn-lt"/>
                <a:ea typeface="+mn-ea"/>
                <a:cs typeface="+mn-cs"/>
              </a:rPr>
              <a:t>細胞的細胞存活率，但會降低具有非功能性 </a:t>
            </a:r>
            <a:r>
              <a:rPr lang="en-US" altLang="zh-TW" sz="1600" b="0" kern="1200" dirty="0">
                <a:solidFill>
                  <a:schemeClr val="tx1"/>
                </a:solidFill>
                <a:latin typeface="+mn-lt"/>
                <a:ea typeface="+mn-ea"/>
                <a:cs typeface="+mn-cs"/>
              </a:rPr>
              <a:t>p53 </a:t>
            </a:r>
            <a:r>
              <a:rPr lang="zh-TW" altLang="en-US" sz="1600" b="0" kern="1200" dirty="0">
                <a:solidFill>
                  <a:schemeClr val="tx1"/>
                </a:solidFill>
                <a:latin typeface="+mn-lt"/>
                <a:ea typeface="+mn-ea"/>
                <a:cs typeface="+mn-cs"/>
              </a:rPr>
              <a:t>的 </a:t>
            </a:r>
            <a:r>
              <a:rPr lang="en-US" altLang="zh-TW" sz="1600" b="0" kern="1200" dirty="0">
                <a:solidFill>
                  <a:schemeClr val="tx1"/>
                </a:solidFill>
                <a:latin typeface="+mn-lt"/>
                <a:ea typeface="+mn-ea"/>
                <a:cs typeface="+mn-cs"/>
              </a:rPr>
              <a:t>HeLa </a:t>
            </a:r>
            <a:r>
              <a:rPr lang="zh-TW" altLang="en-US" sz="1600" b="0" kern="1200" dirty="0">
                <a:solidFill>
                  <a:schemeClr val="tx1"/>
                </a:solidFill>
                <a:latin typeface="+mn-lt"/>
                <a:ea typeface="+mn-ea"/>
                <a:cs typeface="+mn-cs"/>
              </a:rPr>
              <a:t>細胞和具有突變 </a:t>
            </a:r>
            <a:r>
              <a:rPr lang="en-US" altLang="zh-TW" sz="1600" b="0" kern="1200" dirty="0">
                <a:solidFill>
                  <a:schemeClr val="tx1"/>
                </a:solidFill>
                <a:latin typeface="+mn-lt"/>
                <a:ea typeface="+mn-ea"/>
                <a:cs typeface="+mn-cs"/>
              </a:rPr>
              <a:t>p53 </a:t>
            </a:r>
            <a:r>
              <a:rPr lang="zh-TW" altLang="en-US" sz="1600" b="0" kern="1200" dirty="0">
                <a:solidFill>
                  <a:schemeClr val="tx1"/>
                </a:solidFill>
                <a:latin typeface="+mn-lt"/>
                <a:ea typeface="+mn-ea"/>
                <a:cs typeface="+mn-cs"/>
              </a:rPr>
              <a:t>的 </a:t>
            </a:r>
            <a:r>
              <a:rPr lang="en-US" altLang="zh-TW" sz="1600" b="0" kern="1200" dirty="0">
                <a:solidFill>
                  <a:schemeClr val="tx1"/>
                </a:solidFill>
                <a:latin typeface="+mn-lt"/>
                <a:ea typeface="+mn-ea"/>
                <a:cs typeface="+mn-cs"/>
              </a:rPr>
              <a:t>MDA-MB-231 </a:t>
            </a:r>
            <a:r>
              <a:rPr lang="zh-TW" altLang="en-US" sz="1600" b="0" kern="1200" dirty="0">
                <a:solidFill>
                  <a:schemeClr val="tx1"/>
                </a:solidFill>
                <a:latin typeface="+mn-lt"/>
                <a:ea typeface="+mn-ea"/>
                <a:cs typeface="+mn-cs"/>
              </a:rPr>
              <a:t>細胞的細胞存活率。這也更加應證了</a:t>
            </a:r>
            <a:r>
              <a:rPr lang="en" altLang="zh-TW" b="0" i="0" dirty="0">
                <a:solidFill>
                  <a:srgbClr val="1F1F1F"/>
                </a:solidFill>
                <a:effectLst/>
                <a:latin typeface="ElsevierGulliver"/>
              </a:rPr>
              <a:t>DDX3 </a:t>
            </a:r>
            <a:r>
              <a:rPr lang="zh-TW" altLang="en-US" b="0" i="0" dirty="0">
                <a:solidFill>
                  <a:srgbClr val="1F1F1F"/>
                </a:solidFill>
                <a:effectLst/>
                <a:latin typeface="ElsevierGulliver"/>
              </a:rPr>
              <a:t>會促進喜樹鹼誘導的表達功能性野生型 </a:t>
            </a:r>
            <a:r>
              <a:rPr lang="en" altLang="zh-TW" b="0" i="0" dirty="0">
                <a:solidFill>
                  <a:srgbClr val="1F1F1F"/>
                </a:solidFill>
                <a:effectLst/>
                <a:latin typeface="ElsevierGulliver"/>
              </a:rPr>
              <a:t>p53 </a:t>
            </a:r>
            <a:r>
              <a:rPr lang="zh-TW" altLang="en-US" b="0" i="0" dirty="0">
                <a:solidFill>
                  <a:srgbClr val="1F1F1F"/>
                </a:solidFill>
                <a:effectLst/>
                <a:latin typeface="ElsevierGulliver"/>
              </a:rPr>
              <a:t>的細胞凋亡，但阻礙非功能性 </a:t>
            </a:r>
            <a:r>
              <a:rPr lang="en" altLang="zh-TW" b="0" i="0" dirty="0">
                <a:solidFill>
                  <a:srgbClr val="1F1F1F"/>
                </a:solidFill>
                <a:effectLst/>
                <a:latin typeface="ElsevierGulliver"/>
              </a:rPr>
              <a:t>p53 </a:t>
            </a:r>
            <a:r>
              <a:rPr lang="zh-TW" altLang="en-US" b="0" i="0" dirty="0">
                <a:solidFill>
                  <a:srgbClr val="1F1F1F"/>
                </a:solidFill>
                <a:effectLst/>
                <a:latin typeface="ElsevierGulliver"/>
              </a:rPr>
              <a:t>的細胞凋亡</a:t>
            </a:r>
            <a:endParaRPr lang="en-US" altLang="zh-TW" b="0" i="0" dirty="0">
              <a:solidFill>
                <a:srgbClr val="1F1F1F"/>
              </a:solidFill>
              <a:effectLst/>
              <a:latin typeface="ElsevierGulliver"/>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1F1F1F"/>
              </a:solidFill>
              <a:effectLst/>
              <a:latin typeface="ElsevierGulliver"/>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1F1F1F"/>
                </a:solidFill>
                <a:effectLst/>
                <a:latin typeface="ElsevierGulliver"/>
              </a:rPr>
              <a:t>後續的實驗則是在研究</a:t>
            </a:r>
            <a:r>
              <a:rPr lang="en-US" altLang="zh-TW" b="0" i="0" dirty="0">
                <a:solidFill>
                  <a:srgbClr val="1F1F1F"/>
                </a:solidFill>
                <a:effectLst/>
                <a:latin typeface="ElsevierGulliver"/>
              </a:rPr>
              <a:t>DDX3</a:t>
            </a:r>
            <a:r>
              <a:rPr lang="zh-TW" altLang="en-US" b="0" i="0" dirty="0">
                <a:solidFill>
                  <a:srgbClr val="1F1F1F"/>
                </a:solidFill>
                <a:effectLst/>
                <a:latin typeface="ElsevierGulliver"/>
              </a:rPr>
              <a:t>是否可以增加</a:t>
            </a:r>
            <a:r>
              <a:rPr lang="en-US" altLang="zh-TW" sz="1600" b="0" kern="1200" dirty="0">
                <a:solidFill>
                  <a:schemeClr val="tx1"/>
                </a:solidFill>
                <a:latin typeface="+mn-lt"/>
                <a:ea typeface="+mn-ea"/>
                <a:cs typeface="+mn-cs"/>
              </a:rPr>
              <a:t>MCF-7 </a:t>
            </a:r>
            <a:r>
              <a:rPr lang="zh-TW" altLang="en-US" sz="1600" b="0" kern="1200" dirty="0">
                <a:solidFill>
                  <a:schemeClr val="tx1"/>
                </a:solidFill>
                <a:latin typeface="+mn-lt"/>
                <a:ea typeface="+mn-ea"/>
                <a:cs typeface="+mn-cs"/>
              </a:rPr>
              <a:t>細胞中</a:t>
            </a:r>
            <a:r>
              <a:rPr lang="en-US" altLang="zh-TW" sz="1600" b="0" kern="1200" dirty="0">
                <a:solidFill>
                  <a:schemeClr val="tx1"/>
                </a:solidFill>
                <a:latin typeface="+mn-lt"/>
                <a:ea typeface="+mn-ea"/>
                <a:cs typeface="+mn-cs"/>
              </a:rPr>
              <a:t>functional p53</a:t>
            </a:r>
            <a:r>
              <a:rPr lang="zh-TW" altLang="en-US" sz="1600" b="0" kern="1200" dirty="0">
                <a:solidFill>
                  <a:schemeClr val="tx1"/>
                </a:solidFill>
                <a:latin typeface="+mn-lt"/>
                <a:ea typeface="+mn-ea"/>
                <a:cs typeface="+mn-cs"/>
              </a:rPr>
              <a:t>的累積，因此後續實驗在此就不更進一步說明。</a:t>
            </a:r>
            <a:endParaRPr lang="zh-TW" altLang="en-US" b="0" i="0" dirty="0">
              <a:solidFill>
                <a:srgbClr val="1F1F1F"/>
              </a:solidFill>
              <a:effectLst/>
              <a:latin typeface="ElsevierGulliver"/>
            </a:endParaRPr>
          </a:p>
          <a:p>
            <a:pPr marL="0" indent="-457200">
              <a:lnSpc>
                <a:spcPct val="100000"/>
              </a:lnSpc>
              <a:buNone/>
            </a:pPr>
            <a:endParaRPr lang="en-US" altLang="zh-TW" sz="1600" b="0" kern="1200" dirty="0">
              <a:solidFill>
                <a:schemeClr val="tx1"/>
              </a:solidFill>
              <a:latin typeface="+mn-lt"/>
              <a:ea typeface="+mn-ea"/>
              <a:cs typeface="+mn-cs"/>
            </a:endParaRPr>
          </a:p>
          <a:p>
            <a:pPr marL="0" indent="-457200">
              <a:lnSpc>
                <a:spcPct val="100000"/>
              </a:lnSpc>
              <a:buNone/>
            </a:pPr>
            <a:endParaRPr lang="en-US" altLang="zh-TW" sz="1600" b="0" kern="1200" dirty="0">
              <a:solidFill>
                <a:schemeClr val="tx1"/>
              </a:solidFill>
              <a:latin typeface="+mn-lt"/>
              <a:ea typeface="+mn-ea"/>
              <a:cs typeface="+mn-cs"/>
            </a:endParaRPr>
          </a:p>
          <a:p>
            <a:pPr marL="0" indent="-457200">
              <a:lnSpc>
                <a:spcPct val="100000"/>
              </a:lnSpc>
              <a:buNone/>
            </a:pPr>
            <a:r>
              <a:rPr lang="en" altLang="zh-TW" dirty="0"/>
              <a:t>p38 ➝ p53</a:t>
            </a:r>
            <a:r>
              <a:rPr lang="zh-TW" altLang="en-US" dirty="0"/>
              <a:t>：磷酸化 </a:t>
            </a:r>
            <a:r>
              <a:rPr lang="en" altLang="zh-TW" dirty="0"/>
              <a:t>p53</a:t>
            </a:r>
            <a:r>
              <a:rPr lang="zh-TW" altLang="en" dirty="0"/>
              <a:t>、</a:t>
            </a:r>
            <a:r>
              <a:rPr lang="zh-TW" altLang="en-US" dirty="0"/>
              <a:t>穩定與活化轉錄功能，</a:t>
            </a:r>
            <a:r>
              <a:rPr lang="en" altLang="zh-TW" dirty="0"/>
              <a:t>p38 </a:t>
            </a:r>
            <a:r>
              <a:rPr lang="zh-TW" altLang="en-US" dirty="0"/>
              <a:t>可透過磷酸化增強 </a:t>
            </a:r>
            <a:r>
              <a:rPr lang="en" altLang="zh-TW" dirty="0"/>
              <a:t>p53 </a:t>
            </a:r>
            <a:r>
              <a:rPr lang="zh-TW" altLang="en-US" dirty="0"/>
              <a:t>活性與穩定性</a:t>
            </a:r>
            <a:endParaRPr lang="en-US" altLang="zh-TW" dirty="0"/>
          </a:p>
          <a:p>
            <a:pPr marL="0" indent="-457200">
              <a:lnSpc>
                <a:spcPct val="100000"/>
              </a:lnSpc>
              <a:buNone/>
            </a:pPr>
            <a:r>
              <a:rPr lang="en" altLang="zh-TW" dirty="0"/>
              <a:t>p53 ➝ p38</a:t>
            </a:r>
            <a:r>
              <a:rPr lang="zh-TW" altLang="en-US" dirty="0"/>
              <a:t>：誘導上游激酶、壓力感知蛋白（如 </a:t>
            </a:r>
            <a:r>
              <a:rPr lang="en" altLang="zh-TW" dirty="0"/>
              <a:t>GADD45</a:t>
            </a:r>
            <a:r>
              <a:rPr lang="zh-TW" altLang="en" dirty="0"/>
              <a:t>）</a:t>
            </a:r>
            <a:r>
              <a:rPr lang="zh-TW" altLang="en-US" dirty="0"/>
              <a:t>，</a:t>
            </a:r>
            <a:r>
              <a:rPr lang="en" altLang="zh-TW" dirty="0"/>
              <a:t>p53 </a:t>
            </a:r>
            <a:r>
              <a:rPr lang="zh-TW" altLang="en-US" dirty="0"/>
              <a:t>可促進 </a:t>
            </a:r>
            <a:r>
              <a:rPr lang="en" altLang="zh-TW" dirty="0"/>
              <a:t>p38 </a:t>
            </a:r>
            <a:r>
              <a:rPr lang="zh-TW" altLang="en-US" dirty="0"/>
              <a:t>的活化，也可能引入負回饋機制</a:t>
            </a:r>
            <a:endParaRPr lang="en-US" altLang="zh-TW" dirty="0"/>
          </a:p>
          <a:p>
            <a:pPr marL="0" indent="-457200">
              <a:lnSpc>
                <a:spcPct val="100000"/>
              </a:lnSpc>
              <a:buNone/>
            </a:pPr>
            <a:r>
              <a:rPr lang="zh-TW" altLang="en-US" dirty="0"/>
              <a:t>相互回饋：透過 </a:t>
            </a:r>
            <a:r>
              <a:rPr lang="en" altLang="zh-TW" dirty="0"/>
              <a:t>MAPK phosphatase</a:t>
            </a:r>
            <a:r>
              <a:rPr lang="zh-TW" altLang="en" dirty="0"/>
              <a:t>（</a:t>
            </a:r>
            <a:r>
              <a:rPr lang="en" altLang="zh-TW" dirty="0"/>
              <a:t>MKP-1</a:t>
            </a:r>
            <a:r>
              <a:rPr lang="zh-TW" altLang="en" dirty="0"/>
              <a:t>）</a:t>
            </a:r>
            <a:r>
              <a:rPr lang="zh-TW" altLang="en-US" dirty="0"/>
              <a:t>調控</a:t>
            </a:r>
            <a:r>
              <a:rPr lang="en" altLang="zh-TW" dirty="0"/>
              <a:t>p53 </a:t>
            </a:r>
            <a:r>
              <a:rPr lang="zh-TW" altLang="en-US" dirty="0"/>
              <a:t>表現產物可抑制過度活化的 </a:t>
            </a:r>
            <a:r>
              <a:rPr lang="en" altLang="zh-TW" dirty="0"/>
              <a:t>p38</a:t>
            </a:r>
            <a:r>
              <a:rPr lang="zh-TW" altLang="en" dirty="0"/>
              <a:t>，</a:t>
            </a:r>
            <a:r>
              <a:rPr lang="zh-TW" altLang="en-US" dirty="0"/>
              <a:t>維持細胞穩定</a:t>
            </a:r>
            <a:endParaRPr lang="en-US" altLang="zh-TW" sz="1600" b="0" kern="1200" dirty="0">
              <a:solidFill>
                <a:schemeClr val="tx1"/>
              </a:solidFill>
              <a:latin typeface="+mn-lt"/>
              <a:ea typeface="+mn-ea"/>
              <a:cs typeface="+mn-cs"/>
            </a:endParaRPr>
          </a:p>
          <a:p>
            <a:pPr marL="0" indent="0">
              <a:buNone/>
            </a:pPr>
            <a:endParaRPr lang="en-US" altLang="zh-TW" sz="1200" b="0" i="0" u="none" kern="1200" dirty="0">
              <a:solidFill>
                <a:srgbClr val="1F1F1F"/>
              </a:solidFill>
              <a:effectLst/>
              <a:latin typeface="ElsevierGulliver"/>
              <a:ea typeface="+mn-ea"/>
              <a:cs typeface="+mn-cs"/>
            </a:endParaRPr>
          </a:p>
        </p:txBody>
      </p:sp>
      <p:sp>
        <p:nvSpPr>
          <p:cNvPr id="4" name="投影片編號版面配置區 3">
            <a:extLst>
              <a:ext uri="{FF2B5EF4-FFF2-40B4-BE49-F238E27FC236}">
                <a16:creationId xmlns:a16="http://schemas.microsoft.com/office/drawing/2014/main" id="{36136EBB-1303-E676-B031-45365C888BAB}"/>
              </a:ext>
            </a:extLst>
          </p:cNvPr>
          <p:cNvSpPr>
            <a:spLocks noGrp="1"/>
          </p:cNvSpPr>
          <p:nvPr>
            <p:ph type="sldNum" sz="quarter" idx="5"/>
          </p:nvPr>
        </p:nvSpPr>
        <p:spPr/>
        <p:txBody>
          <a:bodyPr/>
          <a:lstStyle/>
          <a:p>
            <a:fld id="{61CA63BF-C9DC-9844-BCA0-064E1D9BA987}" type="slidenum">
              <a:rPr kumimoji="1" lang="zh-TW" altLang="en-US" smtClean="0"/>
              <a:t>30</a:t>
            </a:fld>
            <a:endParaRPr kumimoji="1" lang="zh-TW" altLang="en-US"/>
          </a:p>
        </p:txBody>
      </p:sp>
    </p:spTree>
    <p:extLst>
      <p:ext uri="{BB962C8B-B14F-4D97-AF65-F5344CB8AC3E}">
        <p14:creationId xmlns:p14="http://schemas.microsoft.com/office/powerpoint/2010/main" val="34523928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73702-DF8F-89D5-BB99-FA9F98E0D7E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D4D95FE-EFDF-1FA6-5FD9-5EDB644DAC0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49F6ECC-396B-14F7-8E68-0F583C70B92C}"/>
              </a:ext>
            </a:extLst>
          </p:cNvPr>
          <p:cNvSpPr>
            <a:spLocks noGrp="1"/>
          </p:cNvSpPr>
          <p:nvPr>
            <p:ph type="body" idx="1"/>
          </p:nvPr>
        </p:nvSpPr>
        <p:spPr/>
        <p:txBody>
          <a:bodyPr/>
          <a:lstStyle/>
          <a:p>
            <a:pPr marL="0" indent="-457200">
              <a:lnSpc>
                <a:spcPct val="100000"/>
              </a:lnSpc>
              <a:buNone/>
            </a:pPr>
            <a:r>
              <a:rPr lang="en" altLang="zh-TW" sz="1600" b="0" kern="1200" dirty="0">
                <a:solidFill>
                  <a:schemeClr val="tx1"/>
                </a:solidFill>
                <a:latin typeface="+mn-lt"/>
                <a:ea typeface="+mn-ea"/>
                <a:cs typeface="+mn-cs"/>
              </a:rPr>
              <a:t>DDX3 </a:t>
            </a:r>
            <a:r>
              <a:rPr lang="zh-TW" altLang="en-US" sz="1600" b="0" kern="1200" dirty="0">
                <a:solidFill>
                  <a:schemeClr val="tx1"/>
                </a:solidFill>
                <a:latin typeface="+mn-lt"/>
                <a:ea typeface="+mn-ea"/>
                <a:cs typeface="+mn-cs"/>
              </a:rPr>
              <a:t>選擇性地調控由 </a:t>
            </a:r>
            <a:r>
              <a:rPr lang="en" altLang="zh-TW" b="0" i="0" dirty="0">
                <a:solidFill>
                  <a:srgbClr val="1F1F1F"/>
                </a:solidFill>
                <a:effectLst/>
                <a:latin typeface="ElsevierGulliver"/>
              </a:rPr>
              <a:t>DNA</a:t>
            </a:r>
            <a:r>
              <a:rPr lang="zh-TW" altLang="en-US" b="0" i="0" dirty="0">
                <a:solidFill>
                  <a:srgbClr val="1F1F1F"/>
                </a:solidFill>
                <a:effectLst/>
                <a:latin typeface="ElsevierGulliver"/>
              </a:rPr>
              <a:t> </a:t>
            </a:r>
            <a:r>
              <a:rPr lang="en-US" altLang="zh-TW" b="0" i="0" dirty="0">
                <a:solidFill>
                  <a:srgbClr val="1F1F1F"/>
                </a:solidFill>
                <a:effectLst/>
                <a:latin typeface="ElsevierGulliver"/>
              </a:rPr>
              <a:t>damage</a:t>
            </a:r>
            <a:r>
              <a:rPr lang="zh-TW" altLang="en-US" sz="1600" b="0" kern="1200" dirty="0">
                <a:solidFill>
                  <a:schemeClr val="tx1"/>
                </a:solidFill>
                <a:latin typeface="+mn-lt"/>
                <a:ea typeface="+mn-ea"/>
                <a:cs typeface="+mn-cs"/>
              </a:rPr>
              <a:t>引起的內在凋亡訊號 。</a:t>
            </a:r>
            <a:endParaRPr lang="en-US" altLang="zh-TW" sz="1600" b="0" kern="1200" dirty="0">
              <a:solidFill>
                <a:schemeClr val="tx1"/>
              </a:solidFill>
              <a:latin typeface="+mn-lt"/>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lang="en" altLang="zh-TW" b="0" i="0" dirty="0">
                <a:solidFill>
                  <a:srgbClr val="1F1F1F"/>
                </a:solidFill>
                <a:effectLst/>
                <a:latin typeface="ElsevierGulliver"/>
              </a:rPr>
              <a:t>DDX3 </a:t>
            </a:r>
            <a:r>
              <a:rPr lang="zh-TW" altLang="en-US" b="0" i="0" dirty="0">
                <a:solidFill>
                  <a:srgbClr val="1F1F1F"/>
                </a:solidFill>
                <a:effectLst/>
                <a:latin typeface="ElsevierGulliver"/>
              </a:rPr>
              <a:t>可以促進功能性野生型 </a:t>
            </a:r>
            <a:r>
              <a:rPr lang="en" altLang="zh-TW" b="0" i="0" dirty="0">
                <a:solidFill>
                  <a:srgbClr val="1F1F1F"/>
                </a:solidFill>
                <a:effectLst/>
                <a:latin typeface="ElsevierGulliver"/>
              </a:rPr>
              <a:t>p53 </a:t>
            </a:r>
            <a:r>
              <a:rPr lang="zh-TW" altLang="en-US" b="0" i="0" dirty="0">
                <a:solidFill>
                  <a:srgbClr val="1F1F1F"/>
                </a:solidFill>
                <a:effectLst/>
                <a:latin typeface="ElsevierGulliver"/>
              </a:rPr>
              <a:t>的細胞凋亡，但阻礙非功能性 </a:t>
            </a:r>
            <a:r>
              <a:rPr lang="en" altLang="zh-TW" b="0" i="0" dirty="0">
                <a:solidFill>
                  <a:srgbClr val="1F1F1F"/>
                </a:solidFill>
                <a:effectLst/>
                <a:latin typeface="ElsevierGulliver"/>
              </a:rPr>
              <a:t>p53 </a:t>
            </a:r>
            <a:r>
              <a:rPr lang="zh-TW" altLang="en-US" b="0" i="0" dirty="0">
                <a:solidFill>
                  <a:srgbClr val="1F1F1F"/>
                </a:solidFill>
                <a:effectLst/>
                <a:latin typeface="ElsevierGulliver"/>
              </a:rPr>
              <a:t>的細胞凋亡</a:t>
            </a:r>
            <a:endParaRPr lang="en-US" altLang="zh-TW" b="0" i="0" dirty="0">
              <a:solidFill>
                <a:srgbClr val="1F1F1F"/>
              </a:solidFill>
              <a:effectLst/>
              <a:latin typeface="ElsevierGulliver"/>
            </a:endParaRPr>
          </a:p>
          <a:p>
            <a:pPr marL="0" indent="-457200">
              <a:lnSpc>
                <a:spcPct val="100000"/>
              </a:lnSpc>
              <a:buNone/>
            </a:pPr>
            <a:endParaRPr lang="zh-TW" altLang="en-US" sz="1600" b="0" kern="1200" dirty="0">
              <a:solidFill>
                <a:schemeClr val="tx1"/>
              </a:solidFill>
              <a:latin typeface="+mn-lt"/>
              <a:ea typeface="+mn-ea"/>
              <a:cs typeface="+mn-cs"/>
            </a:endParaRPr>
          </a:p>
          <a:p>
            <a:pPr marL="0" indent="-457200">
              <a:lnSpc>
                <a:spcPct val="100000"/>
              </a:lnSpc>
              <a:buNone/>
            </a:pPr>
            <a:endParaRPr lang="zh-TW" altLang="en-US" sz="1200" b="0" kern="1200" dirty="0">
              <a:solidFill>
                <a:schemeClr val="tx1"/>
              </a:solidFill>
              <a:latin typeface="+mn-lt"/>
              <a:ea typeface="+mn-ea"/>
              <a:cs typeface="+mn-cs"/>
            </a:endParaRPr>
          </a:p>
        </p:txBody>
      </p:sp>
      <p:sp>
        <p:nvSpPr>
          <p:cNvPr id="4" name="投影片編號版面配置區 3">
            <a:extLst>
              <a:ext uri="{FF2B5EF4-FFF2-40B4-BE49-F238E27FC236}">
                <a16:creationId xmlns:a16="http://schemas.microsoft.com/office/drawing/2014/main" id="{2BD2C3F5-CB5D-E39B-5F1A-184BC4458A80}"/>
              </a:ext>
            </a:extLst>
          </p:cNvPr>
          <p:cNvSpPr>
            <a:spLocks noGrp="1"/>
          </p:cNvSpPr>
          <p:nvPr>
            <p:ph type="sldNum" sz="quarter" idx="5"/>
          </p:nvPr>
        </p:nvSpPr>
        <p:spPr/>
        <p:txBody>
          <a:bodyPr/>
          <a:lstStyle/>
          <a:p>
            <a:fld id="{61CA63BF-C9DC-9844-BCA0-064E1D9BA987}" type="slidenum">
              <a:rPr kumimoji="1" lang="zh-TW" altLang="en-US" smtClean="0"/>
              <a:t>31</a:t>
            </a:fld>
            <a:endParaRPr kumimoji="1" lang="zh-TW" altLang="en-US"/>
          </a:p>
        </p:txBody>
      </p:sp>
    </p:spTree>
    <p:extLst>
      <p:ext uri="{BB962C8B-B14F-4D97-AF65-F5344CB8AC3E}">
        <p14:creationId xmlns:p14="http://schemas.microsoft.com/office/powerpoint/2010/main" val="20875352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6508B-3143-829A-0CA7-90CBB53A333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3AB4A6F-7760-1D51-5F00-1E5032B749B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9BB987F-AF12-CB95-66BC-3BA3307B5D92}"/>
              </a:ext>
            </a:extLst>
          </p:cNvPr>
          <p:cNvSpPr>
            <a:spLocks noGrp="1"/>
          </p:cNvSpPr>
          <p:nvPr>
            <p:ph type="body" idx="1"/>
          </p:nvPr>
        </p:nvSpPr>
        <p:spPr/>
        <p:txBody>
          <a:bodyPr/>
          <a:lstStyle/>
          <a:p>
            <a:r>
              <a:rPr lang="zh-TW" altLang="en-US" b="0" dirty="0"/>
              <a:t>最後我們用最一開始的圖為兩篇研究做個總結</a:t>
            </a:r>
            <a:endParaRPr lang="en-US" altLang="zh-TW" b="0" dirty="0"/>
          </a:p>
          <a:p>
            <a:r>
              <a:rPr lang="zh-TW" altLang="en-US" b="0" dirty="0"/>
              <a:t>研究發現</a:t>
            </a:r>
            <a:endParaRPr lang="en-US" altLang="zh-TW" b="0" dirty="0"/>
          </a:p>
          <a:p>
            <a:pPr>
              <a:buFont typeface="Arial" panose="020B0604020202020204" pitchFamily="34" charset="0"/>
              <a:buChar char="•"/>
            </a:pPr>
            <a:r>
              <a:rPr lang="zh-TW" altLang="en-US" b="0" dirty="0"/>
              <a:t>死亡受體被 </a:t>
            </a:r>
            <a:r>
              <a:rPr lang="en" altLang="zh-TW" b="0" dirty="0"/>
              <a:t>DDX3X</a:t>
            </a:r>
            <a:r>
              <a:rPr lang="zh-TW" altLang="en" b="0" dirty="0"/>
              <a:t>、</a:t>
            </a:r>
            <a:r>
              <a:rPr lang="en" altLang="zh-TW" b="0" dirty="0"/>
              <a:t>GSK3</a:t>
            </a:r>
            <a:r>
              <a:rPr lang="zh-TW" altLang="en" b="0" dirty="0"/>
              <a:t>、</a:t>
            </a:r>
            <a:r>
              <a:rPr lang="en" altLang="zh-TW" b="0" dirty="0"/>
              <a:t>cIAP-1 </a:t>
            </a:r>
            <a:r>
              <a:rPr lang="zh-TW" altLang="en-US" b="0" dirty="0"/>
              <a:t>組成的抗凋亡複合體覆蓋，阻止 </a:t>
            </a:r>
            <a:r>
              <a:rPr lang="en" altLang="zh-TW" b="0" dirty="0"/>
              <a:t>FADD </a:t>
            </a:r>
            <a:r>
              <a:rPr lang="zh-TW" altLang="en-US" b="0" dirty="0"/>
              <a:t>結合 → 抑制 </a:t>
            </a:r>
            <a:r>
              <a:rPr lang="en" altLang="zh-TW" b="0" dirty="0"/>
              <a:t>DISC </a:t>
            </a:r>
            <a:r>
              <a:rPr lang="zh-TW" altLang="en-US" b="0" dirty="0"/>
              <a:t>組成 ，以致外源性凋亡的進行</a:t>
            </a:r>
            <a:endParaRPr lang="en-US" altLang="zh-TW" b="0" dirty="0"/>
          </a:p>
          <a:p>
            <a:pPr>
              <a:buFont typeface="Arial" panose="020B0604020202020204" pitchFamily="34" charset="0"/>
              <a:buChar char="•"/>
            </a:pPr>
            <a:endParaRPr lang="zh-TW" altLang="en-US" b="0" dirty="0"/>
          </a:p>
          <a:p>
            <a:pPr>
              <a:buFont typeface="Arial" panose="020B0604020202020204" pitchFamily="34" charset="0"/>
              <a:buChar char="•"/>
            </a:pPr>
            <a:r>
              <a:rPr lang="en" altLang="zh-TW" b="0" dirty="0"/>
              <a:t>DDX3X </a:t>
            </a:r>
            <a:r>
              <a:rPr lang="zh-TW" altLang="en-US" b="0" dirty="0"/>
              <a:t>可與 </a:t>
            </a:r>
            <a:r>
              <a:rPr lang="en" altLang="zh-TW" b="0" dirty="0"/>
              <a:t>mutant p53</a:t>
            </a:r>
            <a:r>
              <a:rPr lang="zh-TW" altLang="en-US" b="0" dirty="0"/>
              <a:t>（非功能性）</a:t>
            </a:r>
            <a:r>
              <a:rPr lang="en" altLang="zh-TW" b="0" dirty="0"/>
              <a:t> </a:t>
            </a:r>
            <a:r>
              <a:rPr lang="zh-TW" altLang="en-US" b="0" dirty="0"/>
              <a:t>結合，抑制其凋亡活性。也能促進功能性</a:t>
            </a:r>
            <a:r>
              <a:rPr lang="en-US" altLang="zh-TW" b="0" dirty="0"/>
              <a:t>p53</a:t>
            </a:r>
            <a:r>
              <a:rPr lang="zh-TW" altLang="en-US" b="0" dirty="0"/>
              <a:t>所產生的細胞凋亡。</a:t>
            </a:r>
            <a:endParaRPr lang="en-US" altLang="zh-TW"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chemeClr val="tx1"/>
                </a:solidFill>
                <a:effectLst/>
                <a:latin typeface="+mn-lt"/>
              </a:rPr>
              <a:t>這些都可作為癌症及腫瘤治療的目標為點，進行更進一步的研究。</a:t>
            </a:r>
            <a:endParaRPr lang="en-US" altLang="zh-TW" b="0" i="0" dirty="0">
              <a:solidFill>
                <a:srgbClr val="1B1B1B"/>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1B1B1B"/>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TW" dirty="0">
              <a:solidFill>
                <a:srgbClr val="1B1B1B"/>
              </a:solidFill>
            </a:endParaRPr>
          </a:p>
        </p:txBody>
      </p:sp>
      <p:sp>
        <p:nvSpPr>
          <p:cNvPr id="4" name="投影片編號版面配置區 3">
            <a:extLst>
              <a:ext uri="{FF2B5EF4-FFF2-40B4-BE49-F238E27FC236}">
                <a16:creationId xmlns:a16="http://schemas.microsoft.com/office/drawing/2014/main" id="{2C469606-C461-0BDB-4FA3-2A1479F79F90}"/>
              </a:ext>
            </a:extLst>
          </p:cNvPr>
          <p:cNvSpPr>
            <a:spLocks noGrp="1"/>
          </p:cNvSpPr>
          <p:nvPr>
            <p:ph type="sldNum" sz="quarter" idx="5"/>
          </p:nvPr>
        </p:nvSpPr>
        <p:spPr/>
        <p:txBody>
          <a:bodyPr/>
          <a:lstStyle/>
          <a:p>
            <a:fld id="{61CA63BF-C9DC-9844-BCA0-064E1D9BA987}" type="slidenum">
              <a:rPr kumimoji="1" lang="zh-TW" altLang="en-US" smtClean="0"/>
              <a:t>32</a:t>
            </a:fld>
            <a:endParaRPr kumimoji="1" lang="zh-TW" altLang="en-US"/>
          </a:p>
        </p:txBody>
      </p:sp>
    </p:spTree>
    <p:extLst>
      <p:ext uri="{BB962C8B-B14F-4D97-AF65-F5344CB8AC3E}">
        <p14:creationId xmlns:p14="http://schemas.microsoft.com/office/powerpoint/2010/main" val="1617424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9FD37-E2F6-6B30-6896-7D5C67FBD28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49B2E18-0E78-92FD-A5BB-258BEEDF4F8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3057241-788A-035D-0C31-38F05084F7CE}"/>
              </a:ext>
            </a:extLst>
          </p:cNvPr>
          <p:cNvSpPr>
            <a:spLocks noGrp="1"/>
          </p:cNvSpPr>
          <p:nvPr>
            <p:ph type="body" idx="1"/>
          </p:nvPr>
        </p:nvSpPr>
        <p:spPr/>
        <p:txBody>
          <a:bodyPr/>
          <a:lstStyle/>
          <a:p>
            <a:r>
              <a:rPr kumimoji="1" lang="zh-TW" altLang="en-US"/>
              <a:t>以上是我的報告，謝謝大家。</a:t>
            </a:r>
          </a:p>
        </p:txBody>
      </p:sp>
      <p:sp>
        <p:nvSpPr>
          <p:cNvPr id="4" name="投影片編號版面配置區 3">
            <a:extLst>
              <a:ext uri="{FF2B5EF4-FFF2-40B4-BE49-F238E27FC236}">
                <a16:creationId xmlns:a16="http://schemas.microsoft.com/office/drawing/2014/main" id="{04504404-A384-3FD3-72C9-C316C60652CD}"/>
              </a:ext>
            </a:extLst>
          </p:cNvPr>
          <p:cNvSpPr>
            <a:spLocks noGrp="1"/>
          </p:cNvSpPr>
          <p:nvPr>
            <p:ph type="sldNum" sz="quarter" idx="5"/>
          </p:nvPr>
        </p:nvSpPr>
        <p:spPr/>
        <p:txBody>
          <a:bodyPr/>
          <a:lstStyle/>
          <a:p>
            <a:fld id="{61CA63BF-C9DC-9844-BCA0-064E1D9BA987}" type="slidenum">
              <a:rPr kumimoji="1" lang="zh-TW" altLang="en-US" smtClean="0"/>
              <a:t>33</a:t>
            </a:fld>
            <a:endParaRPr kumimoji="1" lang="zh-TW" altLang="en-US"/>
          </a:p>
        </p:txBody>
      </p:sp>
    </p:spTree>
    <p:extLst>
      <p:ext uri="{BB962C8B-B14F-4D97-AF65-F5344CB8AC3E}">
        <p14:creationId xmlns:p14="http://schemas.microsoft.com/office/powerpoint/2010/main" val="27235813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59AD1-E7F2-E4F6-536D-EFC7C103379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3E57710-AC04-A378-F180-64BFCA7DB07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73A060-8D26-1EBF-B74F-4E4A82C97FE5}"/>
              </a:ext>
            </a:extLst>
          </p:cNvPr>
          <p:cNvSpPr>
            <a:spLocks noGrp="1"/>
          </p:cNvSpPr>
          <p:nvPr>
            <p:ph type="body" idx="1"/>
          </p:nvPr>
        </p:nvSpPr>
        <p:spPr/>
        <p:txBody>
          <a:bodyPr/>
          <a:lstStyle/>
          <a:p>
            <a:r>
              <a:rPr lang="zh-TW" altLang="en-US" b="0" i="0" dirty="0">
                <a:solidFill>
                  <a:srgbClr val="1B1B1B"/>
                </a:solidFill>
                <a:effectLst/>
                <a:latin typeface="+mn-lt"/>
              </a:rPr>
              <a:t>這張圖是</a:t>
            </a:r>
            <a:r>
              <a:rPr lang="en-US" altLang="zh-TW" b="0" i="0" dirty="0">
                <a:solidFill>
                  <a:srgbClr val="1B1B1B"/>
                </a:solidFill>
                <a:effectLst/>
                <a:latin typeface="+mn-lt"/>
              </a:rPr>
              <a:t>RCD</a:t>
            </a:r>
            <a:r>
              <a:rPr lang="zh-TW" altLang="en-US" b="0" i="0" dirty="0">
                <a:solidFill>
                  <a:srgbClr val="1B1B1B"/>
                </a:solidFill>
                <a:effectLst/>
                <a:latin typeface="+mn-lt"/>
              </a:rPr>
              <a:t>的主要機制類型，哺乳動物細胞受到胞內或胞外微環境的不可逆擾動時，就會活化</a:t>
            </a:r>
            <a:r>
              <a:rPr lang="en-US" altLang="zh-TW" b="0" i="0" dirty="0">
                <a:solidFill>
                  <a:srgbClr val="1B1B1B"/>
                </a:solidFill>
                <a:effectLst/>
                <a:latin typeface="+mn-lt"/>
              </a:rPr>
              <a:t>pathway</a:t>
            </a:r>
            <a:r>
              <a:rPr lang="zh-TW" altLang="en-US" b="0" i="0" dirty="0">
                <a:solidFill>
                  <a:srgbClr val="1B1B1B"/>
                </a:solidFill>
                <a:effectLst/>
                <a:latin typeface="+mn-lt"/>
              </a:rPr>
              <a:t>，最終導致細胞死亡。每種受調控的細胞死亡 </a:t>
            </a:r>
            <a:r>
              <a:rPr lang="en-US" altLang="zh-TW" b="0" i="0" dirty="0">
                <a:solidFill>
                  <a:srgbClr val="1B1B1B"/>
                </a:solidFill>
                <a:effectLst/>
                <a:latin typeface="+mn-lt"/>
              </a:rPr>
              <a:t>(</a:t>
            </a:r>
            <a:r>
              <a:rPr lang="en" altLang="zh-TW" b="0" i="0" dirty="0">
                <a:solidFill>
                  <a:srgbClr val="1B1B1B"/>
                </a:solidFill>
                <a:effectLst/>
                <a:latin typeface="+mn-lt"/>
              </a:rPr>
              <a:t>RCD) </a:t>
            </a:r>
            <a:r>
              <a:rPr lang="zh-TW" altLang="en-US" b="0" i="0" dirty="0">
                <a:solidFill>
                  <a:srgbClr val="1B1B1B"/>
                </a:solidFill>
                <a:effectLst/>
                <a:latin typeface="+mn-lt"/>
              </a:rPr>
              <a:t>模式均由表現出高度互聯性的分子機制啟動和傳播。此外，每種 </a:t>
            </a:r>
            <a:r>
              <a:rPr lang="en" altLang="zh-TW" b="0" i="0" dirty="0">
                <a:solidFill>
                  <a:srgbClr val="1B1B1B"/>
                </a:solidFill>
                <a:effectLst/>
                <a:latin typeface="+mn-lt"/>
              </a:rPr>
              <a:t>RCD </a:t>
            </a:r>
            <a:r>
              <a:rPr lang="zh-TW" altLang="en-US" b="0" i="0" dirty="0">
                <a:solidFill>
                  <a:srgbClr val="1B1B1B"/>
                </a:solidFill>
                <a:effectLst/>
                <a:latin typeface="+mn-lt"/>
              </a:rPr>
              <a:t>類型均可表現出從完全壞死到完全凋亡的一系列形態特徵，以及從抗炎和耐受性到促炎和免疫原性的免疫調節特性。 </a:t>
            </a:r>
            <a:endParaRPr lang="en-US" altLang="zh-TW" b="0" i="0" dirty="0">
              <a:solidFill>
                <a:srgbClr val="1B1B1B"/>
              </a:solidFill>
              <a:effectLst/>
              <a:latin typeface="+mn-lt"/>
            </a:endParaRPr>
          </a:p>
          <a:p>
            <a:endParaRPr lang="en-US" altLang="zh-TW" b="0" i="0" dirty="0">
              <a:solidFill>
                <a:srgbClr val="1B1B1B"/>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b="0" i="0" dirty="0">
                <a:latin typeface="+mn-lt"/>
              </a:rPr>
              <a:t>要說明</a:t>
            </a:r>
            <a:r>
              <a:rPr kumimoji="1" lang="en-US" altLang="zh-TW" b="0" i="0" dirty="0">
                <a:latin typeface="+mn-lt"/>
              </a:rPr>
              <a:t>Why</a:t>
            </a:r>
            <a:r>
              <a:rPr kumimoji="1" lang="zh-TW" altLang="en-US" b="0" i="0" dirty="0">
                <a:latin typeface="+mn-lt"/>
              </a:rPr>
              <a:t>選擇</a:t>
            </a:r>
            <a:r>
              <a:rPr kumimoji="1" lang="en-US" altLang="zh-TW" b="0" i="0" dirty="0">
                <a:latin typeface="+mn-lt"/>
              </a:rPr>
              <a:t>Apoptosis</a:t>
            </a:r>
            <a:r>
              <a:rPr kumimoji="1" lang="zh-TW" altLang="en-US" b="0" i="0" dirty="0">
                <a:latin typeface="+mn-lt"/>
              </a:rPr>
              <a:t>：</a:t>
            </a:r>
            <a:endParaRPr lang="en-US" altLang="zh-TW" b="0" i="0" dirty="0">
              <a:solidFill>
                <a:srgbClr val="1B1B1B"/>
              </a:solidFill>
              <a:effectLst/>
              <a:latin typeface="+mn-lt"/>
            </a:endParaRPr>
          </a:p>
          <a:p>
            <a:r>
              <a:rPr lang="en-US" altLang="zh-TW" b="0" i="0" dirty="0">
                <a:solidFill>
                  <a:srgbClr val="1B1B1B"/>
                </a:solidFill>
                <a:effectLst/>
                <a:latin typeface="+mn-lt"/>
              </a:rPr>
              <a:t>Apoptosis </a:t>
            </a:r>
            <a:r>
              <a:rPr lang="zh-TW" altLang="en-US" b="0" i="0" dirty="0">
                <a:solidFill>
                  <a:srgbClr val="1B1B1B"/>
                </a:solidFill>
                <a:effectLst/>
                <a:latin typeface="+mn-lt"/>
              </a:rPr>
              <a:t>是被研究最深入、技術最成熟、與疾病關聯最直接的細胞死亡路徑，具備良好的應用性與治療潛力，是生物醫學研究首選的切入點。</a:t>
            </a:r>
          </a:p>
          <a:p>
            <a:pPr marL="342900" indent="-342900">
              <a:buAutoNum type="arabicPeriod"/>
            </a:pPr>
            <a:r>
              <a:rPr lang="en" altLang="zh-TW" b="0" i="0" dirty="0">
                <a:solidFill>
                  <a:srgbClr val="1B1B1B"/>
                </a:solidFill>
                <a:effectLst/>
                <a:latin typeface="+mn-lt"/>
              </a:rPr>
              <a:t>Apoptosis </a:t>
            </a:r>
            <a:r>
              <a:rPr lang="zh-TW" altLang="en-US" b="0" i="0" dirty="0">
                <a:solidFill>
                  <a:srgbClr val="1B1B1B"/>
                </a:solidFill>
                <a:effectLst/>
                <a:latin typeface="+mn-lt"/>
              </a:rPr>
              <a:t>是最早被發現和系統化研究的 </a:t>
            </a:r>
            <a:r>
              <a:rPr lang="en" altLang="zh-TW" b="0" i="0" dirty="0">
                <a:solidFill>
                  <a:srgbClr val="1B1B1B"/>
                </a:solidFill>
                <a:effectLst/>
                <a:latin typeface="+mn-lt"/>
              </a:rPr>
              <a:t>RCD </a:t>
            </a:r>
            <a:r>
              <a:rPr lang="zh-TW" altLang="en-US" b="0" i="0" dirty="0">
                <a:solidFill>
                  <a:srgbClr val="1B1B1B"/>
                </a:solidFill>
                <a:effectLst/>
                <a:latin typeface="+mn-lt"/>
              </a:rPr>
              <a:t>類型</a:t>
            </a:r>
            <a:endParaRPr lang="en-US" altLang="zh-TW" b="0" i="0" dirty="0">
              <a:solidFill>
                <a:srgbClr val="1B1B1B"/>
              </a:solidFill>
              <a:effectLst/>
              <a:latin typeface="+mn-lt"/>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 altLang="zh-TW" b="0" i="0" dirty="0">
                <a:latin typeface="+mn-lt"/>
              </a:rPr>
              <a:t>Apoptosis </a:t>
            </a:r>
            <a:r>
              <a:rPr lang="zh-TW" altLang="en-US" b="0" i="0" dirty="0">
                <a:latin typeface="+mn-lt"/>
              </a:rPr>
              <a:t>不會引發免疫反應或細胞內容物外洩，利於控制細胞去除、不破壞周圍組織。比起 </a:t>
            </a:r>
            <a:r>
              <a:rPr lang="en" altLang="zh-TW" b="0" i="0" dirty="0">
                <a:latin typeface="+mn-lt"/>
              </a:rPr>
              <a:t>necrosis </a:t>
            </a:r>
            <a:r>
              <a:rPr lang="zh-TW" altLang="en-US" b="0" i="0" dirty="0">
                <a:latin typeface="+mn-lt"/>
              </a:rPr>
              <a:t>或 </a:t>
            </a:r>
            <a:r>
              <a:rPr lang="en" altLang="zh-TW" b="0" i="0" dirty="0" err="1">
                <a:latin typeface="+mn-lt"/>
              </a:rPr>
              <a:t>pyroptosis</a:t>
            </a:r>
            <a:r>
              <a:rPr lang="zh-TW" altLang="en" b="0" i="0" dirty="0">
                <a:latin typeface="+mn-lt"/>
              </a:rPr>
              <a:t>（</a:t>
            </a:r>
            <a:r>
              <a:rPr lang="zh-TW" altLang="en-US" b="0" i="0" dirty="0">
                <a:latin typeface="+mn-lt"/>
              </a:rPr>
              <a:t>會造成細胞膜破裂與發炎），</a:t>
            </a:r>
            <a:r>
              <a:rPr lang="en" altLang="zh-TW" b="0" i="0" dirty="0">
                <a:latin typeface="+mn-lt"/>
              </a:rPr>
              <a:t>apoptosis </a:t>
            </a:r>
            <a:r>
              <a:rPr lang="zh-TW" altLang="en-US" b="0" i="0" dirty="0">
                <a:latin typeface="+mn-lt"/>
              </a:rPr>
              <a:t>較安全、可預期、可調控。</a:t>
            </a:r>
            <a:endParaRPr lang="en-US" altLang="zh-TW" b="0" i="0" dirty="0">
              <a:latin typeface="+mn-lt"/>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zh-TW" altLang="en-US" b="0" i="0" dirty="0">
                <a:latin typeface="+mn-lt"/>
              </a:rPr>
              <a:t>癌細胞常有抗凋亡特性，例如：</a:t>
            </a:r>
            <a:r>
              <a:rPr lang="en" altLang="zh-TW" b="0" i="0" dirty="0">
                <a:latin typeface="+mn-lt"/>
              </a:rPr>
              <a:t>p53 </a:t>
            </a:r>
            <a:r>
              <a:rPr lang="zh-TW" altLang="en-US" b="0" i="0" dirty="0">
                <a:latin typeface="+mn-lt"/>
              </a:rPr>
              <a:t>突變、</a:t>
            </a:r>
            <a:r>
              <a:rPr lang="en" altLang="zh-TW" b="0" i="0" dirty="0">
                <a:latin typeface="+mn-lt"/>
              </a:rPr>
              <a:t>Bcl-2 </a:t>
            </a:r>
            <a:r>
              <a:rPr lang="zh-TW" altLang="en-US" b="0" i="0" dirty="0">
                <a:latin typeface="+mn-lt"/>
              </a:rPr>
              <a:t>過度表現、</a:t>
            </a:r>
            <a:r>
              <a:rPr lang="en" altLang="zh-TW" b="0" i="0" dirty="0">
                <a:latin typeface="+mn-lt"/>
              </a:rPr>
              <a:t>caspase </a:t>
            </a:r>
            <a:r>
              <a:rPr lang="zh-TW" altLang="en-US" b="0" i="0" dirty="0">
                <a:latin typeface="+mn-lt"/>
              </a:rPr>
              <a:t>活性缺失。</a:t>
            </a:r>
            <a:endParaRPr lang="en-US" altLang="zh-TW" b="0" i="0" dirty="0">
              <a:latin typeface="+mn-lt"/>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zh-TW" altLang="en-US" b="0" i="0" dirty="0">
                <a:solidFill>
                  <a:srgbClr val="1B1B1B"/>
                </a:solidFill>
                <a:effectLst/>
                <a:latin typeface="+mn-lt"/>
              </a:rPr>
              <a:t>實驗技術成熟、試劑充足、標準化高</a:t>
            </a:r>
            <a:endParaRPr lang="en-US" altLang="zh-TW" b="0" i="0" dirty="0">
              <a:solidFill>
                <a:srgbClr val="1B1B1B"/>
              </a:solidFill>
              <a:effectLst/>
              <a:latin typeface="+mn-lt"/>
            </a:endParaRPr>
          </a:p>
          <a:p>
            <a:endParaRPr lang="en-US" altLang="zh-TW" b="0" i="0" dirty="0">
              <a:solidFill>
                <a:srgbClr val="1B1B1B"/>
              </a:solidFill>
              <a:effectLst/>
              <a:latin typeface="+mn-lt"/>
            </a:endParaRPr>
          </a:p>
          <a:p>
            <a:endParaRPr lang="en-US" altLang="zh-TW" b="0" i="0" dirty="0">
              <a:solidFill>
                <a:srgbClr val="1B1B1B"/>
              </a:solidFill>
              <a:effectLst/>
              <a:latin typeface="+mn-lt"/>
            </a:endParaRPr>
          </a:p>
          <a:p>
            <a:r>
              <a:rPr lang="en" altLang="zh-TW" b="0" i="0" dirty="0">
                <a:solidFill>
                  <a:srgbClr val="1B1B1B"/>
                </a:solidFill>
                <a:effectLst/>
                <a:latin typeface="+mn-lt"/>
              </a:rPr>
              <a:t>ADCD </a:t>
            </a:r>
            <a:r>
              <a:rPr lang="zh-TW" altLang="en" b="0" i="0" dirty="0">
                <a:solidFill>
                  <a:srgbClr val="1B1B1B"/>
                </a:solidFill>
                <a:effectLst/>
                <a:latin typeface="+mn-lt"/>
              </a:rPr>
              <a:t>：</a:t>
            </a:r>
            <a:r>
              <a:rPr lang="zh-TW" altLang="en-US" b="0" i="0" dirty="0">
                <a:solidFill>
                  <a:srgbClr val="1B1B1B"/>
                </a:solidFill>
                <a:effectLst/>
                <a:latin typeface="+mn-lt"/>
              </a:rPr>
              <a:t>自噬依賴性細胞死亡</a:t>
            </a:r>
            <a:endParaRPr lang="en-US" altLang="zh-TW" b="0" i="0" dirty="0">
              <a:solidFill>
                <a:srgbClr val="1B1B1B"/>
              </a:solidFill>
              <a:effectLst/>
              <a:latin typeface="+mn-lt"/>
            </a:endParaRPr>
          </a:p>
          <a:p>
            <a:r>
              <a:rPr lang="en" altLang="zh-TW" b="0" i="0" dirty="0">
                <a:solidFill>
                  <a:srgbClr val="1B1B1B"/>
                </a:solidFill>
                <a:effectLst/>
                <a:latin typeface="+mn-lt"/>
              </a:rPr>
              <a:t>ICD </a:t>
            </a:r>
            <a:r>
              <a:rPr lang="zh-TW" altLang="en" b="0" i="0" dirty="0">
                <a:solidFill>
                  <a:srgbClr val="1B1B1B"/>
                </a:solidFill>
                <a:effectLst/>
                <a:latin typeface="+mn-lt"/>
              </a:rPr>
              <a:t>：</a:t>
            </a:r>
            <a:r>
              <a:rPr lang="zh-TW" altLang="en-US" b="0" i="0" dirty="0">
                <a:solidFill>
                  <a:srgbClr val="1B1B1B"/>
                </a:solidFill>
                <a:effectLst/>
                <a:latin typeface="+mn-lt"/>
              </a:rPr>
              <a:t>免疫原性細胞死亡</a:t>
            </a:r>
            <a:endParaRPr lang="en-US" altLang="zh-TW" b="0" i="0" dirty="0">
              <a:solidFill>
                <a:srgbClr val="1B1B1B"/>
              </a:solidFill>
              <a:effectLst/>
              <a:latin typeface="+mn-lt"/>
            </a:endParaRPr>
          </a:p>
          <a:p>
            <a:r>
              <a:rPr lang="en" altLang="zh-TW" b="0" i="0" dirty="0">
                <a:solidFill>
                  <a:srgbClr val="1B1B1B"/>
                </a:solidFill>
                <a:effectLst/>
                <a:latin typeface="+mn-lt"/>
              </a:rPr>
              <a:t>LDCD</a:t>
            </a:r>
            <a:r>
              <a:rPr lang="zh-TW" altLang="en" b="0" i="0" dirty="0">
                <a:solidFill>
                  <a:srgbClr val="1B1B1B"/>
                </a:solidFill>
                <a:effectLst/>
                <a:latin typeface="+mn-lt"/>
              </a:rPr>
              <a:t>：</a:t>
            </a:r>
            <a:r>
              <a:rPr lang="zh-TW" altLang="en-US" b="0" i="0" dirty="0">
                <a:solidFill>
                  <a:srgbClr val="1B1B1B"/>
                </a:solidFill>
                <a:effectLst/>
                <a:latin typeface="+mn-lt"/>
              </a:rPr>
              <a:t>溶小體依賴性細胞死亡</a:t>
            </a:r>
            <a:endParaRPr lang="en-US" altLang="zh-TW" b="0" i="0" dirty="0">
              <a:solidFill>
                <a:srgbClr val="1B1B1B"/>
              </a:solidFill>
              <a:effectLst/>
              <a:latin typeface="+mn-lt"/>
            </a:endParaRPr>
          </a:p>
          <a:p>
            <a:r>
              <a:rPr lang="en" altLang="zh-TW" b="0" i="0" dirty="0">
                <a:solidFill>
                  <a:srgbClr val="1B1B1B"/>
                </a:solidFill>
                <a:effectLst/>
                <a:latin typeface="+mn-lt"/>
              </a:rPr>
              <a:t>MPT</a:t>
            </a:r>
            <a:r>
              <a:rPr lang="zh-TW" altLang="en" b="0" i="0" dirty="0">
                <a:solidFill>
                  <a:srgbClr val="1B1B1B"/>
                </a:solidFill>
                <a:effectLst/>
                <a:latin typeface="+mn-lt"/>
              </a:rPr>
              <a:t>：</a:t>
            </a:r>
            <a:r>
              <a:rPr lang="zh-TW" altLang="en-US" b="0" i="0" dirty="0">
                <a:solidFill>
                  <a:srgbClr val="1B1B1B"/>
                </a:solidFill>
                <a:effectLst/>
                <a:latin typeface="+mn-lt"/>
              </a:rPr>
              <a:t>粒線體通透性轉換</a:t>
            </a:r>
            <a:endParaRPr kumimoji="1" lang="en-US" altLang="zh-TW" b="0" i="0" dirty="0">
              <a:latin typeface="+mn-lt"/>
            </a:endParaRPr>
          </a:p>
        </p:txBody>
      </p:sp>
      <p:sp>
        <p:nvSpPr>
          <p:cNvPr id="4" name="投影片編號版面配置區 3">
            <a:extLst>
              <a:ext uri="{FF2B5EF4-FFF2-40B4-BE49-F238E27FC236}">
                <a16:creationId xmlns:a16="http://schemas.microsoft.com/office/drawing/2014/main" id="{62ACC320-4960-501B-2885-FDB66B33F990}"/>
              </a:ext>
            </a:extLst>
          </p:cNvPr>
          <p:cNvSpPr>
            <a:spLocks noGrp="1"/>
          </p:cNvSpPr>
          <p:nvPr>
            <p:ph type="sldNum" sz="quarter" idx="5"/>
          </p:nvPr>
        </p:nvSpPr>
        <p:spPr/>
        <p:txBody>
          <a:bodyPr/>
          <a:lstStyle/>
          <a:p>
            <a:fld id="{61CA63BF-C9DC-9844-BCA0-064E1D9BA987}" type="slidenum">
              <a:rPr kumimoji="1" lang="zh-TW" altLang="en-US" smtClean="0"/>
              <a:t>34</a:t>
            </a:fld>
            <a:endParaRPr kumimoji="1" lang="zh-TW" altLang="en-US"/>
          </a:p>
        </p:txBody>
      </p:sp>
    </p:spTree>
    <p:extLst>
      <p:ext uri="{BB962C8B-B14F-4D97-AF65-F5344CB8AC3E}">
        <p14:creationId xmlns:p14="http://schemas.microsoft.com/office/powerpoint/2010/main" val="30666876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7C93C-F8B1-2253-6E98-37BB9A64B4B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1DEE746-4994-CC59-15CE-D4A619605EA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BB03DE6-CFC5-3567-C1AC-C913F919DA7C}"/>
              </a:ext>
            </a:extLst>
          </p:cNvPr>
          <p:cNvSpPr>
            <a:spLocks noGrp="1"/>
          </p:cNvSpPr>
          <p:nvPr>
            <p:ph type="body" idx="1"/>
          </p:nvPr>
        </p:nvSpPr>
        <p:spPr/>
        <p:txBody>
          <a:bodyPr/>
          <a:lstStyle/>
          <a:p>
            <a:r>
              <a:rPr lang="zh-TW" altLang="en-US" b="0" i="0" dirty="0">
                <a:solidFill>
                  <a:srgbClr val="212529"/>
                </a:solidFill>
                <a:effectLst/>
                <a:latin typeface="+mn-lt"/>
                <a:ea typeface="微軟正黑體" panose="020B0604030504040204" pitchFamily="34" charset="-120"/>
              </a:rPr>
              <a:t>主要是研究蛋白質與蛋白質之間是否會有交互作用</a:t>
            </a:r>
            <a:endParaRPr lang="en" altLang="zh-TW" b="0" dirty="0">
              <a:latin typeface="+mn-lt"/>
            </a:endParaRPr>
          </a:p>
          <a:p>
            <a:r>
              <a:rPr lang="en" altLang="zh-TW" b="0" dirty="0">
                <a:latin typeface="+mn-lt"/>
              </a:rPr>
              <a:t>Cell lysate</a:t>
            </a:r>
            <a:r>
              <a:rPr lang="zh-TW" altLang="en" b="0" dirty="0">
                <a:latin typeface="+mn-lt"/>
              </a:rPr>
              <a:t>（</a:t>
            </a:r>
            <a:r>
              <a:rPr lang="zh-TW" altLang="en-US" b="0" dirty="0">
                <a:latin typeface="+mn-lt"/>
              </a:rPr>
              <a:t>細胞裂解液）</a:t>
            </a:r>
          </a:p>
          <a:p>
            <a:pPr>
              <a:buFont typeface="Arial" panose="020B0604020202020204" pitchFamily="34" charset="0"/>
              <a:buChar char="•"/>
            </a:pPr>
            <a:r>
              <a:rPr lang="zh-TW" altLang="en-US" b="0" dirty="0">
                <a:latin typeface="+mn-lt"/>
              </a:rPr>
              <a:t>含有你要研究的所有細胞內蛋白質：目標蛋白 </a:t>
            </a:r>
            <a:r>
              <a:rPr lang="en" altLang="zh-TW" b="0" dirty="0">
                <a:latin typeface="+mn-lt"/>
              </a:rPr>
              <a:t>A</a:t>
            </a:r>
            <a:r>
              <a:rPr lang="zh-TW" altLang="en" b="0" dirty="0">
                <a:latin typeface="+mn-lt"/>
              </a:rPr>
              <a:t>、</a:t>
            </a:r>
            <a:r>
              <a:rPr lang="zh-TW" altLang="en-US" b="0" dirty="0">
                <a:latin typeface="+mn-lt"/>
              </a:rPr>
              <a:t>其結合蛋白 </a:t>
            </a:r>
            <a:r>
              <a:rPr lang="en" altLang="zh-TW" b="0" dirty="0">
                <a:latin typeface="+mn-lt"/>
              </a:rPr>
              <a:t>B</a:t>
            </a:r>
            <a:r>
              <a:rPr lang="zh-TW" altLang="en" b="0" dirty="0">
                <a:latin typeface="+mn-lt"/>
              </a:rPr>
              <a:t>，</a:t>
            </a:r>
            <a:r>
              <a:rPr lang="zh-TW" altLang="en-US" b="0" dirty="0">
                <a:latin typeface="+mn-lt"/>
              </a:rPr>
              <a:t>以及未結合的蛋白 </a:t>
            </a:r>
            <a:r>
              <a:rPr lang="en" altLang="zh-TW" b="0" dirty="0">
                <a:latin typeface="+mn-lt"/>
              </a:rPr>
              <a:t>D</a:t>
            </a:r>
            <a:r>
              <a:rPr lang="zh-TW" altLang="en" b="0" dirty="0">
                <a:latin typeface="+mn-lt"/>
              </a:rPr>
              <a:t>。</a:t>
            </a:r>
          </a:p>
          <a:p>
            <a:r>
              <a:rPr lang="en" altLang="zh-TW" b="0" dirty="0">
                <a:latin typeface="+mn-lt"/>
              </a:rPr>
              <a:t>Primary antibody</a:t>
            </a:r>
            <a:r>
              <a:rPr lang="zh-TW" altLang="en" b="0" dirty="0">
                <a:latin typeface="+mn-lt"/>
              </a:rPr>
              <a:t>（</a:t>
            </a:r>
            <a:r>
              <a:rPr lang="zh-TW" altLang="en-US" b="0" dirty="0">
                <a:latin typeface="+mn-lt"/>
              </a:rPr>
              <a:t>針對 </a:t>
            </a:r>
            <a:r>
              <a:rPr lang="en" altLang="zh-TW" b="0" dirty="0">
                <a:latin typeface="+mn-lt"/>
              </a:rPr>
              <a:t>A </a:t>
            </a:r>
            <a:r>
              <a:rPr lang="zh-TW" altLang="en-US" b="0" dirty="0">
                <a:latin typeface="+mn-lt"/>
              </a:rPr>
              <a:t>的抗體）</a:t>
            </a:r>
          </a:p>
          <a:p>
            <a:pPr>
              <a:buFont typeface="Arial" panose="020B0604020202020204" pitchFamily="34" charset="0"/>
              <a:buChar char="•"/>
            </a:pPr>
            <a:r>
              <a:rPr lang="zh-TW" altLang="en-US" b="0" dirty="0">
                <a:latin typeface="+mn-lt"/>
              </a:rPr>
              <a:t>加入特異性抗 </a:t>
            </a:r>
            <a:r>
              <a:rPr lang="en" altLang="zh-TW" b="0" dirty="0">
                <a:latin typeface="+mn-lt"/>
              </a:rPr>
              <a:t>A </a:t>
            </a:r>
            <a:r>
              <a:rPr lang="zh-TW" altLang="en-US" b="0" dirty="0">
                <a:latin typeface="+mn-lt"/>
              </a:rPr>
              <a:t>的抗體以辨認目標蛋白 </a:t>
            </a:r>
            <a:r>
              <a:rPr lang="en" altLang="zh-TW" b="0" dirty="0">
                <a:latin typeface="+mn-lt"/>
              </a:rPr>
              <a:t>A</a:t>
            </a:r>
            <a:r>
              <a:rPr lang="zh-TW" altLang="en" b="0" dirty="0">
                <a:latin typeface="+mn-lt"/>
              </a:rPr>
              <a:t>。</a:t>
            </a:r>
          </a:p>
          <a:p>
            <a:r>
              <a:rPr lang="en" altLang="zh-TW" b="0" dirty="0">
                <a:latin typeface="+mn-lt"/>
              </a:rPr>
              <a:t>Incubate with beads</a:t>
            </a:r>
            <a:r>
              <a:rPr lang="zh-TW" altLang="en" b="0" dirty="0">
                <a:latin typeface="+mn-lt"/>
              </a:rPr>
              <a:t>（</a:t>
            </a:r>
            <a:r>
              <a:rPr lang="zh-TW" altLang="en-US" b="0" dirty="0">
                <a:latin typeface="+mn-lt"/>
              </a:rPr>
              <a:t>與抗體結合後的 </a:t>
            </a:r>
            <a:r>
              <a:rPr lang="en" altLang="zh-TW" b="0" dirty="0">
                <a:latin typeface="+mn-lt"/>
              </a:rPr>
              <a:t>beads </a:t>
            </a:r>
            <a:r>
              <a:rPr lang="zh-TW" altLang="en-US" b="0" dirty="0">
                <a:latin typeface="+mn-lt"/>
              </a:rPr>
              <a:t>孵育）</a:t>
            </a:r>
          </a:p>
          <a:p>
            <a:pPr>
              <a:buFont typeface="Arial" panose="020B0604020202020204" pitchFamily="34" charset="0"/>
              <a:buChar char="•"/>
            </a:pPr>
            <a:r>
              <a:rPr lang="zh-TW" altLang="en-US" b="0" dirty="0">
                <a:latin typeface="+mn-lt"/>
              </a:rPr>
              <a:t>使用 </a:t>
            </a:r>
            <a:r>
              <a:rPr lang="en" altLang="zh-TW" b="0" dirty="0">
                <a:latin typeface="+mn-lt"/>
              </a:rPr>
              <a:t>agarose beads</a:t>
            </a:r>
            <a:r>
              <a:rPr lang="zh-TW" altLang="en" b="0" dirty="0">
                <a:latin typeface="+mn-lt"/>
              </a:rPr>
              <a:t>（</a:t>
            </a:r>
            <a:r>
              <a:rPr lang="zh-TW" altLang="en-US" b="0" dirty="0">
                <a:latin typeface="+mn-lt"/>
              </a:rPr>
              <a:t>瓊脂糖珠）或磁珠包覆 </a:t>
            </a:r>
            <a:r>
              <a:rPr lang="en" altLang="zh-TW" b="0" dirty="0">
                <a:latin typeface="+mn-lt"/>
              </a:rPr>
              <a:t>Protein A/G</a:t>
            </a:r>
            <a:r>
              <a:rPr lang="zh-TW" altLang="en" b="0" dirty="0">
                <a:latin typeface="+mn-lt"/>
              </a:rPr>
              <a:t>（</a:t>
            </a:r>
            <a:r>
              <a:rPr lang="zh-TW" altLang="en-US" b="0" dirty="0">
                <a:latin typeface="+mn-lt"/>
              </a:rPr>
              <a:t>二級抗體）來抓取抗體</a:t>
            </a:r>
            <a:r>
              <a:rPr lang="en-US" altLang="zh-TW" b="0" dirty="0">
                <a:latin typeface="+mn-lt"/>
              </a:rPr>
              <a:t>–</a:t>
            </a:r>
            <a:r>
              <a:rPr lang="zh-TW" altLang="en-US" b="0" dirty="0">
                <a:latin typeface="+mn-lt"/>
              </a:rPr>
              <a:t>蛋白複合物。</a:t>
            </a:r>
          </a:p>
          <a:p>
            <a:r>
              <a:rPr lang="zh-TW" altLang="en-US" b="0" dirty="0">
                <a:latin typeface="+mn-lt"/>
              </a:rPr>
              <a:t>洗滌、離心、洗脫</a:t>
            </a:r>
          </a:p>
          <a:p>
            <a:pPr>
              <a:buFont typeface="Arial" panose="020B0604020202020204" pitchFamily="34" charset="0"/>
              <a:buChar char="•"/>
            </a:pPr>
            <a:r>
              <a:rPr lang="zh-TW" altLang="en-US" b="0" dirty="0">
                <a:latin typeface="+mn-lt"/>
              </a:rPr>
              <a:t>去除未結合蛋白（例如 </a:t>
            </a:r>
            <a:r>
              <a:rPr lang="en" altLang="zh-TW" b="0" dirty="0">
                <a:latin typeface="+mn-lt"/>
              </a:rPr>
              <a:t>D</a:t>
            </a:r>
            <a:r>
              <a:rPr lang="zh-TW" altLang="en" b="0" dirty="0">
                <a:latin typeface="+mn-lt"/>
              </a:rPr>
              <a:t>），</a:t>
            </a:r>
            <a:r>
              <a:rPr lang="zh-TW" altLang="en-US" b="0" dirty="0">
                <a:latin typeface="+mn-lt"/>
              </a:rPr>
              <a:t>留下 </a:t>
            </a:r>
            <a:r>
              <a:rPr lang="en" altLang="zh-TW" b="0" dirty="0">
                <a:latin typeface="+mn-lt"/>
              </a:rPr>
              <a:t>beads </a:t>
            </a:r>
            <a:r>
              <a:rPr lang="zh-TW" altLang="en-US" b="0" dirty="0">
                <a:latin typeface="+mn-lt"/>
              </a:rPr>
              <a:t>上的 </a:t>
            </a:r>
            <a:r>
              <a:rPr lang="en" altLang="zh-TW" b="0" dirty="0">
                <a:latin typeface="+mn-lt"/>
              </a:rPr>
              <a:t>A </a:t>
            </a:r>
            <a:r>
              <a:rPr lang="zh-TW" altLang="en-US" b="0" dirty="0">
                <a:latin typeface="+mn-lt"/>
              </a:rPr>
              <a:t>與其交互作用夥伴（例如 </a:t>
            </a:r>
            <a:r>
              <a:rPr lang="en" altLang="zh-TW" b="0" dirty="0">
                <a:latin typeface="+mn-lt"/>
              </a:rPr>
              <a:t>B</a:t>
            </a:r>
            <a:r>
              <a:rPr lang="zh-TW" altLang="en" b="0" dirty="0">
                <a:latin typeface="+mn-lt"/>
              </a:rPr>
              <a:t>）。</a:t>
            </a:r>
          </a:p>
          <a:p>
            <a:endParaRPr kumimoji="1" lang="en-US" altLang="zh-TW" b="0" i="0" dirty="0">
              <a:latin typeface="+mn-lt"/>
            </a:endParaRPr>
          </a:p>
          <a:p>
            <a:pPr>
              <a:buFont typeface="Arial" panose="020B0604020202020204" pitchFamily="34" charset="0"/>
              <a:buChar char="•"/>
            </a:pPr>
            <a:r>
              <a:rPr lang="en" altLang="zh-TW" b="0" dirty="0">
                <a:latin typeface="+mn-lt"/>
              </a:rPr>
              <a:t>SDS-PAGE</a:t>
            </a:r>
            <a:r>
              <a:rPr lang="zh-TW" altLang="en" b="0" dirty="0">
                <a:latin typeface="+mn-lt"/>
              </a:rPr>
              <a:t>：</a:t>
            </a:r>
            <a:r>
              <a:rPr lang="zh-TW" altLang="en-US" b="0" dirty="0">
                <a:latin typeface="+mn-lt"/>
              </a:rPr>
              <a:t>依照分子量將蛋白分離</a:t>
            </a:r>
          </a:p>
          <a:p>
            <a:pPr>
              <a:buFont typeface="Arial" panose="020B0604020202020204" pitchFamily="34" charset="0"/>
              <a:buChar char="•"/>
            </a:pPr>
            <a:r>
              <a:rPr lang="en" altLang="zh-TW" b="0" dirty="0">
                <a:latin typeface="+mn-lt"/>
              </a:rPr>
              <a:t>Western blotting</a:t>
            </a:r>
            <a:r>
              <a:rPr lang="zh-TW" altLang="en" b="0" dirty="0">
                <a:latin typeface="+mn-lt"/>
              </a:rPr>
              <a:t>（</a:t>
            </a:r>
            <a:r>
              <a:rPr lang="en" altLang="zh-TW" b="0" dirty="0">
                <a:latin typeface="+mn-lt"/>
              </a:rPr>
              <a:t>WB</a:t>
            </a:r>
            <a:r>
              <a:rPr lang="zh-TW" altLang="en" b="0" dirty="0">
                <a:latin typeface="+mn-lt"/>
              </a:rPr>
              <a:t>）：</a:t>
            </a:r>
          </a:p>
          <a:p>
            <a:pPr marL="742950" lvl="1" indent="-285750">
              <a:buFont typeface="Arial" panose="020B0604020202020204" pitchFamily="34" charset="0"/>
              <a:buChar char="•"/>
            </a:pPr>
            <a:r>
              <a:rPr lang="en" altLang="zh-TW" b="0" dirty="0">
                <a:latin typeface="+mn-lt"/>
              </a:rPr>
              <a:t>WB: Anti-A → </a:t>
            </a:r>
            <a:r>
              <a:rPr lang="zh-TW" altLang="en-US" b="0" dirty="0">
                <a:latin typeface="+mn-lt"/>
              </a:rPr>
              <a:t>檢測目標蛋白是否成功沉澱</a:t>
            </a:r>
          </a:p>
          <a:p>
            <a:pPr marL="742950" lvl="1" indent="-285750">
              <a:buFont typeface="Arial" panose="020B0604020202020204" pitchFamily="34" charset="0"/>
              <a:buChar char="•"/>
            </a:pPr>
            <a:r>
              <a:rPr lang="en" altLang="zh-TW" b="0" dirty="0">
                <a:latin typeface="+mn-lt"/>
              </a:rPr>
              <a:t>WB: Anti-B → </a:t>
            </a:r>
            <a:r>
              <a:rPr lang="zh-TW" altLang="en-US" b="0" dirty="0">
                <a:latin typeface="+mn-lt"/>
              </a:rPr>
              <a:t>檢測是否有共沉澱下來的結合蛋白 </a:t>
            </a:r>
            <a:r>
              <a:rPr lang="en" altLang="zh-TW" b="0" dirty="0">
                <a:latin typeface="+mn-lt"/>
              </a:rPr>
              <a:t>B</a:t>
            </a:r>
          </a:p>
          <a:p>
            <a:endParaRPr kumimoji="1" lang="en-US" altLang="zh-TW" b="0" i="0" dirty="0">
              <a:latin typeface="+mn-lt"/>
            </a:endParaRPr>
          </a:p>
          <a:p>
            <a:r>
              <a:rPr lang="zh-TW" altLang="en-US" b="0" dirty="0">
                <a:latin typeface="+mn-lt"/>
              </a:rPr>
              <a:t>若希望更廣泛地探索可能與 </a:t>
            </a:r>
            <a:r>
              <a:rPr lang="en" altLang="zh-TW" b="0" dirty="0">
                <a:latin typeface="+mn-lt"/>
              </a:rPr>
              <a:t>A </a:t>
            </a:r>
            <a:r>
              <a:rPr lang="zh-TW" altLang="en-US" b="0" dirty="0">
                <a:latin typeface="+mn-lt"/>
              </a:rPr>
              <a:t>結合的蛋白（如整個蛋白質複合體）：</a:t>
            </a:r>
          </a:p>
          <a:p>
            <a:pPr>
              <a:buFont typeface="Arial" panose="020B0604020202020204" pitchFamily="34" charset="0"/>
              <a:buChar char="•"/>
            </a:pPr>
            <a:r>
              <a:rPr lang="zh-TW" altLang="en-US" b="0" dirty="0">
                <a:latin typeface="+mn-lt"/>
              </a:rPr>
              <a:t>第一維：依等電點（</a:t>
            </a:r>
            <a:r>
              <a:rPr lang="en" altLang="zh-TW" b="0" dirty="0" err="1">
                <a:latin typeface="+mn-lt"/>
              </a:rPr>
              <a:t>pI</a:t>
            </a:r>
            <a:r>
              <a:rPr lang="zh-TW" altLang="en" b="0" dirty="0">
                <a:latin typeface="+mn-lt"/>
              </a:rPr>
              <a:t>）</a:t>
            </a:r>
            <a:r>
              <a:rPr lang="zh-TW" altLang="en-US" b="0" dirty="0">
                <a:latin typeface="+mn-lt"/>
              </a:rPr>
              <a:t>分離</a:t>
            </a:r>
          </a:p>
          <a:p>
            <a:pPr>
              <a:buFont typeface="Arial" panose="020B0604020202020204" pitchFamily="34" charset="0"/>
              <a:buChar char="•"/>
            </a:pPr>
            <a:r>
              <a:rPr lang="zh-TW" altLang="en-US" b="0" dirty="0">
                <a:latin typeface="+mn-lt"/>
              </a:rPr>
              <a:t>第二維：依分子量分離</a:t>
            </a:r>
          </a:p>
          <a:p>
            <a:pPr>
              <a:buFont typeface="Arial" panose="020B0604020202020204" pitchFamily="34" charset="0"/>
              <a:buChar char="•"/>
            </a:pPr>
            <a:r>
              <a:rPr lang="zh-TW" altLang="en-US" b="0" dirty="0">
                <a:latin typeface="+mn-lt"/>
              </a:rPr>
              <a:t>→ 每個點代表一個蛋白，可用於找出未知結合夥伴。</a:t>
            </a:r>
          </a:p>
          <a:p>
            <a:endParaRPr kumimoji="1" lang="en-US" altLang="zh-TW" b="0" i="0" dirty="0">
              <a:latin typeface="+mn-lt"/>
            </a:endParaRPr>
          </a:p>
          <a:p>
            <a:r>
              <a:rPr lang="zh-TW" altLang="en-US" b="0" dirty="0">
                <a:latin typeface="+mn-lt"/>
              </a:rPr>
              <a:t>進一步分析免疫沉澱下來的蛋白質組成：</a:t>
            </a:r>
          </a:p>
          <a:p>
            <a:pPr>
              <a:buFont typeface="Arial" panose="020B0604020202020204" pitchFamily="34" charset="0"/>
              <a:buChar char="•"/>
            </a:pPr>
            <a:r>
              <a:rPr lang="zh-TW" altLang="en-US" b="0" dirty="0">
                <a:latin typeface="+mn-lt"/>
              </a:rPr>
              <a:t>將蛋白質酶解為胜肽後注入液相層析（</a:t>
            </a:r>
            <a:r>
              <a:rPr lang="en" altLang="zh-TW" b="0" dirty="0">
                <a:latin typeface="+mn-lt"/>
              </a:rPr>
              <a:t>LC</a:t>
            </a:r>
            <a:r>
              <a:rPr lang="zh-TW" altLang="en" b="0" dirty="0">
                <a:latin typeface="+mn-lt"/>
              </a:rPr>
              <a:t>）</a:t>
            </a:r>
            <a:r>
              <a:rPr lang="zh-TW" altLang="en-US" b="0" dirty="0">
                <a:latin typeface="+mn-lt"/>
              </a:rPr>
              <a:t>分離</a:t>
            </a:r>
          </a:p>
          <a:p>
            <a:pPr>
              <a:buFont typeface="Arial" panose="020B0604020202020204" pitchFamily="34" charset="0"/>
              <a:buChar char="•"/>
            </a:pPr>
            <a:r>
              <a:rPr lang="zh-TW" altLang="en-US" b="0" dirty="0">
                <a:latin typeface="+mn-lt"/>
              </a:rPr>
              <a:t>經質譜（</a:t>
            </a:r>
            <a:r>
              <a:rPr lang="en" altLang="zh-TW" b="0" dirty="0">
                <a:latin typeface="+mn-lt"/>
              </a:rPr>
              <a:t>MS/MS</a:t>
            </a:r>
            <a:r>
              <a:rPr lang="zh-TW" altLang="en" b="0" dirty="0">
                <a:latin typeface="+mn-lt"/>
              </a:rPr>
              <a:t>）</a:t>
            </a:r>
            <a:r>
              <a:rPr lang="zh-TW" altLang="en-US" b="0" dirty="0">
                <a:latin typeface="+mn-lt"/>
              </a:rPr>
              <a:t>鑑定肽段序列 → 推測蛋白身份</a:t>
            </a:r>
          </a:p>
          <a:p>
            <a:r>
              <a:rPr lang="zh-TW" altLang="en-US" b="0" dirty="0">
                <a:latin typeface="+mn-lt"/>
              </a:rPr>
              <a:t>這步驟可 鑑定未知蛋白或大量交互作用蛋白，是高通量分析方法。</a:t>
            </a:r>
          </a:p>
          <a:p>
            <a:endParaRPr kumimoji="1" lang="en-US" altLang="zh-TW" b="0" i="0" dirty="0">
              <a:latin typeface="+mn-lt"/>
            </a:endParaRPr>
          </a:p>
        </p:txBody>
      </p:sp>
      <p:sp>
        <p:nvSpPr>
          <p:cNvPr id="4" name="投影片編號版面配置區 3">
            <a:extLst>
              <a:ext uri="{FF2B5EF4-FFF2-40B4-BE49-F238E27FC236}">
                <a16:creationId xmlns:a16="http://schemas.microsoft.com/office/drawing/2014/main" id="{8D6D7A61-8576-3534-584D-5F8E2DA308EE}"/>
              </a:ext>
            </a:extLst>
          </p:cNvPr>
          <p:cNvSpPr>
            <a:spLocks noGrp="1"/>
          </p:cNvSpPr>
          <p:nvPr>
            <p:ph type="sldNum" sz="quarter" idx="5"/>
          </p:nvPr>
        </p:nvSpPr>
        <p:spPr/>
        <p:txBody>
          <a:bodyPr/>
          <a:lstStyle/>
          <a:p>
            <a:fld id="{61CA63BF-C9DC-9844-BCA0-064E1D9BA987}" type="slidenum">
              <a:rPr kumimoji="1" lang="zh-TW" altLang="en-US" smtClean="0"/>
              <a:t>35</a:t>
            </a:fld>
            <a:endParaRPr kumimoji="1" lang="zh-TW" altLang="en-US"/>
          </a:p>
        </p:txBody>
      </p:sp>
    </p:spTree>
    <p:extLst>
      <p:ext uri="{BB962C8B-B14F-4D97-AF65-F5344CB8AC3E}">
        <p14:creationId xmlns:p14="http://schemas.microsoft.com/office/powerpoint/2010/main" val="27053043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733D5-7185-7130-574E-53F9EF6861C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A15C1DF-BF3A-1BE2-8531-4DA1B17E974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1683D43-141B-859D-B61C-4989B0764826}"/>
              </a:ext>
            </a:extLst>
          </p:cNvPr>
          <p:cNvSpPr>
            <a:spLocks noGrp="1"/>
          </p:cNvSpPr>
          <p:nvPr>
            <p:ph type="body" idx="1"/>
          </p:nvPr>
        </p:nvSpPr>
        <p:spPr/>
        <p:txBody>
          <a:bodyPr/>
          <a:lstStyle/>
          <a:p>
            <a:r>
              <a:rPr lang="en" altLang="zh-TW" b="1" dirty="0"/>
              <a:t>Annexin V / PI</a:t>
            </a:r>
            <a:r>
              <a:rPr lang="zh-TW" altLang="en-US" b="1" dirty="0"/>
              <a:t>：</a:t>
            </a:r>
            <a:r>
              <a:rPr lang="zh-TW" altLang="en-US" dirty="0"/>
              <a:t>膜磷脂外翻（早期） </a:t>
            </a:r>
            <a:r>
              <a:rPr lang="en-US" altLang="zh-TW" dirty="0"/>
              <a:t>/ </a:t>
            </a:r>
            <a:r>
              <a:rPr lang="zh-TW" altLang="en-US" dirty="0"/>
              <a:t>破裂（晚期）</a:t>
            </a:r>
            <a:endParaRPr lang="en-US" altLang="zh-TW" dirty="0"/>
          </a:p>
          <a:p>
            <a:r>
              <a:rPr lang="en" altLang="zh-TW" b="1" dirty="0"/>
              <a:t>TUNEL assay</a:t>
            </a:r>
            <a:r>
              <a:rPr lang="zh-TW" altLang="en-US" b="1" dirty="0"/>
              <a:t>：</a:t>
            </a:r>
            <a:r>
              <a:rPr lang="en" altLang="zh-TW" dirty="0"/>
              <a:t>DNA </a:t>
            </a:r>
            <a:r>
              <a:rPr lang="zh-TW" altLang="en-US" dirty="0"/>
              <a:t>末端標記（晚期）</a:t>
            </a:r>
            <a:endParaRPr lang="en-US" altLang="zh-TW" dirty="0"/>
          </a:p>
          <a:p>
            <a:r>
              <a:rPr lang="en" altLang="zh-TW" b="1" dirty="0"/>
              <a:t>Western blot</a:t>
            </a:r>
            <a:r>
              <a:rPr lang="zh-TW" altLang="en-US" b="1" dirty="0"/>
              <a:t>：</a:t>
            </a:r>
            <a:r>
              <a:rPr lang="en" altLang="zh-TW" dirty="0"/>
              <a:t>Cleaved caspase-3</a:t>
            </a:r>
            <a:r>
              <a:rPr lang="zh-TW" altLang="en" dirty="0"/>
              <a:t>、</a:t>
            </a:r>
            <a:r>
              <a:rPr lang="en" altLang="zh-TW" dirty="0"/>
              <a:t>cleaved PARP</a:t>
            </a:r>
          </a:p>
          <a:p>
            <a:r>
              <a:rPr lang="en" altLang="zh-TW" b="1" dirty="0"/>
              <a:t>Hoechst / DAPI </a:t>
            </a:r>
            <a:r>
              <a:rPr lang="zh-TW" altLang="en-US" b="1" dirty="0"/>
              <a:t>染色：</a:t>
            </a:r>
            <a:r>
              <a:rPr lang="zh-TW" altLang="en-US" dirty="0"/>
              <a:t>核濃縮與碎裂</a:t>
            </a:r>
            <a:endParaRPr kumimoji="1" lang="zh-TW" altLang="en-US" dirty="0"/>
          </a:p>
        </p:txBody>
      </p:sp>
      <p:sp>
        <p:nvSpPr>
          <p:cNvPr id="4" name="投影片編號版面配置區 3">
            <a:extLst>
              <a:ext uri="{FF2B5EF4-FFF2-40B4-BE49-F238E27FC236}">
                <a16:creationId xmlns:a16="http://schemas.microsoft.com/office/drawing/2014/main" id="{12042EF4-2A5D-D8F4-B887-4FA116DA1990}"/>
              </a:ext>
            </a:extLst>
          </p:cNvPr>
          <p:cNvSpPr>
            <a:spLocks noGrp="1"/>
          </p:cNvSpPr>
          <p:nvPr>
            <p:ph type="sldNum" sz="quarter" idx="5"/>
          </p:nvPr>
        </p:nvSpPr>
        <p:spPr/>
        <p:txBody>
          <a:bodyPr/>
          <a:lstStyle/>
          <a:p>
            <a:fld id="{61CA63BF-C9DC-9844-BCA0-064E1D9BA987}" type="slidenum">
              <a:rPr kumimoji="1" lang="zh-TW" altLang="en-US" smtClean="0"/>
              <a:t>36</a:t>
            </a:fld>
            <a:endParaRPr kumimoji="1" lang="zh-TW" altLang="en-US"/>
          </a:p>
        </p:txBody>
      </p:sp>
    </p:spTree>
    <p:extLst>
      <p:ext uri="{BB962C8B-B14F-4D97-AF65-F5344CB8AC3E}">
        <p14:creationId xmlns:p14="http://schemas.microsoft.com/office/powerpoint/2010/main" val="732073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8F85CA8B-35D7-4E4F-98FD-4D317EEC495D}" type="datetime1">
              <a:rPr kumimoji="1" lang="zh-TW" altLang="en-US" smtClean="0"/>
              <a:t>2025/7/30</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5457A026-CD74-A64B-872B-B0D8D2A810A8}" type="slidenum">
              <a:rPr kumimoji="1" lang="zh-TW" altLang="en-US" smtClean="0"/>
              <a:t>‹#›</a:t>
            </a:fld>
            <a:endParaRPr kumimoji="1" lang="zh-TW" altLang="en-US"/>
          </a:p>
        </p:txBody>
      </p:sp>
    </p:spTree>
    <p:extLst>
      <p:ext uri="{BB962C8B-B14F-4D97-AF65-F5344CB8AC3E}">
        <p14:creationId xmlns:p14="http://schemas.microsoft.com/office/powerpoint/2010/main" val="2635101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36FDDDE-4E7A-D54D-A8E6-7743BB6D39FB}" type="datetime1">
              <a:rPr kumimoji="1" lang="zh-TW" altLang="en-US" smtClean="0"/>
              <a:t>2025/7/30</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5457A026-CD74-A64B-872B-B0D8D2A810A8}" type="slidenum">
              <a:rPr kumimoji="1" lang="zh-TW" altLang="en-US" smtClean="0"/>
              <a:t>‹#›</a:t>
            </a:fld>
            <a:endParaRPr kumimoji="1" lang="zh-TW" altLang="en-US"/>
          </a:p>
        </p:txBody>
      </p:sp>
    </p:spTree>
    <p:extLst>
      <p:ext uri="{BB962C8B-B14F-4D97-AF65-F5344CB8AC3E}">
        <p14:creationId xmlns:p14="http://schemas.microsoft.com/office/powerpoint/2010/main" val="3514547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8B8CB618-16AF-9C4E-9C10-15B37902487A}" type="datetime1">
              <a:rPr kumimoji="1" lang="zh-TW" altLang="en-US" smtClean="0"/>
              <a:t>2025/7/30</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5457A026-CD74-A64B-872B-B0D8D2A810A8}" type="slidenum">
              <a:rPr kumimoji="1" lang="zh-TW" altLang="en-US" smtClean="0"/>
              <a:t>‹#›</a:t>
            </a:fld>
            <a:endParaRPr kumimoji="1" lang="zh-TW" altLang="en-US"/>
          </a:p>
        </p:txBody>
      </p:sp>
    </p:spTree>
    <p:extLst>
      <p:ext uri="{BB962C8B-B14F-4D97-AF65-F5344CB8AC3E}">
        <p14:creationId xmlns:p14="http://schemas.microsoft.com/office/powerpoint/2010/main" val="2653645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8CBADF6E-B4CF-DD4A-B085-E3A41EC08C2B}" type="datetime1">
              <a:rPr kumimoji="1" lang="zh-TW" altLang="en-US" smtClean="0"/>
              <a:t>2025/7/30</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5457A026-CD74-A64B-872B-B0D8D2A810A8}" type="slidenum">
              <a:rPr kumimoji="1" lang="zh-TW" altLang="en-US" smtClean="0"/>
              <a:t>‹#›</a:t>
            </a:fld>
            <a:endParaRPr kumimoji="1" lang="zh-TW" altLang="en-US"/>
          </a:p>
        </p:txBody>
      </p:sp>
    </p:spTree>
    <p:extLst>
      <p:ext uri="{BB962C8B-B14F-4D97-AF65-F5344CB8AC3E}">
        <p14:creationId xmlns:p14="http://schemas.microsoft.com/office/powerpoint/2010/main" val="3424962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F8BF7DE-35C2-8E49-A699-A767EF12F3FF}" type="datetime1">
              <a:rPr kumimoji="1" lang="zh-TW" altLang="en-US" smtClean="0"/>
              <a:t>2025/7/30</a:t>
            </a:fld>
            <a:endParaRPr kumimoji="1" lang="zh-TW" altLang="en-US"/>
          </a:p>
        </p:txBody>
      </p:sp>
      <p:sp>
        <p:nvSpPr>
          <p:cNvPr id="8" name="Footer Placeholder 7"/>
          <p:cNvSpPr>
            <a:spLocks noGrp="1"/>
          </p:cNvSpPr>
          <p:nvPr>
            <p:ph type="ftr" sz="quarter" idx="11"/>
          </p:nvPr>
        </p:nvSpPr>
        <p:spPr/>
        <p:txBody>
          <a:bodyPr/>
          <a:lstStyle/>
          <a:p>
            <a:endParaRPr kumimoji="1" lang="zh-TW" altLang="en-US"/>
          </a:p>
        </p:txBody>
      </p:sp>
      <p:sp>
        <p:nvSpPr>
          <p:cNvPr id="9" name="Slide Number Placeholder 8"/>
          <p:cNvSpPr>
            <a:spLocks noGrp="1"/>
          </p:cNvSpPr>
          <p:nvPr>
            <p:ph type="sldNum" sz="quarter" idx="12"/>
          </p:nvPr>
        </p:nvSpPr>
        <p:spPr/>
        <p:txBody>
          <a:bodyPr/>
          <a:lstStyle/>
          <a:p>
            <a:fld id="{5457A026-CD74-A64B-872B-B0D8D2A810A8}" type="slidenum">
              <a:rPr kumimoji="1" lang="zh-TW" altLang="en-US" smtClean="0"/>
              <a:t>‹#›</a:t>
            </a:fld>
            <a:endParaRPr kumimoji="1" lang="zh-TW" altLang="en-US"/>
          </a:p>
        </p:txBody>
      </p:sp>
    </p:spTree>
    <p:extLst>
      <p:ext uri="{BB962C8B-B14F-4D97-AF65-F5344CB8AC3E}">
        <p14:creationId xmlns:p14="http://schemas.microsoft.com/office/powerpoint/2010/main" val="2523469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9DABBA57-357A-7045-93E0-990A2830AB7D}" type="datetime1">
              <a:rPr kumimoji="1" lang="zh-TW" altLang="en-US" smtClean="0"/>
              <a:t>2025/7/30</a:t>
            </a:fld>
            <a:endParaRPr kumimoji="1" lang="zh-TW" altLang="en-US"/>
          </a:p>
        </p:txBody>
      </p:sp>
      <p:sp>
        <p:nvSpPr>
          <p:cNvPr id="4" name="Footer Placeholder 3"/>
          <p:cNvSpPr>
            <a:spLocks noGrp="1"/>
          </p:cNvSpPr>
          <p:nvPr>
            <p:ph type="ftr" sz="quarter" idx="11"/>
          </p:nvPr>
        </p:nvSpPr>
        <p:spPr/>
        <p:txBody>
          <a:bodyPr/>
          <a:lstStyle/>
          <a:p>
            <a:endParaRPr kumimoji="1" lang="zh-TW" altLang="en-US"/>
          </a:p>
        </p:txBody>
      </p:sp>
      <p:sp>
        <p:nvSpPr>
          <p:cNvPr id="5" name="Slide Number Placeholder 4"/>
          <p:cNvSpPr>
            <a:spLocks noGrp="1"/>
          </p:cNvSpPr>
          <p:nvPr>
            <p:ph type="sldNum" sz="quarter" idx="12"/>
          </p:nvPr>
        </p:nvSpPr>
        <p:spPr/>
        <p:txBody>
          <a:bodyPr/>
          <a:lstStyle/>
          <a:p>
            <a:fld id="{5457A026-CD74-A64B-872B-B0D8D2A810A8}" type="slidenum">
              <a:rPr kumimoji="1" lang="zh-TW" altLang="en-US" smtClean="0"/>
              <a:t>‹#›</a:t>
            </a:fld>
            <a:endParaRPr kumimoji="1" lang="zh-TW" altLang="en-US"/>
          </a:p>
        </p:txBody>
      </p:sp>
    </p:spTree>
    <p:extLst>
      <p:ext uri="{BB962C8B-B14F-4D97-AF65-F5344CB8AC3E}">
        <p14:creationId xmlns:p14="http://schemas.microsoft.com/office/powerpoint/2010/main" val="786138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5BBA44-BB00-B84B-947F-00390789C43A}" type="datetime1">
              <a:rPr kumimoji="1" lang="zh-TW" altLang="en-US" smtClean="0"/>
              <a:t>2025/7/30</a:t>
            </a:fld>
            <a:endParaRPr kumimoji="1" lang="zh-TW" altLang="en-US"/>
          </a:p>
        </p:txBody>
      </p:sp>
      <p:sp>
        <p:nvSpPr>
          <p:cNvPr id="3" name="Footer Placeholder 2"/>
          <p:cNvSpPr>
            <a:spLocks noGrp="1"/>
          </p:cNvSpPr>
          <p:nvPr>
            <p:ph type="ftr" sz="quarter" idx="11"/>
          </p:nvPr>
        </p:nvSpPr>
        <p:spPr/>
        <p:txBody>
          <a:bodyPr/>
          <a:lstStyle/>
          <a:p>
            <a:endParaRPr kumimoji="1" lang="zh-TW" altLang="en-US"/>
          </a:p>
        </p:txBody>
      </p:sp>
      <p:sp>
        <p:nvSpPr>
          <p:cNvPr id="4" name="Slide Number Placeholder 3"/>
          <p:cNvSpPr>
            <a:spLocks noGrp="1"/>
          </p:cNvSpPr>
          <p:nvPr>
            <p:ph type="sldNum" sz="quarter" idx="12"/>
          </p:nvPr>
        </p:nvSpPr>
        <p:spPr/>
        <p:txBody>
          <a:bodyPr/>
          <a:lstStyle/>
          <a:p>
            <a:fld id="{5457A026-CD74-A64B-872B-B0D8D2A810A8}" type="slidenum">
              <a:rPr kumimoji="1" lang="zh-TW" altLang="en-US" smtClean="0"/>
              <a:t>‹#›</a:t>
            </a:fld>
            <a:endParaRPr kumimoji="1" lang="zh-TW" altLang="en-US"/>
          </a:p>
        </p:txBody>
      </p:sp>
    </p:spTree>
    <p:extLst>
      <p:ext uri="{BB962C8B-B14F-4D97-AF65-F5344CB8AC3E}">
        <p14:creationId xmlns:p14="http://schemas.microsoft.com/office/powerpoint/2010/main" val="3309242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BD767151-9180-5342-A993-B8407FFEA684}" type="datetime1">
              <a:rPr kumimoji="1" lang="zh-TW" altLang="en-US" smtClean="0"/>
              <a:t>2025/7/30</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5457A026-CD74-A64B-872B-B0D8D2A810A8}" type="slidenum">
              <a:rPr kumimoji="1" lang="zh-TW" altLang="en-US" smtClean="0"/>
              <a:t>‹#›</a:t>
            </a:fld>
            <a:endParaRPr kumimoji="1" lang="zh-TW" altLang="en-US"/>
          </a:p>
        </p:txBody>
      </p:sp>
    </p:spTree>
    <p:extLst>
      <p:ext uri="{BB962C8B-B14F-4D97-AF65-F5344CB8AC3E}">
        <p14:creationId xmlns:p14="http://schemas.microsoft.com/office/powerpoint/2010/main" val="4120436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2D20925A-69E0-7348-8D61-3FDD88352F5D}" type="datetime1">
              <a:rPr kumimoji="1" lang="zh-TW" altLang="en-US" smtClean="0"/>
              <a:t>2025/7/30</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5457A026-CD74-A64B-872B-B0D8D2A810A8}" type="slidenum">
              <a:rPr kumimoji="1" lang="zh-TW" altLang="en-US" smtClean="0"/>
              <a:t>‹#›</a:t>
            </a:fld>
            <a:endParaRPr kumimoji="1" lang="zh-TW" altLang="en-US"/>
          </a:p>
        </p:txBody>
      </p:sp>
    </p:spTree>
    <p:extLst>
      <p:ext uri="{BB962C8B-B14F-4D97-AF65-F5344CB8AC3E}">
        <p14:creationId xmlns:p14="http://schemas.microsoft.com/office/powerpoint/2010/main" val="2075622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80F44A5-369B-2141-8713-B2BF1A6B7A2E}" type="datetime1">
              <a:rPr kumimoji="1" lang="zh-TW" altLang="en-US" smtClean="0"/>
              <a:t>2025/7/30</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5457A026-CD74-A64B-872B-B0D8D2A810A8}" type="slidenum">
              <a:rPr kumimoji="1" lang="zh-TW" altLang="en-US" smtClean="0"/>
              <a:t>‹#›</a:t>
            </a:fld>
            <a:endParaRPr kumimoji="1" lang="zh-TW" altLang="en-US"/>
          </a:p>
        </p:txBody>
      </p:sp>
    </p:spTree>
    <p:extLst>
      <p:ext uri="{BB962C8B-B14F-4D97-AF65-F5344CB8AC3E}">
        <p14:creationId xmlns:p14="http://schemas.microsoft.com/office/powerpoint/2010/main" val="4266793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C322D58-A7C6-FE41-BB80-DD0475E40CCA}" type="datetime1">
              <a:rPr kumimoji="1" lang="zh-TW" altLang="en-US" smtClean="0"/>
              <a:t>2025/7/30</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5457A026-CD74-A64B-872B-B0D8D2A810A8}" type="slidenum">
              <a:rPr kumimoji="1" lang="zh-TW" altLang="en-US" smtClean="0"/>
              <a:t>‹#›</a:t>
            </a:fld>
            <a:endParaRPr kumimoji="1" lang="zh-TW" altLang="en-US"/>
          </a:p>
        </p:txBody>
      </p:sp>
    </p:spTree>
    <p:extLst>
      <p:ext uri="{BB962C8B-B14F-4D97-AF65-F5344CB8AC3E}">
        <p14:creationId xmlns:p14="http://schemas.microsoft.com/office/powerpoint/2010/main" val="462855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CC2FCD-CAED-924E-94F6-8C6E3E569F8E}" type="datetime1">
              <a:rPr kumimoji="1" lang="zh-TW" altLang="en-US" smtClean="0"/>
              <a:t>2025/7/30</a:t>
            </a:fld>
            <a:endParaRPr kumimoji="1"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57A026-CD74-A64B-872B-B0D8D2A810A8}" type="slidenum">
              <a:rPr kumimoji="1" lang="zh-TW" altLang="en-US" smtClean="0"/>
              <a:t>‹#›</a:t>
            </a:fld>
            <a:endParaRPr kumimoji="1" lang="zh-TW" altLang="en-US"/>
          </a:p>
        </p:txBody>
      </p:sp>
    </p:spTree>
    <p:extLst>
      <p:ext uri="{BB962C8B-B14F-4D97-AF65-F5344CB8AC3E}">
        <p14:creationId xmlns:p14="http://schemas.microsoft.com/office/powerpoint/2010/main" val="9633076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3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EA5A87-2691-27F2-C788-BB53848AE752}"/>
              </a:ext>
            </a:extLst>
          </p:cNvPr>
          <p:cNvSpPr>
            <a:spLocks noGrp="1"/>
          </p:cNvSpPr>
          <p:nvPr>
            <p:ph type="ctrTitle"/>
          </p:nvPr>
        </p:nvSpPr>
        <p:spPr>
          <a:xfrm>
            <a:off x="546030" y="948339"/>
            <a:ext cx="8051936" cy="2387600"/>
          </a:xfrm>
        </p:spPr>
        <p:txBody>
          <a:bodyPr>
            <a:normAutofit/>
          </a:bodyPr>
          <a:lstStyle/>
          <a:p>
            <a:r>
              <a:rPr lang="en" altLang="zh-TW" sz="4000" dirty="0"/>
              <a:t>The Function of DDX3 in the Apoptosis Pathway and Related Research</a:t>
            </a:r>
            <a:endParaRPr kumimoji="1" lang="zh-TW" altLang="en-US" sz="4000" dirty="0">
              <a:cs typeface="Arial" panose="020B0604020202020204" pitchFamily="34" charset="0"/>
            </a:endParaRPr>
          </a:p>
        </p:txBody>
      </p:sp>
      <p:sp>
        <p:nvSpPr>
          <p:cNvPr id="3" name="副標題 2">
            <a:extLst>
              <a:ext uri="{FF2B5EF4-FFF2-40B4-BE49-F238E27FC236}">
                <a16:creationId xmlns:a16="http://schemas.microsoft.com/office/drawing/2014/main" id="{7CBF19B6-0E55-E947-87AA-C155353DAA91}"/>
              </a:ext>
            </a:extLst>
          </p:cNvPr>
          <p:cNvSpPr>
            <a:spLocks noGrp="1"/>
          </p:cNvSpPr>
          <p:nvPr>
            <p:ph type="subTitle" idx="1"/>
          </p:nvPr>
        </p:nvSpPr>
        <p:spPr>
          <a:xfrm>
            <a:off x="1100888" y="3616224"/>
            <a:ext cx="6942221" cy="2293437"/>
          </a:xfrm>
        </p:spPr>
        <p:txBody>
          <a:bodyPr>
            <a:normAutofit fontScale="92500" lnSpcReduction="10000"/>
          </a:bodyPr>
          <a:lstStyle/>
          <a:p>
            <a:r>
              <a:rPr kumimoji="1" lang="en-US" altLang="zh-TW" sz="2200" dirty="0"/>
              <a:t>Speaker: Ching-</a:t>
            </a:r>
            <a:r>
              <a:rPr kumimoji="1" lang="en-US" altLang="zh-TW" sz="2200" dirty="0" err="1"/>
              <a:t>Hsun</a:t>
            </a:r>
            <a:r>
              <a:rPr kumimoji="1" lang="en-US" altLang="zh-TW" sz="2200" dirty="0"/>
              <a:t> Tsai</a:t>
            </a:r>
          </a:p>
          <a:p>
            <a:r>
              <a:rPr kumimoji="1" lang="en-US" altLang="zh-TW" sz="2200" dirty="0"/>
              <a:t>Advisor: Ru-</a:t>
            </a:r>
            <a:r>
              <a:rPr kumimoji="1" lang="en-US" altLang="zh-TW" sz="2200" dirty="0" err="1"/>
              <a:t>Tsun</a:t>
            </a:r>
            <a:r>
              <a:rPr kumimoji="1" lang="en-US" altLang="zh-TW" sz="2200" dirty="0"/>
              <a:t> Mai</a:t>
            </a:r>
          </a:p>
          <a:p>
            <a:r>
              <a:rPr kumimoji="1" lang="en-US" altLang="zh-TW" sz="2200" dirty="0"/>
              <a:t>Date: 2025/07/30</a:t>
            </a:r>
          </a:p>
          <a:p>
            <a:endParaRPr kumimoji="1" lang="en-US" altLang="zh-TW" sz="2200" dirty="0"/>
          </a:p>
          <a:p>
            <a:r>
              <a:rPr lang="en" altLang="zh-TW" sz="2200" b="0" i="0" dirty="0">
                <a:effectLst/>
              </a:rPr>
              <a:t>National Yang Ming Chiao Tung University</a:t>
            </a:r>
          </a:p>
          <a:p>
            <a:r>
              <a:rPr lang="en" altLang="zh-TW" sz="2200" dirty="0"/>
              <a:t>Department of </a:t>
            </a:r>
            <a:r>
              <a:rPr lang="en" altLang="zh-TW" sz="2200" b="0" i="0" dirty="0">
                <a:effectLst/>
              </a:rPr>
              <a:t>Biological Science and Technology</a:t>
            </a:r>
          </a:p>
          <a:p>
            <a:endParaRPr kumimoji="1" lang="zh-TW" altLang="en-US" dirty="0"/>
          </a:p>
        </p:txBody>
      </p:sp>
    </p:spTree>
    <p:extLst>
      <p:ext uri="{BB962C8B-B14F-4D97-AF65-F5344CB8AC3E}">
        <p14:creationId xmlns:p14="http://schemas.microsoft.com/office/powerpoint/2010/main" val="1556908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EE3D8-D404-7044-04AF-04E8719D0B4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A52777F-1BC7-A1E7-1E86-5F55423B8464}"/>
              </a:ext>
            </a:extLst>
          </p:cNvPr>
          <p:cNvSpPr>
            <a:spLocks noGrp="1"/>
          </p:cNvSpPr>
          <p:nvPr>
            <p:ph type="title"/>
          </p:nvPr>
        </p:nvSpPr>
        <p:spPr>
          <a:xfrm>
            <a:off x="628650" y="433416"/>
            <a:ext cx="7886700" cy="681037"/>
          </a:xfrm>
        </p:spPr>
        <p:txBody>
          <a:bodyPr>
            <a:normAutofit/>
          </a:bodyPr>
          <a:lstStyle/>
          <a:p>
            <a:r>
              <a:rPr kumimoji="1" lang="en-US" altLang="zh-TW" sz="3600"/>
              <a:t>Summary</a:t>
            </a:r>
            <a:endParaRPr kumimoji="1" lang="zh-TW" altLang="en-US" sz="3600"/>
          </a:p>
        </p:txBody>
      </p:sp>
      <p:sp>
        <p:nvSpPr>
          <p:cNvPr id="3" name="內容版面配置區 2">
            <a:extLst>
              <a:ext uri="{FF2B5EF4-FFF2-40B4-BE49-F238E27FC236}">
                <a16:creationId xmlns:a16="http://schemas.microsoft.com/office/drawing/2014/main" id="{14F3FCE9-A360-BA3C-14F9-DADAF5864173}"/>
              </a:ext>
            </a:extLst>
          </p:cNvPr>
          <p:cNvSpPr>
            <a:spLocks noGrp="1"/>
          </p:cNvSpPr>
          <p:nvPr>
            <p:ph idx="1"/>
          </p:nvPr>
        </p:nvSpPr>
        <p:spPr>
          <a:xfrm>
            <a:off x="628650" y="1121730"/>
            <a:ext cx="7886700" cy="4854233"/>
          </a:xfrm>
        </p:spPr>
        <p:txBody>
          <a:bodyPr>
            <a:noAutofit/>
          </a:bodyPr>
          <a:lstStyle/>
          <a:p>
            <a:pPr>
              <a:lnSpc>
                <a:spcPct val="150000"/>
              </a:lnSpc>
            </a:pPr>
            <a:r>
              <a:rPr kumimoji="1" lang="en-US" altLang="zh-TW" sz="2400" dirty="0"/>
              <a:t>Introduction</a:t>
            </a:r>
          </a:p>
          <a:p>
            <a:pPr lvl="1">
              <a:lnSpc>
                <a:spcPct val="150000"/>
              </a:lnSpc>
            </a:pPr>
            <a:r>
              <a:rPr kumimoji="1" lang="en-US" altLang="zh-TW" dirty="0"/>
              <a:t>Programmed Cell Death</a:t>
            </a:r>
          </a:p>
          <a:p>
            <a:pPr lvl="1">
              <a:lnSpc>
                <a:spcPct val="150000"/>
              </a:lnSpc>
            </a:pPr>
            <a:r>
              <a:rPr kumimoji="1" lang="en-US" altLang="zh-TW" dirty="0"/>
              <a:t>Apoptosis</a:t>
            </a:r>
          </a:p>
          <a:p>
            <a:pPr lvl="1">
              <a:lnSpc>
                <a:spcPct val="150000"/>
              </a:lnSpc>
            </a:pPr>
            <a:r>
              <a:rPr lang="en" altLang="zh-TW" dirty="0"/>
              <a:t>DDX3</a:t>
            </a:r>
            <a:endParaRPr kumimoji="1" lang="en-US" altLang="zh-TW" dirty="0"/>
          </a:p>
          <a:p>
            <a:pPr>
              <a:lnSpc>
                <a:spcPct val="150000"/>
              </a:lnSpc>
            </a:pPr>
            <a:r>
              <a:rPr lang="en" altLang="zh-TW" sz="2400" dirty="0"/>
              <a:t>Related </a:t>
            </a:r>
            <a:r>
              <a:rPr kumimoji="1" lang="en-US" altLang="zh-TW" sz="2400" dirty="0"/>
              <a:t>Research of DDX3 and Apoptosis</a:t>
            </a:r>
          </a:p>
          <a:p>
            <a:pPr>
              <a:lnSpc>
                <a:spcPct val="150000"/>
              </a:lnSpc>
            </a:pPr>
            <a:r>
              <a:rPr kumimoji="1" lang="en-US" altLang="zh-TW" sz="2400" dirty="0"/>
              <a:t>Conclusion</a:t>
            </a:r>
            <a:endParaRPr kumimoji="1" lang="en-US" altLang="zh-TW" dirty="0"/>
          </a:p>
          <a:p>
            <a:pPr lvl="1"/>
            <a:endParaRPr kumimoji="1" lang="en-US" altLang="zh-TW" dirty="0"/>
          </a:p>
          <a:p>
            <a:pPr marL="457200" lvl="1" indent="0">
              <a:buNone/>
            </a:pPr>
            <a:endParaRPr kumimoji="1" lang="en-US" altLang="zh-TW" dirty="0"/>
          </a:p>
          <a:p>
            <a:endParaRPr kumimoji="1" lang="en-US" altLang="zh-TW" sz="2400" dirty="0"/>
          </a:p>
        </p:txBody>
      </p:sp>
      <p:sp>
        <p:nvSpPr>
          <p:cNvPr id="4" name="投影片編號版面配置區 3">
            <a:extLst>
              <a:ext uri="{FF2B5EF4-FFF2-40B4-BE49-F238E27FC236}">
                <a16:creationId xmlns:a16="http://schemas.microsoft.com/office/drawing/2014/main" id="{8EEA779E-F359-013E-5CCD-43D912465DE1}"/>
              </a:ext>
            </a:extLst>
          </p:cNvPr>
          <p:cNvSpPr>
            <a:spLocks noGrp="1"/>
          </p:cNvSpPr>
          <p:nvPr>
            <p:ph type="sldNum" sz="quarter" idx="12"/>
          </p:nvPr>
        </p:nvSpPr>
        <p:spPr/>
        <p:txBody>
          <a:bodyPr/>
          <a:lstStyle/>
          <a:p>
            <a:fld id="{5457A026-CD74-A64B-872B-B0D8D2A810A8}" type="slidenum">
              <a:rPr kumimoji="1" lang="zh-TW" altLang="en-US" smtClean="0"/>
              <a:t>1</a:t>
            </a:fld>
            <a:endParaRPr kumimoji="1" lang="zh-TW" altLang="en-US"/>
          </a:p>
        </p:txBody>
      </p:sp>
    </p:spTree>
    <p:extLst>
      <p:ext uri="{BB962C8B-B14F-4D97-AF65-F5344CB8AC3E}">
        <p14:creationId xmlns:p14="http://schemas.microsoft.com/office/powerpoint/2010/main" val="4140877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D7634-CA17-B19C-F752-2C4490C5DF8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45CF28F-A9B7-102E-941B-1017B93E0A41}"/>
              </a:ext>
            </a:extLst>
          </p:cNvPr>
          <p:cNvSpPr>
            <a:spLocks noGrp="1"/>
          </p:cNvSpPr>
          <p:nvPr>
            <p:ph type="title"/>
          </p:nvPr>
        </p:nvSpPr>
        <p:spPr>
          <a:xfrm>
            <a:off x="628650" y="433416"/>
            <a:ext cx="7886700" cy="681037"/>
          </a:xfrm>
        </p:spPr>
        <p:txBody>
          <a:bodyPr>
            <a:normAutofit/>
          </a:bodyPr>
          <a:lstStyle/>
          <a:p>
            <a:r>
              <a:rPr kumimoji="1" lang="en-US" altLang="zh-TW" sz="3600"/>
              <a:t>Summary</a:t>
            </a:r>
            <a:endParaRPr kumimoji="1" lang="zh-TW" altLang="en-US" sz="3600"/>
          </a:p>
        </p:txBody>
      </p:sp>
      <p:sp>
        <p:nvSpPr>
          <p:cNvPr id="3" name="內容版面配置區 2">
            <a:extLst>
              <a:ext uri="{FF2B5EF4-FFF2-40B4-BE49-F238E27FC236}">
                <a16:creationId xmlns:a16="http://schemas.microsoft.com/office/drawing/2014/main" id="{AA2C4B51-0AA3-5DEA-187B-E295DA08B68E}"/>
              </a:ext>
            </a:extLst>
          </p:cNvPr>
          <p:cNvSpPr>
            <a:spLocks noGrp="1"/>
          </p:cNvSpPr>
          <p:nvPr>
            <p:ph idx="1"/>
          </p:nvPr>
        </p:nvSpPr>
        <p:spPr>
          <a:xfrm>
            <a:off x="628650" y="1121730"/>
            <a:ext cx="7886700" cy="4854233"/>
          </a:xfrm>
        </p:spPr>
        <p:txBody>
          <a:bodyPr>
            <a:noAutofit/>
          </a:bodyPr>
          <a:lstStyle/>
          <a:p>
            <a:pPr>
              <a:lnSpc>
                <a:spcPct val="150000"/>
              </a:lnSpc>
            </a:pPr>
            <a:r>
              <a:rPr kumimoji="1" lang="en-US" altLang="zh-TW" sz="2400" dirty="0"/>
              <a:t>Introduction</a:t>
            </a:r>
          </a:p>
          <a:p>
            <a:pPr lvl="1">
              <a:lnSpc>
                <a:spcPct val="150000"/>
              </a:lnSpc>
            </a:pPr>
            <a:r>
              <a:rPr kumimoji="1" lang="en-US" altLang="zh-TW" dirty="0"/>
              <a:t>Programmed Cell Death</a:t>
            </a:r>
          </a:p>
          <a:p>
            <a:pPr lvl="1">
              <a:lnSpc>
                <a:spcPct val="150000"/>
              </a:lnSpc>
            </a:pPr>
            <a:r>
              <a:rPr kumimoji="1" lang="en-US" altLang="zh-TW" dirty="0"/>
              <a:t>Apoptosis</a:t>
            </a:r>
          </a:p>
          <a:p>
            <a:pPr lvl="1">
              <a:lnSpc>
                <a:spcPct val="150000"/>
              </a:lnSpc>
            </a:pPr>
            <a:r>
              <a:rPr lang="en" altLang="zh-TW" dirty="0"/>
              <a:t>DDX3</a:t>
            </a:r>
            <a:endParaRPr kumimoji="1" lang="en-US" altLang="zh-TW" dirty="0"/>
          </a:p>
          <a:p>
            <a:pPr>
              <a:lnSpc>
                <a:spcPct val="150000"/>
              </a:lnSpc>
            </a:pPr>
            <a:r>
              <a:rPr lang="en" altLang="zh-TW" sz="2400" dirty="0">
                <a:solidFill>
                  <a:schemeClr val="bg1">
                    <a:lumMod val="65000"/>
                  </a:schemeClr>
                </a:solidFill>
              </a:rPr>
              <a:t>Related </a:t>
            </a:r>
            <a:r>
              <a:rPr kumimoji="1" lang="en-US" altLang="zh-TW" sz="2400" dirty="0">
                <a:solidFill>
                  <a:schemeClr val="bg1">
                    <a:lumMod val="65000"/>
                  </a:schemeClr>
                </a:solidFill>
              </a:rPr>
              <a:t>Research of DDX3 and Apoptosis</a:t>
            </a:r>
          </a:p>
          <a:p>
            <a:pPr>
              <a:lnSpc>
                <a:spcPct val="150000"/>
              </a:lnSpc>
            </a:pPr>
            <a:r>
              <a:rPr kumimoji="1" lang="en-US" altLang="zh-TW" sz="2400" dirty="0">
                <a:solidFill>
                  <a:schemeClr val="bg1">
                    <a:lumMod val="65000"/>
                  </a:schemeClr>
                </a:solidFill>
              </a:rPr>
              <a:t>Conclusion</a:t>
            </a:r>
            <a:endParaRPr kumimoji="1" lang="en-US" altLang="zh-TW" dirty="0">
              <a:solidFill>
                <a:schemeClr val="bg1">
                  <a:lumMod val="65000"/>
                </a:schemeClr>
              </a:solidFill>
            </a:endParaRPr>
          </a:p>
          <a:p>
            <a:pPr lvl="1"/>
            <a:endParaRPr kumimoji="1" lang="en-US" altLang="zh-TW" dirty="0"/>
          </a:p>
          <a:p>
            <a:pPr marL="457200" lvl="1" indent="0">
              <a:buNone/>
            </a:pPr>
            <a:endParaRPr kumimoji="1" lang="en-US" altLang="zh-TW" dirty="0"/>
          </a:p>
          <a:p>
            <a:endParaRPr kumimoji="1" lang="en-US" altLang="zh-TW" sz="2400" dirty="0"/>
          </a:p>
        </p:txBody>
      </p:sp>
      <p:sp>
        <p:nvSpPr>
          <p:cNvPr id="4" name="投影片編號版面配置區 3">
            <a:extLst>
              <a:ext uri="{FF2B5EF4-FFF2-40B4-BE49-F238E27FC236}">
                <a16:creationId xmlns:a16="http://schemas.microsoft.com/office/drawing/2014/main" id="{DDD4A3E2-337D-750C-5530-791C31BBA4A0}"/>
              </a:ext>
            </a:extLst>
          </p:cNvPr>
          <p:cNvSpPr>
            <a:spLocks noGrp="1"/>
          </p:cNvSpPr>
          <p:nvPr>
            <p:ph type="sldNum" sz="quarter" idx="12"/>
          </p:nvPr>
        </p:nvSpPr>
        <p:spPr/>
        <p:txBody>
          <a:bodyPr/>
          <a:lstStyle/>
          <a:p>
            <a:fld id="{5457A026-CD74-A64B-872B-B0D8D2A810A8}" type="slidenum">
              <a:rPr kumimoji="1" lang="zh-TW" altLang="en-US" smtClean="0"/>
              <a:t>2</a:t>
            </a:fld>
            <a:endParaRPr kumimoji="1" lang="zh-TW" altLang="en-US" dirty="0"/>
          </a:p>
        </p:txBody>
      </p:sp>
    </p:spTree>
    <p:extLst>
      <p:ext uri="{BB962C8B-B14F-4D97-AF65-F5344CB8AC3E}">
        <p14:creationId xmlns:p14="http://schemas.microsoft.com/office/powerpoint/2010/main" val="1154388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8CDD8-0ADF-AA6D-4358-430A33CE791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11D6713-9744-8B70-7B75-EE114DD8C9C6}"/>
              </a:ext>
            </a:extLst>
          </p:cNvPr>
          <p:cNvSpPr>
            <a:spLocks noGrp="1"/>
          </p:cNvSpPr>
          <p:nvPr>
            <p:ph type="title"/>
          </p:nvPr>
        </p:nvSpPr>
        <p:spPr>
          <a:xfrm>
            <a:off x="628650" y="433416"/>
            <a:ext cx="7886700" cy="681037"/>
          </a:xfrm>
        </p:spPr>
        <p:txBody>
          <a:bodyPr>
            <a:normAutofit/>
          </a:bodyPr>
          <a:lstStyle/>
          <a:p>
            <a:r>
              <a:rPr kumimoji="1" lang="en-US" altLang="zh-TW" sz="3600"/>
              <a:t>Cell Death</a:t>
            </a:r>
            <a:endParaRPr kumimoji="1" lang="zh-TW" altLang="en-US" sz="3600"/>
          </a:p>
        </p:txBody>
      </p:sp>
      <p:sp>
        <p:nvSpPr>
          <p:cNvPr id="4" name="投影片編號版面配置區 3">
            <a:extLst>
              <a:ext uri="{FF2B5EF4-FFF2-40B4-BE49-F238E27FC236}">
                <a16:creationId xmlns:a16="http://schemas.microsoft.com/office/drawing/2014/main" id="{32D10F81-F13E-0651-6E82-4C28A5B7F522}"/>
              </a:ext>
            </a:extLst>
          </p:cNvPr>
          <p:cNvSpPr>
            <a:spLocks noGrp="1"/>
          </p:cNvSpPr>
          <p:nvPr>
            <p:ph type="sldNum" sz="quarter" idx="12"/>
          </p:nvPr>
        </p:nvSpPr>
        <p:spPr/>
        <p:txBody>
          <a:bodyPr/>
          <a:lstStyle/>
          <a:p>
            <a:fld id="{5457A026-CD74-A64B-872B-B0D8D2A810A8}" type="slidenum">
              <a:rPr kumimoji="1" lang="zh-TW" altLang="en-US" smtClean="0"/>
              <a:t>3</a:t>
            </a:fld>
            <a:endParaRPr kumimoji="1" lang="zh-TW" altLang="en-US"/>
          </a:p>
        </p:txBody>
      </p:sp>
      <p:sp>
        <p:nvSpPr>
          <p:cNvPr id="8" name="內容版面配置區 7">
            <a:extLst>
              <a:ext uri="{FF2B5EF4-FFF2-40B4-BE49-F238E27FC236}">
                <a16:creationId xmlns:a16="http://schemas.microsoft.com/office/drawing/2014/main" id="{D4F2DC5D-5B53-FCC8-94A0-D3C085193204}"/>
              </a:ext>
            </a:extLst>
          </p:cNvPr>
          <p:cNvSpPr>
            <a:spLocks noGrp="1"/>
          </p:cNvSpPr>
          <p:nvPr>
            <p:ph idx="1"/>
          </p:nvPr>
        </p:nvSpPr>
        <p:spPr>
          <a:xfrm>
            <a:off x="628650" y="1322730"/>
            <a:ext cx="7886700" cy="4351338"/>
          </a:xfrm>
        </p:spPr>
        <p:txBody>
          <a:bodyPr>
            <a:noAutofit/>
          </a:bodyPr>
          <a:lstStyle/>
          <a:p>
            <a:pPr>
              <a:lnSpc>
                <a:spcPct val="150000"/>
              </a:lnSpc>
            </a:pPr>
            <a:r>
              <a:rPr lang="en" altLang="zh-TW" sz="2400" dirty="0"/>
              <a:t>The process in which a cell loses its essential functions and irreversibly terminates its life activities.</a:t>
            </a:r>
            <a:endParaRPr lang="en" altLang="zh-TW" sz="2400" b="0" i="0" dirty="0">
              <a:solidFill>
                <a:srgbClr val="1B1B1B"/>
              </a:solidFill>
              <a:effectLst/>
            </a:endParaRPr>
          </a:p>
          <a:p>
            <a:pPr>
              <a:lnSpc>
                <a:spcPct val="150000"/>
              </a:lnSpc>
            </a:pPr>
            <a:r>
              <a:rPr lang="en" altLang="zh-TW" sz="2400" b="0" i="0" dirty="0">
                <a:solidFill>
                  <a:srgbClr val="1B1B1B"/>
                </a:solidFill>
                <a:effectLst/>
              </a:rPr>
              <a:t>Classification</a:t>
            </a:r>
          </a:p>
          <a:p>
            <a:pPr lvl="1">
              <a:lnSpc>
                <a:spcPct val="150000"/>
              </a:lnSpc>
            </a:pPr>
            <a:r>
              <a:rPr lang="en" altLang="zh-TW" dirty="0">
                <a:solidFill>
                  <a:srgbClr val="1B1B1B"/>
                </a:solidFill>
              </a:rPr>
              <a:t>R</a:t>
            </a:r>
            <a:r>
              <a:rPr lang="en" altLang="zh-TW" b="0" i="0" dirty="0">
                <a:solidFill>
                  <a:srgbClr val="1B1B1B"/>
                </a:solidFill>
                <a:effectLst/>
              </a:rPr>
              <a:t>egulated cell death (RCD) </a:t>
            </a:r>
          </a:p>
          <a:p>
            <a:pPr lvl="2">
              <a:lnSpc>
                <a:spcPct val="150000"/>
              </a:lnSpc>
            </a:pPr>
            <a:r>
              <a:rPr lang="en" altLang="zh-TW" sz="2400" b="1" dirty="0">
                <a:solidFill>
                  <a:srgbClr val="1B1B1B"/>
                </a:solidFill>
              </a:rPr>
              <a:t>Programmed cell death (PCD)</a:t>
            </a:r>
          </a:p>
          <a:p>
            <a:pPr lvl="1">
              <a:lnSpc>
                <a:spcPct val="150000"/>
              </a:lnSpc>
            </a:pPr>
            <a:r>
              <a:rPr lang="en" altLang="zh-TW" dirty="0">
                <a:solidFill>
                  <a:srgbClr val="1B1B1B"/>
                </a:solidFill>
              </a:rPr>
              <a:t>Accidental cell death (ACD)</a:t>
            </a:r>
            <a:endParaRPr lang="en" altLang="zh-TW" sz="2400" dirty="0">
              <a:solidFill>
                <a:srgbClr val="1B1B1B"/>
              </a:solidFill>
            </a:endParaRPr>
          </a:p>
        </p:txBody>
      </p:sp>
      <p:sp>
        <p:nvSpPr>
          <p:cNvPr id="3" name="文字方塊 2">
            <a:extLst>
              <a:ext uri="{FF2B5EF4-FFF2-40B4-BE49-F238E27FC236}">
                <a16:creationId xmlns:a16="http://schemas.microsoft.com/office/drawing/2014/main" id="{28AE6413-8BC1-93BA-E756-50F4121EA246}"/>
              </a:ext>
            </a:extLst>
          </p:cNvPr>
          <p:cNvSpPr txBox="1"/>
          <p:nvPr/>
        </p:nvSpPr>
        <p:spPr>
          <a:xfrm>
            <a:off x="169785" y="6326404"/>
            <a:ext cx="8240307" cy="523220"/>
          </a:xfrm>
          <a:prstGeom prst="rect">
            <a:avLst/>
          </a:prstGeom>
          <a:noFill/>
        </p:spPr>
        <p:txBody>
          <a:bodyPr wrap="square" rtlCol="0">
            <a:spAutoFit/>
          </a:bodyPr>
          <a:lstStyle/>
          <a:p>
            <a:r>
              <a:rPr kumimoji="1" lang="en" altLang="zh-TW" sz="1400" dirty="0" err="1"/>
              <a:t>Galluzzi</a:t>
            </a:r>
            <a:r>
              <a:rPr kumimoji="1" lang="en" altLang="zh-TW" sz="1400" dirty="0"/>
              <a:t>, L., Vitale, I., Aaronson, S. et al. Molecular mechanisms of cell death: recommendations of the Nomenclature Committee on Cell Death 2018. Cell Death Differ 25, 486–541 (2018).</a:t>
            </a:r>
            <a:endParaRPr kumimoji="1" lang="zh-TW" altLang="en-US" sz="1400" dirty="0"/>
          </a:p>
        </p:txBody>
      </p:sp>
    </p:spTree>
    <p:extLst>
      <p:ext uri="{BB962C8B-B14F-4D97-AF65-F5344CB8AC3E}">
        <p14:creationId xmlns:p14="http://schemas.microsoft.com/office/powerpoint/2010/main" val="212633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D74C5-7B5B-B028-E5F5-CA7EC9C0BE1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4BDCA07-6297-3DDB-201E-FF7BF981B2F0}"/>
              </a:ext>
            </a:extLst>
          </p:cNvPr>
          <p:cNvSpPr>
            <a:spLocks noGrp="1"/>
          </p:cNvSpPr>
          <p:nvPr>
            <p:ph type="title"/>
          </p:nvPr>
        </p:nvSpPr>
        <p:spPr>
          <a:xfrm>
            <a:off x="628650" y="433416"/>
            <a:ext cx="7886700" cy="681037"/>
          </a:xfrm>
        </p:spPr>
        <p:txBody>
          <a:bodyPr>
            <a:normAutofit/>
          </a:bodyPr>
          <a:lstStyle/>
          <a:p>
            <a:r>
              <a:rPr kumimoji="1" lang="en-US" altLang="zh-TW" sz="3600" dirty="0"/>
              <a:t>Cell Death</a:t>
            </a:r>
            <a:r>
              <a:rPr kumimoji="1" lang="zh-TW" altLang="en-US" sz="3600" dirty="0"/>
              <a:t> </a:t>
            </a:r>
            <a:r>
              <a:rPr lang="en" altLang="zh-TW" sz="3600" dirty="0">
                <a:solidFill>
                  <a:srgbClr val="1B1B1B"/>
                </a:solidFill>
              </a:rPr>
              <a:t>M</a:t>
            </a:r>
            <a:r>
              <a:rPr lang="en" altLang="zh-TW" sz="3600" b="0" i="0" dirty="0">
                <a:solidFill>
                  <a:srgbClr val="1B1B1B"/>
                </a:solidFill>
                <a:effectLst/>
              </a:rPr>
              <a:t>orphotypes</a:t>
            </a:r>
            <a:endParaRPr kumimoji="1" lang="zh-TW" altLang="en-US" sz="3600" dirty="0"/>
          </a:p>
        </p:txBody>
      </p:sp>
      <p:sp>
        <p:nvSpPr>
          <p:cNvPr id="4" name="投影片編號版面配置區 3">
            <a:extLst>
              <a:ext uri="{FF2B5EF4-FFF2-40B4-BE49-F238E27FC236}">
                <a16:creationId xmlns:a16="http://schemas.microsoft.com/office/drawing/2014/main" id="{A8B2A1EC-C5B1-7CA9-CDC1-9BF94A4382D0}"/>
              </a:ext>
            </a:extLst>
          </p:cNvPr>
          <p:cNvSpPr>
            <a:spLocks noGrp="1"/>
          </p:cNvSpPr>
          <p:nvPr>
            <p:ph type="sldNum" sz="quarter" idx="12"/>
          </p:nvPr>
        </p:nvSpPr>
        <p:spPr/>
        <p:txBody>
          <a:bodyPr/>
          <a:lstStyle/>
          <a:p>
            <a:fld id="{5457A026-CD74-A64B-872B-B0D8D2A810A8}" type="slidenum">
              <a:rPr kumimoji="1" lang="zh-TW" altLang="en-US" smtClean="0"/>
              <a:t>4</a:t>
            </a:fld>
            <a:endParaRPr kumimoji="1" lang="zh-TW" altLang="en-US"/>
          </a:p>
        </p:txBody>
      </p:sp>
      <p:pic>
        <p:nvPicPr>
          <p:cNvPr id="6" name="圖片 5" descr="一張含有 文字, 粉紅色, 紫色 的圖片&#10;&#10;自動產生的描述">
            <a:extLst>
              <a:ext uri="{FF2B5EF4-FFF2-40B4-BE49-F238E27FC236}">
                <a16:creationId xmlns:a16="http://schemas.microsoft.com/office/drawing/2014/main" id="{832D7371-F67A-FCBD-2DE4-0F1BDF3A9BF7}"/>
              </a:ext>
            </a:extLst>
          </p:cNvPr>
          <p:cNvPicPr>
            <a:picLocks noChangeAspect="1"/>
          </p:cNvPicPr>
          <p:nvPr/>
        </p:nvPicPr>
        <p:blipFill>
          <a:blip r:embed="rId3"/>
          <a:stretch>
            <a:fillRect/>
          </a:stretch>
        </p:blipFill>
        <p:spPr>
          <a:xfrm>
            <a:off x="802891" y="1122947"/>
            <a:ext cx="6974094" cy="5321951"/>
          </a:xfrm>
          <a:prstGeom prst="rect">
            <a:avLst/>
          </a:prstGeom>
        </p:spPr>
      </p:pic>
      <p:sp>
        <p:nvSpPr>
          <p:cNvPr id="3" name="文字方塊 2">
            <a:extLst>
              <a:ext uri="{FF2B5EF4-FFF2-40B4-BE49-F238E27FC236}">
                <a16:creationId xmlns:a16="http://schemas.microsoft.com/office/drawing/2014/main" id="{CD550D9E-DD0B-DF9B-7889-920EB0A0F7BC}"/>
              </a:ext>
            </a:extLst>
          </p:cNvPr>
          <p:cNvSpPr txBox="1"/>
          <p:nvPr/>
        </p:nvSpPr>
        <p:spPr>
          <a:xfrm>
            <a:off x="169785" y="6326404"/>
            <a:ext cx="8240307" cy="523220"/>
          </a:xfrm>
          <a:prstGeom prst="rect">
            <a:avLst/>
          </a:prstGeom>
          <a:noFill/>
        </p:spPr>
        <p:txBody>
          <a:bodyPr wrap="square" rtlCol="0">
            <a:spAutoFit/>
          </a:bodyPr>
          <a:lstStyle/>
          <a:p>
            <a:r>
              <a:rPr kumimoji="1" lang="en" altLang="zh-TW" sz="1400" dirty="0"/>
              <a:t>Prata, R. B. d. S., &amp; Pinheiro, R. O. Cell Death Mechanisms in Mycobacterium </a:t>
            </a:r>
            <a:r>
              <a:rPr kumimoji="1" lang="en" altLang="zh-TW" sz="1400" dirty="0" err="1"/>
              <a:t>abscessus</a:t>
            </a:r>
            <a:r>
              <a:rPr kumimoji="1" lang="en" altLang="zh-TW" sz="1400" dirty="0"/>
              <a:t> Infection: A Double-Edged Sword. Pathogens, 14(4), 391. (2025). </a:t>
            </a:r>
            <a:endParaRPr kumimoji="1" lang="zh-TW" altLang="en-US" sz="1400" dirty="0"/>
          </a:p>
        </p:txBody>
      </p:sp>
    </p:spTree>
    <p:extLst>
      <p:ext uri="{BB962C8B-B14F-4D97-AF65-F5344CB8AC3E}">
        <p14:creationId xmlns:p14="http://schemas.microsoft.com/office/powerpoint/2010/main" val="2201487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65BBB-D205-1F68-32C5-CB0B436C243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A4017C7-EEA5-D137-9DEF-E650EBDDBCDE}"/>
              </a:ext>
            </a:extLst>
          </p:cNvPr>
          <p:cNvSpPr>
            <a:spLocks noGrp="1"/>
          </p:cNvSpPr>
          <p:nvPr>
            <p:ph type="title"/>
          </p:nvPr>
        </p:nvSpPr>
        <p:spPr>
          <a:xfrm>
            <a:off x="628650" y="433416"/>
            <a:ext cx="7886700" cy="681037"/>
          </a:xfrm>
        </p:spPr>
        <p:txBody>
          <a:bodyPr>
            <a:normAutofit/>
          </a:bodyPr>
          <a:lstStyle/>
          <a:p>
            <a:r>
              <a:rPr kumimoji="1" lang="en-US" altLang="zh-TW" sz="3200" dirty="0"/>
              <a:t>Apoptosis</a:t>
            </a:r>
            <a:endParaRPr kumimoji="1" lang="zh-TW" altLang="en-US" sz="3200" dirty="0"/>
          </a:p>
        </p:txBody>
      </p:sp>
      <p:sp>
        <p:nvSpPr>
          <p:cNvPr id="3" name="內容版面配置區 2">
            <a:extLst>
              <a:ext uri="{FF2B5EF4-FFF2-40B4-BE49-F238E27FC236}">
                <a16:creationId xmlns:a16="http://schemas.microsoft.com/office/drawing/2014/main" id="{E5BCAE81-B2D4-541B-1521-9395353B454C}"/>
              </a:ext>
            </a:extLst>
          </p:cNvPr>
          <p:cNvSpPr txBox="1">
            <a:spLocks/>
          </p:cNvSpPr>
          <p:nvPr/>
        </p:nvSpPr>
        <p:spPr>
          <a:xfrm>
            <a:off x="564263" y="1103848"/>
            <a:ext cx="8015473" cy="48542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endParaRPr kumimoji="1" lang="en-US" altLang="zh-TW" sz="2000" dirty="0"/>
          </a:p>
          <a:p>
            <a:endParaRPr kumimoji="1" lang="en-US" altLang="zh-TW" sz="2000" dirty="0"/>
          </a:p>
        </p:txBody>
      </p:sp>
      <p:sp>
        <p:nvSpPr>
          <p:cNvPr id="10" name="矩形 9">
            <a:extLst>
              <a:ext uri="{FF2B5EF4-FFF2-40B4-BE49-F238E27FC236}">
                <a16:creationId xmlns:a16="http://schemas.microsoft.com/office/drawing/2014/main" id="{0E7BFAF2-8A80-4CD3-C57D-52DE74D75C5E}"/>
              </a:ext>
            </a:extLst>
          </p:cNvPr>
          <p:cNvSpPr/>
          <p:nvPr/>
        </p:nvSpPr>
        <p:spPr>
          <a:xfrm>
            <a:off x="410010" y="3889432"/>
            <a:ext cx="511122" cy="10297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矩形 11">
            <a:extLst>
              <a:ext uri="{FF2B5EF4-FFF2-40B4-BE49-F238E27FC236}">
                <a16:creationId xmlns:a16="http://schemas.microsoft.com/office/drawing/2014/main" id="{AC6DC539-3F02-33C0-B605-37519E1C7FDB}"/>
              </a:ext>
            </a:extLst>
          </p:cNvPr>
          <p:cNvSpPr/>
          <p:nvPr/>
        </p:nvSpPr>
        <p:spPr>
          <a:xfrm>
            <a:off x="3495462" y="1556760"/>
            <a:ext cx="1778629" cy="13964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矩形 13">
            <a:extLst>
              <a:ext uri="{FF2B5EF4-FFF2-40B4-BE49-F238E27FC236}">
                <a16:creationId xmlns:a16="http://schemas.microsoft.com/office/drawing/2014/main" id="{808C3FC3-2DC8-0470-D71B-3123933AA5F2}"/>
              </a:ext>
            </a:extLst>
          </p:cNvPr>
          <p:cNvSpPr/>
          <p:nvPr/>
        </p:nvSpPr>
        <p:spPr>
          <a:xfrm>
            <a:off x="5233792" y="2444940"/>
            <a:ext cx="438834" cy="2536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矩形 14">
            <a:extLst>
              <a:ext uri="{FF2B5EF4-FFF2-40B4-BE49-F238E27FC236}">
                <a16:creationId xmlns:a16="http://schemas.microsoft.com/office/drawing/2014/main" id="{3C4A93A7-B8BD-31DA-162E-4E5A26ED9A8A}"/>
              </a:ext>
            </a:extLst>
          </p:cNvPr>
          <p:cNvSpPr/>
          <p:nvPr/>
        </p:nvSpPr>
        <p:spPr>
          <a:xfrm>
            <a:off x="6350627" y="1994239"/>
            <a:ext cx="2199883" cy="4093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矩形 15">
            <a:extLst>
              <a:ext uri="{FF2B5EF4-FFF2-40B4-BE49-F238E27FC236}">
                <a16:creationId xmlns:a16="http://schemas.microsoft.com/office/drawing/2014/main" id="{CA4AC45E-B20C-C00E-0A5C-D9909D74AB64}"/>
              </a:ext>
            </a:extLst>
          </p:cNvPr>
          <p:cNvSpPr/>
          <p:nvPr/>
        </p:nvSpPr>
        <p:spPr>
          <a:xfrm>
            <a:off x="7708002" y="1579304"/>
            <a:ext cx="1038522" cy="4669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矩形 16">
            <a:extLst>
              <a:ext uri="{FF2B5EF4-FFF2-40B4-BE49-F238E27FC236}">
                <a16:creationId xmlns:a16="http://schemas.microsoft.com/office/drawing/2014/main" id="{F62D9BB8-0842-6A2D-D3BC-4A80564DCE03}"/>
              </a:ext>
            </a:extLst>
          </p:cNvPr>
          <p:cNvSpPr/>
          <p:nvPr/>
        </p:nvSpPr>
        <p:spPr>
          <a:xfrm>
            <a:off x="7699212" y="3335388"/>
            <a:ext cx="1038522" cy="766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FA45FC94-FEED-0446-D1F8-4A04F36AAB5C}"/>
              </a:ext>
            </a:extLst>
          </p:cNvPr>
          <p:cNvSpPr/>
          <p:nvPr/>
        </p:nvSpPr>
        <p:spPr>
          <a:xfrm>
            <a:off x="6303822" y="883863"/>
            <a:ext cx="2199883" cy="5324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矩形 18">
            <a:extLst>
              <a:ext uri="{FF2B5EF4-FFF2-40B4-BE49-F238E27FC236}">
                <a16:creationId xmlns:a16="http://schemas.microsoft.com/office/drawing/2014/main" id="{BD86F055-9B36-80D3-CF39-B06BD63E466F}"/>
              </a:ext>
            </a:extLst>
          </p:cNvPr>
          <p:cNvSpPr/>
          <p:nvPr/>
        </p:nvSpPr>
        <p:spPr>
          <a:xfrm>
            <a:off x="6274597" y="2258850"/>
            <a:ext cx="76031" cy="1243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DC22515C-C88D-18B7-F047-BD4C665C7D6E}"/>
              </a:ext>
            </a:extLst>
          </p:cNvPr>
          <p:cNvSpPr/>
          <p:nvPr/>
        </p:nvSpPr>
        <p:spPr>
          <a:xfrm>
            <a:off x="1670028" y="3889432"/>
            <a:ext cx="608478" cy="382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矩形 20">
            <a:extLst>
              <a:ext uri="{FF2B5EF4-FFF2-40B4-BE49-F238E27FC236}">
                <a16:creationId xmlns:a16="http://schemas.microsoft.com/office/drawing/2014/main" id="{7338516D-BE33-F9EA-3D90-4B6700B4EB24}"/>
              </a:ext>
            </a:extLst>
          </p:cNvPr>
          <p:cNvSpPr/>
          <p:nvPr/>
        </p:nvSpPr>
        <p:spPr>
          <a:xfrm>
            <a:off x="4053649" y="3335388"/>
            <a:ext cx="986411" cy="3744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5F81A71B-4720-3AC3-E224-C8028A926040}"/>
              </a:ext>
            </a:extLst>
          </p:cNvPr>
          <p:cNvSpPr/>
          <p:nvPr/>
        </p:nvSpPr>
        <p:spPr>
          <a:xfrm>
            <a:off x="4993254" y="4973889"/>
            <a:ext cx="1090248" cy="7325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投影片編號版面配置區 3">
            <a:extLst>
              <a:ext uri="{FF2B5EF4-FFF2-40B4-BE49-F238E27FC236}">
                <a16:creationId xmlns:a16="http://schemas.microsoft.com/office/drawing/2014/main" id="{409BD3A0-1DE9-A2ED-D8B6-B7F490ED063E}"/>
              </a:ext>
            </a:extLst>
          </p:cNvPr>
          <p:cNvSpPr>
            <a:spLocks noGrp="1"/>
          </p:cNvSpPr>
          <p:nvPr>
            <p:ph type="sldNum" sz="quarter" idx="12"/>
          </p:nvPr>
        </p:nvSpPr>
        <p:spPr>
          <a:xfrm>
            <a:off x="6457950" y="6340295"/>
            <a:ext cx="2057400" cy="365125"/>
          </a:xfrm>
        </p:spPr>
        <p:txBody>
          <a:bodyPr/>
          <a:lstStyle/>
          <a:p>
            <a:fld id="{5457A026-CD74-A64B-872B-B0D8D2A810A8}" type="slidenum">
              <a:rPr kumimoji="1" lang="zh-TW" altLang="en-US" smtClean="0"/>
              <a:t>5</a:t>
            </a:fld>
            <a:endParaRPr kumimoji="1" lang="zh-TW" altLang="en-US"/>
          </a:p>
        </p:txBody>
      </p:sp>
      <p:sp>
        <p:nvSpPr>
          <p:cNvPr id="23" name="矩形 22">
            <a:extLst>
              <a:ext uri="{FF2B5EF4-FFF2-40B4-BE49-F238E27FC236}">
                <a16:creationId xmlns:a16="http://schemas.microsoft.com/office/drawing/2014/main" id="{EE66EAE7-C236-30E3-11A2-B209D75BA835}"/>
              </a:ext>
            </a:extLst>
          </p:cNvPr>
          <p:cNvSpPr/>
          <p:nvPr/>
        </p:nvSpPr>
        <p:spPr>
          <a:xfrm>
            <a:off x="510246" y="2444940"/>
            <a:ext cx="511122" cy="4915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 name="矩形 23">
            <a:extLst>
              <a:ext uri="{FF2B5EF4-FFF2-40B4-BE49-F238E27FC236}">
                <a16:creationId xmlns:a16="http://schemas.microsoft.com/office/drawing/2014/main" id="{F5CE82E9-AA38-86D4-1B43-AD6915F44A86}"/>
              </a:ext>
            </a:extLst>
          </p:cNvPr>
          <p:cNvSpPr/>
          <p:nvPr/>
        </p:nvSpPr>
        <p:spPr>
          <a:xfrm>
            <a:off x="5198890" y="2685776"/>
            <a:ext cx="129217" cy="3142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矩形 24">
            <a:extLst>
              <a:ext uri="{FF2B5EF4-FFF2-40B4-BE49-F238E27FC236}">
                <a16:creationId xmlns:a16="http://schemas.microsoft.com/office/drawing/2014/main" id="{C2F1CF65-DB78-C9B9-F744-9BE507EA5691}"/>
              </a:ext>
            </a:extLst>
          </p:cNvPr>
          <p:cNvSpPr/>
          <p:nvPr/>
        </p:nvSpPr>
        <p:spPr>
          <a:xfrm>
            <a:off x="6257016" y="2181294"/>
            <a:ext cx="76031" cy="1243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8" name="內容版面配置區 7" descr="一張含有 文字, 圖表, 螢幕擷取畫面, 地圖 的圖片&#10;&#10;自動產生的描述">
            <a:extLst>
              <a:ext uri="{FF2B5EF4-FFF2-40B4-BE49-F238E27FC236}">
                <a16:creationId xmlns:a16="http://schemas.microsoft.com/office/drawing/2014/main" id="{4EF5F3F1-B109-2646-930A-6A2812B06ED7}"/>
              </a:ext>
            </a:extLst>
          </p:cNvPr>
          <p:cNvPicPr>
            <a:picLocks noGrp="1" noChangeAspect="1"/>
          </p:cNvPicPr>
          <p:nvPr>
            <p:ph idx="1"/>
          </p:nvPr>
        </p:nvPicPr>
        <p:blipFill>
          <a:blip r:embed="rId3"/>
          <a:srcRect t="3065"/>
          <a:stretch/>
        </p:blipFill>
        <p:spPr>
          <a:xfrm>
            <a:off x="1314451" y="948282"/>
            <a:ext cx="6515097" cy="5457621"/>
          </a:xfrm>
        </p:spPr>
      </p:pic>
      <p:sp>
        <p:nvSpPr>
          <p:cNvPr id="5" name="文字方塊 4">
            <a:extLst>
              <a:ext uri="{FF2B5EF4-FFF2-40B4-BE49-F238E27FC236}">
                <a16:creationId xmlns:a16="http://schemas.microsoft.com/office/drawing/2014/main" id="{27379A6C-C348-400F-D8B3-DB75FBA260A6}"/>
              </a:ext>
            </a:extLst>
          </p:cNvPr>
          <p:cNvSpPr txBox="1"/>
          <p:nvPr/>
        </p:nvSpPr>
        <p:spPr>
          <a:xfrm>
            <a:off x="169785" y="6326404"/>
            <a:ext cx="8240307" cy="523220"/>
          </a:xfrm>
          <a:prstGeom prst="rect">
            <a:avLst/>
          </a:prstGeom>
          <a:noFill/>
        </p:spPr>
        <p:txBody>
          <a:bodyPr wrap="square" rtlCol="0">
            <a:spAutoFit/>
          </a:bodyPr>
          <a:lstStyle/>
          <a:p>
            <a:r>
              <a:rPr kumimoji="1" lang="en" altLang="zh-TW" sz="1400" dirty="0"/>
              <a:t>Wani, A. K., Akhtar, N</a:t>
            </a:r>
            <a:r>
              <a:rPr lang="en" altLang="zh-TW" sz="1400" b="0" i="0" dirty="0">
                <a:solidFill>
                  <a:srgbClr val="212121"/>
                </a:solidFill>
                <a:effectLst/>
              </a:rPr>
              <a:t> . </a:t>
            </a:r>
            <a:r>
              <a:rPr lang="en" altLang="zh-TW" sz="1400" i="1" dirty="0">
                <a:solidFill>
                  <a:srgbClr val="333333"/>
                </a:solidFill>
                <a:effectLst/>
              </a:rPr>
              <a:t>et al.</a:t>
            </a:r>
            <a:r>
              <a:rPr kumimoji="1" lang="en" altLang="zh-TW" sz="1400" dirty="0"/>
              <a:t> Targeting Apoptotic Pathway of Cancer Cells with Phytochemicals and Plant-Based Nanomaterials. Biomolecules, 13(2), 194. (2023). </a:t>
            </a:r>
            <a:endParaRPr kumimoji="1" lang="zh-TW" altLang="en-US" sz="1400" dirty="0"/>
          </a:p>
        </p:txBody>
      </p:sp>
      <p:sp>
        <p:nvSpPr>
          <p:cNvPr id="9" name="文字方塊 8">
            <a:extLst>
              <a:ext uri="{FF2B5EF4-FFF2-40B4-BE49-F238E27FC236}">
                <a16:creationId xmlns:a16="http://schemas.microsoft.com/office/drawing/2014/main" id="{2B56F7FE-1B61-4A3F-9D36-8983709B81BF}"/>
              </a:ext>
            </a:extLst>
          </p:cNvPr>
          <p:cNvSpPr txBox="1"/>
          <p:nvPr/>
        </p:nvSpPr>
        <p:spPr>
          <a:xfrm>
            <a:off x="3756006" y="905537"/>
            <a:ext cx="5387994" cy="584775"/>
          </a:xfrm>
          <a:prstGeom prst="rect">
            <a:avLst/>
          </a:prstGeom>
          <a:noFill/>
        </p:spPr>
        <p:txBody>
          <a:bodyPr wrap="square" rtlCol="0">
            <a:spAutoFit/>
          </a:bodyPr>
          <a:lstStyle/>
          <a:p>
            <a:r>
              <a:rPr lang="en" altLang="zh-TW" sz="1600" dirty="0">
                <a:solidFill>
                  <a:srgbClr val="222222"/>
                </a:solidFill>
              </a:rPr>
              <a:t>DISC</a:t>
            </a:r>
            <a:r>
              <a:rPr lang="zh-TW" altLang="en-US" sz="1600" b="0" i="0" dirty="0">
                <a:solidFill>
                  <a:srgbClr val="222222"/>
                </a:solidFill>
                <a:effectLst/>
              </a:rPr>
              <a:t>：</a:t>
            </a:r>
            <a:r>
              <a:rPr lang="en" altLang="zh-TW" sz="1600" b="0" i="0" dirty="0">
                <a:solidFill>
                  <a:srgbClr val="222222"/>
                </a:solidFill>
                <a:effectLst/>
              </a:rPr>
              <a:t>Death-Inducing Signaling Complex</a:t>
            </a:r>
          </a:p>
          <a:p>
            <a:r>
              <a:rPr lang="en" altLang="zh-TW" sz="1600" b="0" i="0" dirty="0">
                <a:solidFill>
                  <a:srgbClr val="222222"/>
                </a:solidFill>
                <a:effectLst/>
              </a:rPr>
              <a:t>MOMP</a:t>
            </a:r>
            <a:r>
              <a:rPr lang="zh-TW" altLang="en-US" sz="1600" b="0" i="0" dirty="0">
                <a:solidFill>
                  <a:srgbClr val="222222"/>
                </a:solidFill>
                <a:effectLst/>
              </a:rPr>
              <a:t>：</a:t>
            </a:r>
            <a:r>
              <a:rPr lang="en" altLang="zh-TW" sz="1600" b="0" i="0" dirty="0">
                <a:solidFill>
                  <a:srgbClr val="222222"/>
                </a:solidFill>
                <a:effectLst/>
              </a:rPr>
              <a:t>mitochondrial outer membrane permeabilization</a:t>
            </a:r>
          </a:p>
        </p:txBody>
      </p:sp>
    </p:spTree>
    <p:extLst>
      <p:ext uri="{BB962C8B-B14F-4D97-AF65-F5344CB8AC3E}">
        <p14:creationId xmlns:p14="http://schemas.microsoft.com/office/powerpoint/2010/main" val="147719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4085C-B869-3743-B891-F87A60CD7B5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4858445-E97A-3A84-7AF6-38855A6DF6C1}"/>
              </a:ext>
            </a:extLst>
          </p:cNvPr>
          <p:cNvSpPr>
            <a:spLocks noGrp="1"/>
          </p:cNvSpPr>
          <p:nvPr>
            <p:ph type="title"/>
          </p:nvPr>
        </p:nvSpPr>
        <p:spPr>
          <a:xfrm>
            <a:off x="628650" y="433416"/>
            <a:ext cx="7886700" cy="681037"/>
          </a:xfrm>
        </p:spPr>
        <p:txBody>
          <a:bodyPr>
            <a:normAutofit/>
          </a:bodyPr>
          <a:lstStyle/>
          <a:p>
            <a:r>
              <a:rPr kumimoji="1" lang="en-US" altLang="zh-TW" sz="3200" dirty="0"/>
              <a:t>Apoptosis-related proteins</a:t>
            </a:r>
            <a:endParaRPr kumimoji="1" lang="zh-TW" altLang="en-US" sz="3200" dirty="0"/>
          </a:p>
        </p:txBody>
      </p:sp>
      <p:pic>
        <p:nvPicPr>
          <p:cNvPr id="9" name="內容版面配置區 8" descr="一張含有 文字, 螢幕擷取畫面, 圖表, 字型 的圖片&#10;&#10;自動產生的描述">
            <a:extLst>
              <a:ext uri="{FF2B5EF4-FFF2-40B4-BE49-F238E27FC236}">
                <a16:creationId xmlns:a16="http://schemas.microsoft.com/office/drawing/2014/main" id="{0C26D6C6-45ED-AE7C-A298-4F05DC6AC4B8}"/>
              </a:ext>
            </a:extLst>
          </p:cNvPr>
          <p:cNvPicPr>
            <a:picLocks noGrp="1" noChangeAspect="1"/>
          </p:cNvPicPr>
          <p:nvPr>
            <p:ph idx="1"/>
          </p:nvPr>
        </p:nvPicPr>
        <p:blipFill>
          <a:blip r:embed="rId3"/>
          <a:srcRect l="11395"/>
          <a:stretch/>
        </p:blipFill>
        <p:spPr>
          <a:xfrm>
            <a:off x="564263" y="932721"/>
            <a:ext cx="8233584" cy="5866311"/>
          </a:xfrm>
        </p:spPr>
      </p:pic>
      <p:sp>
        <p:nvSpPr>
          <p:cNvPr id="18" name="矩形 17">
            <a:extLst>
              <a:ext uri="{FF2B5EF4-FFF2-40B4-BE49-F238E27FC236}">
                <a16:creationId xmlns:a16="http://schemas.microsoft.com/office/drawing/2014/main" id="{F2AB1C76-C6E4-ECC7-0E16-8A27C8EF993E}"/>
              </a:ext>
            </a:extLst>
          </p:cNvPr>
          <p:cNvSpPr/>
          <p:nvPr/>
        </p:nvSpPr>
        <p:spPr>
          <a:xfrm>
            <a:off x="6303822" y="883863"/>
            <a:ext cx="2199883" cy="5324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投影片編號版面配置區 3">
            <a:extLst>
              <a:ext uri="{FF2B5EF4-FFF2-40B4-BE49-F238E27FC236}">
                <a16:creationId xmlns:a16="http://schemas.microsoft.com/office/drawing/2014/main" id="{3DECDFDF-176B-7222-4B07-E8192239AD7E}"/>
              </a:ext>
            </a:extLst>
          </p:cNvPr>
          <p:cNvSpPr>
            <a:spLocks noGrp="1"/>
          </p:cNvSpPr>
          <p:nvPr>
            <p:ph type="sldNum" sz="quarter" idx="12"/>
          </p:nvPr>
        </p:nvSpPr>
        <p:spPr>
          <a:xfrm>
            <a:off x="6457950" y="6340295"/>
            <a:ext cx="2057400" cy="365125"/>
          </a:xfrm>
        </p:spPr>
        <p:txBody>
          <a:bodyPr/>
          <a:lstStyle/>
          <a:p>
            <a:fld id="{5457A026-CD74-A64B-872B-B0D8D2A810A8}" type="slidenum">
              <a:rPr kumimoji="1" lang="zh-TW" altLang="en-US" smtClean="0"/>
              <a:t>6</a:t>
            </a:fld>
            <a:endParaRPr kumimoji="1" lang="zh-TW" altLang="en-US"/>
          </a:p>
        </p:txBody>
      </p:sp>
      <p:sp>
        <p:nvSpPr>
          <p:cNvPr id="3" name="內容版面配置區 2">
            <a:extLst>
              <a:ext uri="{FF2B5EF4-FFF2-40B4-BE49-F238E27FC236}">
                <a16:creationId xmlns:a16="http://schemas.microsoft.com/office/drawing/2014/main" id="{178CB7A8-9FBB-DE8B-481C-347D1E7DC747}"/>
              </a:ext>
            </a:extLst>
          </p:cNvPr>
          <p:cNvSpPr txBox="1">
            <a:spLocks/>
          </p:cNvSpPr>
          <p:nvPr/>
        </p:nvSpPr>
        <p:spPr>
          <a:xfrm>
            <a:off x="564263" y="1103848"/>
            <a:ext cx="8015473" cy="48542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endParaRPr kumimoji="1" lang="en-US" altLang="zh-TW" sz="2000"/>
          </a:p>
          <a:p>
            <a:endParaRPr kumimoji="1" lang="en-US" altLang="zh-TW" sz="2000"/>
          </a:p>
        </p:txBody>
      </p:sp>
      <p:sp>
        <p:nvSpPr>
          <p:cNvPr id="10" name="矩形 9">
            <a:extLst>
              <a:ext uri="{FF2B5EF4-FFF2-40B4-BE49-F238E27FC236}">
                <a16:creationId xmlns:a16="http://schemas.microsoft.com/office/drawing/2014/main" id="{A5E0B2AD-194B-B29C-12AD-5049A4166FA2}"/>
              </a:ext>
            </a:extLst>
          </p:cNvPr>
          <p:cNvSpPr/>
          <p:nvPr/>
        </p:nvSpPr>
        <p:spPr>
          <a:xfrm>
            <a:off x="410010" y="3889432"/>
            <a:ext cx="511122" cy="10297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矩形 11">
            <a:extLst>
              <a:ext uri="{FF2B5EF4-FFF2-40B4-BE49-F238E27FC236}">
                <a16:creationId xmlns:a16="http://schemas.microsoft.com/office/drawing/2014/main" id="{71D48F0C-E2A2-D99F-9AC3-B5A2B2195F96}"/>
              </a:ext>
            </a:extLst>
          </p:cNvPr>
          <p:cNvSpPr/>
          <p:nvPr/>
        </p:nvSpPr>
        <p:spPr>
          <a:xfrm>
            <a:off x="3495462" y="1556760"/>
            <a:ext cx="1778629" cy="13964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矩形 13">
            <a:extLst>
              <a:ext uri="{FF2B5EF4-FFF2-40B4-BE49-F238E27FC236}">
                <a16:creationId xmlns:a16="http://schemas.microsoft.com/office/drawing/2014/main" id="{FD46C27F-67F9-DCCC-0099-1D6325FCB481}"/>
              </a:ext>
            </a:extLst>
          </p:cNvPr>
          <p:cNvSpPr/>
          <p:nvPr/>
        </p:nvSpPr>
        <p:spPr>
          <a:xfrm>
            <a:off x="5233792" y="2444940"/>
            <a:ext cx="438834" cy="2536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矩形 14">
            <a:extLst>
              <a:ext uri="{FF2B5EF4-FFF2-40B4-BE49-F238E27FC236}">
                <a16:creationId xmlns:a16="http://schemas.microsoft.com/office/drawing/2014/main" id="{4BA14A4D-957C-75F2-6249-2973C8AEDA15}"/>
              </a:ext>
            </a:extLst>
          </p:cNvPr>
          <p:cNvSpPr/>
          <p:nvPr/>
        </p:nvSpPr>
        <p:spPr>
          <a:xfrm>
            <a:off x="6350627" y="1994239"/>
            <a:ext cx="2199883" cy="4093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矩形 15">
            <a:extLst>
              <a:ext uri="{FF2B5EF4-FFF2-40B4-BE49-F238E27FC236}">
                <a16:creationId xmlns:a16="http://schemas.microsoft.com/office/drawing/2014/main" id="{00EDC657-F0BE-1CB3-0E74-FC4C4C4DAEC8}"/>
              </a:ext>
            </a:extLst>
          </p:cNvPr>
          <p:cNvSpPr/>
          <p:nvPr/>
        </p:nvSpPr>
        <p:spPr>
          <a:xfrm>
            <a:off x="7708002" y="1579304"/>
            <a:ext cx="1038522" cy="4669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矩形 16">
            <a:extLst>
              <a:ext uri="{FF2B5EF4-FFF2-40B4-BE49-F238E27FC236}">
                <a16:creationId xmlns:a16="http://schemas.microsoft.com/office/drawing/2014/main" id="{25D6A8F6-49D7-9A4F-2948-E7EC6AF4140A}"/>
              </a:ext>
            </a:extLst>
          </p:cNvPr>
          <p:cNvSpPr/>
          <p:nvPr/>
        </p:nvSpPr>
        <p:spPr>
          <a:xfrm>
            <a:off x="7699212" y="3335388"/>
            <a:ext cx="1038522" cy="766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矩形 18">
            <a:extLst>
              <a:ext uri="{FF2B5EF4-FFF2-40B4-BE49-F238E27FC236}">
                <a16:creationId xmlns:a16="http://schemas.microsoft.com/office/drawing/2014/main" id="{215744B7-0290-54AC-874B-1CEF54262630}"/>
              </a:ext>
            </a:extLst>
          </p:cNvPr>
          <p:cNvSpPr/>
          <p:nvPr/>
        </p:nvSpPr>
        <p:spPr>
          <a:xfrm>
            <a:off x="6274597" y="2258850"/>
            <a:ext cx="76031" cy="1243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0781E375-DB47-C24B-91C9-25811BF9EB47}"/>
              </a:ext>
            </a:extLst>
          </p:cNvPr>
          <p:cNvSpPr/>
          <p:nvPr/>
        </p:nvSpPr>
        <p:spPr>
          <a:xfrm>
            <a:off x="1670028" y="3889432"/>
            <a:ext cx="608478" cy="382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矩形 20">
            <a:extLst>
              <a:ext uri="{FF2B5EF4-FFF2-40B4-BE49-F238E27FC236}">
                <a16:creationId xmlns:a16="http://schemas.microsoft.com/office/drawing/2014/main" id="{3DA714E2-CECA-DFF4-62D8-355B901950CA}"/>
              </a:ext>
            </a:extLst>
          </p:cNvPr>
          <p:cNvSpPr/>
          <p:nvPr/>
        </p:nvSpPr>
        <p:spPr>
          <a:xfrm>
            <a:off x="4053649" y="3335388"/>
            <a:ext cx="986411" cy="3744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AAC1C0EE-2218-0D42-330F-0FC05B8EF8B3}"/>
              </a:ext>
            </a:extLst>
          </p:cNvPr>
          <p:cNvSpPr/>
          <p:nvPr/>
        </p:nvSpPr>
        <p:spPr>
          <a:xfrm>
            <a:off x="4993254" y="4973889"/>
            <a:ext cx="1090248" cy="7325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矩形 22">
            <a:extLst>
              <a:ext uri="{FF2B5EF4-FFF2-40B4-BE49-F238E27FC236}">
                <a16:creationId xmlns:a16="http://schemas.microsoft.com/office/drawing/2014/main" id="{78E1CF47-8E04-13B6-DCA2-795010E1E3D1}"/>
              </a:ext>
            </a:extLst>
          </p:cNvPr>
          <p:cNvSpPr/>
          <p:nvPr/>
        </p:nvSpPr>
        <p:spPr>
          <a:xfrm>
            <a:off x="510246" y="2444940"/>
            <a:ext cx="511122" cy="4915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 name="矩形 23">
            <a:extLst>
              <a:ext uri="{FF2B5EF4-FFF2-40B4-BE49-F238E27FC236}">
                <a16:creationId xmlns:a16="http://schemas.microsoft.com/office/drawing/2014/main" id="{D038740B-ABE2-DEEA-E973-F17410A450DE}"/>
              </a:ext>
            </a:extLst>
          </p:cNvPr>
          <p:cNvSpPr/>
          <p:nvPr/>
        </p:nvSpPr>
        <p:spPr>
          <a:xfrm>
            <a:off x="5198890" y="2685776"/>
            <a:ext cx="129217" cy="3142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矩形 24">
            <a:extLst>
              <a:ext uri="{FF2B5EF4-FFF2-40B4-BE49-F238E27FC236}">
                <a16:creationId xmlns:a16="http://schemas.microsoft.com/office/drawing/2014/main" id="{33E032AF-E1A7-3D94-B9AD-A114F35DA747}"/>
              </a:ext>
            </a:extLst>
          </p:cNvPr>
          <p:cNvSpPr/>
          <p:nvPr/>
        </p:nvSpPr>
        <p:spPr>
          <a:xfrm>
            <a:off x="6257016" y="2181294"/>
            <a:ext cx="76031" cy="1243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字方塊 4">
            <a:extLst>
              <a:ext uri="{FF2B5EF4-FFF2-40B4-BE49-F238E27FC236}">
                <a16:creationId xmlns:a16="http://schemas.microsoft.com/office/drawing/2014/main" id="{7BBD639B-8BD5-093D-F29D-EDEA0B6F64E2}"/>
              </a:ext>
            </a:extLst>
          </p:cNvPr>
          <p:cNvSpPr txBox="1"/>
          <p:nvPr/>
        </p:nvSpPr>
        <p:spPr>
          <a:xfrm>
            <a:off x="0" y="5864597"/>
            <a:ext cx="2559342" cy="1015663"/>
          </a:xfrm>
          <a:prstGeom prst="rect">
            <a:avLst/>
          </a:prstGeom>
          <a:noFill/>
        </p:spPr>
        <p:txBody>
          <a:bodyPr wrap="square" rtlCol="0">
            <a:spAutoFit/>
          </a:bodyPr>
          <a:lstStyle/>
          <a:p>
            <a:r>
              <a:rPr kumimoji="1" lang="en" altLang="zh-TW" sz="1200" dirty="0"/>
              <a:t>Fitzgerald, MC., O’Halloran, P.J., Connolly, N.M.C. et al. Targeting the apoptosis pathway to treat </a:t>
            </a:r>
            <a:r>
              <a:rPr kumimoji="1" lang="en" altLang="zh-TW" sz="1200" dirty="0" err="1"/>
              <a:t>tumours</a:t>
            </a:r>
            <a:r>
              <a:rPr kumimoji="1" lang="en" altLang="zh-TW" sz="1200" dirty="0"/>
              <a:t> of the </a:t>
            </a:r>
            <a:r>
              <a:rPr kumimoji="1" lang="en" altLang="zh-TW" sz="1200" dirty="0" err="1"/>
              <a:t>paediatric</a:t>
            </a:r>
            <a:r>
              <a:rPr kumimoji="1" lang="en" altLang="zh-TW" sz="1200" dirty="0"/>
              <a:t> nervous system. Cell Death Dis 13, 460 (2022). </a:t>
            </a:r>
            <a:endParaRPr kumimoji="1" lang="zh-TW" altLang="en-US" sz="1200" dirty="0"/>
          </a:p>
        </p:txBody>
      </p:sp>
      <p:sp>
        <p:nvSpPr>
          <p:cNvPr id="11" name="矩形 10">
            <a:extLst>
              <a:ext uri="{FF2B5EF4-FFF2-40B4-BE49-F238E27FC236}">
                <a16:creationId xmlns:a16="http://schemas.microsoft.com/office/drawing/2014/main" id="{6227C3E0-C8C1-D2D3-9625-AC09367F5A6A}"/>
              </a:ext>
            </a:extLst>
          </p:cNvPr>
          <p:cNvSpPr/>
          <p:nvPr/>
        </p:nvSpPr>
        <p:spPr>
          <a:xfrm>
            <a:off x="2644001" y="1556760"/>
            <a:ext cx="928909" cy="126376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矩形 12">
            <a:extLst>
              <a:ext uri="{FF2B5EF4-FFF2-40B4-BE49-F238E27FC236}">
                <a16:creationId xmlns:a16="http://schemas.microsoft.com/office/drawing/2014/main" id="{DDD7C8AD-6888-F0F1-93D5-21F78671768E}"/>
              </a:ext>
            </a:extLst>
          </p:cNvPr>
          <p:cNvSpPr/>
          <p:nvPr/>
        </p:nvSpPr>
        <p:spPr>
          <a:xfrm>
            <a:off x="6869098" y="1613758"/>
            <a:ext cx="928909" cy="46694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 name="矩形 25">
            <a:extLst>
              <a:ext uri="{FF2B5EF4-FFF2-40B4-BE49-F238E27FC236}">
                <a16:creationId xmlns:a16="http://schemas.microsoft.com/office/drawing/2014/main" id="{06FE76AA-B3CF-D704-3564-9883D5877088}"/>
              </a:ext>
            </a:extLst>
          </p:cNvPr>
          <p:cNvSpPr/>
          <p:nvPr/>
        </p:nvSpPr>
        <p:spPr>
          <a:xfrm>
            <a:off x="7742226" y="2922249"/>
            <a:ext cx="928909" cy="46694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矩形 26">
            <a:extLst>
              <a:ext uri="{FF2B5EF4-FFF2-40B4-BE49-F238E27FC236}">
                <a16:creationId xmlns:a16="http://schemas.microsoft.com/office/drawing/2014/main" id="{C9697EC6-C9A7-4589-C529-DB7E32FEE6CE}"/>
              </a:ext>
            </a:extLst>
          </p:cNvPr>
          <p:cNvSpPr/>
          <p:nvPr/>
        </p:nvSpPr>
        <p:spPr>
          <a:xfrm>
            <a:off x="714110" y="4266943"/>
            <a:ext cx="1704814" cy="33033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 name="矩形 32">
            <a:extLst>
              <a:ext uri="{FF2B5EF4-FFF2-40B4-BE49-F238E27FC236}">
                <a16:creationId xmlns:a16="http://schemas.microsoft.com/office/drawing/2014/main" id="{CD3D2982-8347-10C8-47F0-E10A64CB764E}"/>
              </a:ext>
            </a:extLst>
          </p:cNvPr>
          <p:cNvSpPr/>
          <p:nvPr/>
        </p:nvSpPr>
        <p:spPr>
          <a:xfrm>
            <a:off x="861115" y="2496926"/>
            <a:ext cx="1011714" cy="382076"/>
          </a:xfrm>
          <a:prstGeom prst="rect">
            <a:avLst/>
          </a:prstGeom>
          <a:noFill/>
          <a:ln w="285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矩形 33">
            <a:extLst>
              <a:ext uri="{FF2B5EF4-FFF2-40B4-BE49-F238E27FC236}">
                <a16:creationId xmlns:a16="http://schemas.microsoft.com/office/drawing/2014/main" id="{9B59D5BD-D146-7E5C-944D-D5D95107FB6A}"/>
              </a:ext>
            </a:extLst>
          </p:cNvPr>
          <p:cNvSpPr/>
          <p:nvPr/>
        </p:nvSpPr>
        <p:spPr>
          <a:xfrm>
            <a:off x="1137163" y="3518798"/>
            <a:ext cx="1011714" cy="382076"/>
          </a:xfrm>
          <a:prstGeom prst="rect">
            <a:avLst/>
          </a:prstGeom>
          <a:noFill/>
          <a:ln w="285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70207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subTnLst>
                                    <p:set>
                                      <p:cBhvr override="childStyle">
                                        <p:cTn dur="1" fill="hold" display="0" masterRel="nextClick" afterEffect="1"/>
                                        <p:tgtEl>
                                          <p:spTgt spid="34"/>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26" grpId="0" animBg="1"/>
      <p:bldP spid="27" grpId="0" animBg="1"/>
      <p:bldP spid="33" grpId="0" animBg="1"/>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584F2-0FBA-C264-1F70-915886CA26C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34D01DA-F06E-8AC3-FDCB-9E0B40EC238C}"/>
              </a:ext>
            </a:extLst>
          </p:cNvPr>
          <p:cNvSpPr>
            <a:spLocks noGrp="1"/>
          </p:cNvSpPr>
          <p:nvPr>
            <p:ph type="title"/>
          </p:nvPr>
        </p:nvSpPr>
        <p:spPr>
          <a:xfrm>
            <a:off x="628650" y="433416"/>
            <a:ext cx="7886700" cy="681037"/>
          </a:xfrm>
        </p:spPr>
        <p:txBody>
          <a:bodyPr>
            <a:normAutofit/>
          </a:bodyPr>
          <a:lstStyle/>
          <a:p>
            <a:r>
              <a:rPr kumimoji="1" lang="en-US" altLang="zh-TW" sz="3200" dirty="0"/>
              <a:t>p53-induced Apoptosis</a:t>
            </a:r>
            <a:endParaRPr kumimoji="1" lang="zh-TW" altLang="en-US" sz="3200" dirty="0"/>
          </a:p>
        </p:txBody>
      </p:sp>
      <p:sp>
        <p:nvSpPr>
          <p:cNvPr id="3" name="內容版面配置區 2">
            <a:extLst>
              <a:ext uri="{FF2B5EF4-FFF2-40B4-BE49-F238E27FC236}">
                <a16:creationId xmlns:a16="http://schemas.microsoft.com/office/drawing/2014/main" id="{33E78462-8FBF-D235-D500-D4251A4A67E9}"/>
              </a:ext>
            </a:extLst>
          </p:cNvPr>
          <p:cNvSpPr txBox="1">
            <a:spLocks/>
          </p:cNvSpPr>
          <p:nvPr/>
        </p:nvSpPr>
        <p:spPr>
          <a:xfrm>
            <a:off x="564263" y="1103848"/>
            <a:ext cx="8015473" cy="48542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endParaRPr kumimoji="1" lang="en-US" altLang="zh-TW" sz="2000"/>
          </a:p>
          <a:p>
            <a:endParaRPr kumimoji="1" lang="en-US" altLang="zh-TW" sz="2000"/>
          </a:p>
        </p:txBody>
      </p:sp>
      <p:sp>
        <p:nvSpPr>
          <p:cNvPr id="15" name="矩形 14">
            <a:extLst>
              <a:ext uri="{FF2B5EF4-FFF2-40B4-BE49-F238E27FC236}">
                <a16:creationId xmlns:a16="http://schemas.microsoft.com/office/drawing/2014/main" id="{4C5B3E5A-5118-B1C9-6B06-332DCB5E26DF}"/>
              </a:ext>
            </a:extLst>
          </p:cNvPr>
          <p:cNvSpPr/>
          <p:nvPr/>
        </p:nvSpPr>
        <p:spPr>
          <a:xfrm>
            <a:off x="6350627" y="1994239"/>
            <a:ext cx="2199883" cy="4093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矩形 15">
            <a:extLst>
              <a:ext uri="{FF2B5EF4-FFF2-40B4-BE49-F238E27FC236}">
                <a16:creationId xmlns:a16="http://schemas.microsoft.com/office/drawing/2014/main" id="{991EFEB6-3873-E534-C264-1C88DA7D73B9}"/>
              </a:ext>
            </a:extLst>
          </p:cNvPr>
          <p:cNvSpPr/>
          <p:nvPr/>
        </p:nvSpPr>
        <p:spPr>
          <a:xfrm>
            <a:off x="7708002" y="1579304"/>
            <a:ext cx="1038522" cy="4669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9D2A794A-D297-9BFE-46CA-D40D8003A407}"/>
              </a:ext>
            </a:extLst>
          </p:cNvPr>
          <p:cNvSpPr/>
          <p:nvPr/>
        </p:nvSpPr>
        <p:spPr>
          <a:xfrm>
            <a:off x="6303822" y="883863"/>
            <a:ext cx="2199883" cy="5324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投影片編號版面配置區 3">
            <a:extLst>
              <a:ext uri="{FF2B5EF4-FFF2-40B4-BE49-F238E27FC236}">
                <a16:creationId xmlns:a16="http://schemas.microsoft.com/office/drawing/2014/main" id="{198395DE-1D5A-E74F-D199-FBADBA498E82}"/>
              </a:ext>
            </a:extLst>
          </p:cNvPr>
          <p:cNvSpPr>
            <a:spLocks noGrp="1"/>
          </p:cNvSpPr>
          <p:nvPr>
            <p:ph type="sldNum" sz="quarter" idx="12"/>
          </p:nvPr>
        </p:nvSpPr>
        <p:spPr>
          <a:xfrm>
            <a:off x="6457950" y="6340295"/>
            <a:ext cx="2057400" cy="365125"/>
          </a:xfrm>
        </p:spPr>
        <p:txBody>
          <a:bodyPr/>
          <a:lstStyle/>
          <a:p>
            <a:fld id="{5457A026-CD74-A64B-872B-B0D8D2A810A8}" type="slidenum">
              <a:rPr kumimoji="1" lang="zh-TW" altLang="en-US" smtClean="0"/>
              <a:t>7</a:t>
            </a:fld>
            <a:endParaRPr kumimoji="1" lang="zh-TW" altLang="en-US"/>
          </a:p>
        </p:txBody>
      </p:sp>
      <p:pic>
        <p:nvPicPr>
          <p:cNvPr id="8" name="圖片 7" descr="一張含有 文字, 螢幕擷取畫面, 圖表 的圖片&#10;&#10;自動產生的描述">
            <a:extLst>
              <a:ext uri="{FF2B5EF4-FFF2-40B4-BE49-F238E27FC236}">
                <a16:creationId xmlns:a16="http://schemas.microsoft.com/office/drawing/2014/main" id="{E2C6F22D-9CE5-183B-1FA4-DDEC1FF3C59F}"/>
              </a:ext>
            </a:extLst>
          </p:cNvPr>
          <p:cNvPicPr>
            <a:picLocks noChangeAspect="1"/>
          </p:cNvPicPr>
          <p:nvPr/>
        </p:nvPicPr>
        <p:blipFill>
          <a:blip r:embed="rId3"/>
          <a:srcRect l="992" t="1377" r="363" b="38004"/>
          <a:stretch/>
        </p:blipFill>
        <p:spPr>
          <a:xfrm>
            <a:off x="315523" y="1482776"/>
            <a:ext cx="8506260" cy="4334400"/>
          </a:xfrm>
          <a:prstGeom prst="rect">
            <a:avLst/>
          </a:prstGeom>
        </p:spPr>
      </p:pic>
      <p:sp>
        <p:nvSpPr>
          <p:cNvPr id="11" name="文字方塊 10">
            <a:extLst>
              <a:ext uri="{FF2B5EF4-FFF2-40B4-BE49-F238E27FC236}">
                <a16:creationId xmlns:a16="http://schemas.microsoft.com/office/drawing/2014/main" id="{3823CE63-827B-EF8F-E0FD-7432CA2510F5}"/>
              </a:ext>
            </a:extLst>
          </p:cNvPr>
          <p:cNvSpPr txBox="1"/>
          <p:nvPr/>
        </p:nvSpPr>
        <p:spPr>
          <a:xfrm>
            <a:off x="169785" y="6326404"/>
            <a:ext cx="8240307" cy="523220"/>
          </a:xfrm>
          <a:prstGeom prst="rect">
            <a:avLst/>
          </a:prstGeom>
          <a:noFill/>
        </p:spPr>
        <p:txBody>
          <a:bodyPr wrap="square" rtlCol="0">
            <a:spAutoFit/>
          </a:bodyPr>
          <a:lstStyle/>
          <a:p>
            <a:r>
              <a:rPr kumimoji="1" lang="en" altLang="zh-TW" sz="1400" dirty="0"/>
              <a:t>Aubrey, B., Kelly, G., Janic, A. et al. How does p53 induce apoptosis and how does this relate to p53-mediated </a:t>
            </a:r>
            <a:r>
              <a:rPr kumimoji="1" lang="en" altLang="zh-TW" sz="1400" dirty="0" err="1"/>
              <a:t>tumour</a:t>
            </a:r>
            <a:r>
              <a:rPr kumimoji="1" lang="en" altLang="zh-TW" sz="1400" dirty="0"/>
              <a:t> suppression?. Cell Death Differ 25, 104–113 (2018). </a:t>
            </a:r>
            <a:endParaRPr kumimoji="1" lang="zh-TW" altLang="en-US" sz="1400" dirty="0"/>
          </a:p>
        </p:txBody>
      </p:sp>
    </p:spTree>
    <p:extLst>
      <p:ext uri="{BB962C8B-B14F-4D97-AF65-F5344CB8AC3E}">
        <p14:creationId xmlns:p14="http://schemas.microsoft.com/office/powerpoint/2010/main" val="3514094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403A0-CC3E-29F5-F97D-CAE1479F186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140BE99-3A03-AC37-1530-658EB40DC6AF}"/>
              </a:ext>
            </a:extLst>
          </p:cNvPr>
          <p:cNvSpPr>
            <a:spLocks noGrp="1"/>
          </p:cNvSpPr>
          <p:nvPr>
            <p:ph type="title"/>
          </p:nvPr>
        </p:nvSpPr>
        <p:spPr>
          <a:xfrm>
            <a:off x="628650" y="433416"/>
            <a:ext cx="7886700" cy="681037"/>
          </a:xfrm>
        </p:spPr>
        <p:txBody>
          <a:bodyPr>
            <a:normAutofit/>
          </a:bodyPr>
          <a:lstStyle/>
          <a:p>
            <a:r>
              <a:rPr lang="en" altLang="zh-TW" sz="3200"/>
              <a:t>DEAD-box RNA Helicase</a:t>
            </a:r>
            <a:r>
              <a:rPr lang="en-US" altLang="zh-TW" sz="3200"/>
              <a:t> 3 (DDX3)</a:t>
            </a:r>
            <a:endParaRPr kumimoji="1" lang="zh-TW" altLang="en-US" sz="3200"/>
          </a:p>
        </p:txBody>
      </p:sp>
      <p:sp>
        <p:nvSpPr>
          <p:cNvPr id="4" name="投影片編號版面配置區 3">
            <a:extLst>
              <a:ext uri="{FF2B5EF4-FFF2-40B4-BE49-F238E27FC236}">
                <a16:creationId xmlns:a16="http://schemas.microsoft.com/office/drawing/2014/main" id="{97322D5C-E7BC-B06A-7A29-DE27F534FA11}"/>
              </a:ext>
            </a:extLst>
          </p:cNvPr>
          <p:cNvSpPr>
            <a:spLocks noGrp="1"/>
          </p:cNvSpPr>
          <p:nvPr>
            <p:ph type="sldNum" sz="quarter" idx="12"/>
          </p:nvPr>
        </p:nvSpPr>
        <p:spPr/>
        <p:txBody>
          <a:bodyPr/>
          <a:lstStyle/>
          <a:p>
            <a:fld id="{5457A026-CD74-A64B-872B-B0D8D2A810A8}" type="slidenum">
              <a:rPr kumimoji="1" lang="zh-TW" altLang="en-US" smtClean="0"/>
              <a:t>8</a:t>
            </a:fld>
            <a:endParaRPr kumimoji="1" lang="zh-TW" altLang="en-US"/>
          </a:p>
        </p:txBody>
      </p:sp>
      <p:sp>
        <p:nvSpPr>
          <p:cNvPr id="5" name="內容版面配置區 4">
            <a:extLst>
              <a:ext uri="{FF2B5EF4-FFF2-40B4-BE49-F238E27FC236}">
                <a16:creationId xmlns:a16="http://schemas.microsoft.com/office/drawing/2014/main" id="{E50139CA-503A-F755-C07F-2FDED3CF489A}"/>
              </a:ext>
            </a:extLst>
          </p:cNvPr>
          <p:cNvSpPr>
            <a:spLocks noGrp="1"/>
          </p:cNvSpPr>
          <p:nvPr>
            <p:ph idx="1"/>
          </p:nvPr>
        </p:nvSpPr>
        <p:spPr>
          <a:xfrm>
            <a:off x="467702" y="3284694"/>
            <a:ext cx="3243324" cy="1884980"/>
          </a:xfrm>
        </p:spPr>
        <p:txBody>
          <a:bodyPr>
            <a:normAutofit/>
          </a:bodyPr>
          <a:lstStyle/>
          <a:p>
            <a:pPr marL="0" indent="0">
              <a:buNone/>
            </a:pPr>
            <a:r>
              <a:rPr lang="en" altLang="zh-TW" sz="1800" b="1" dirty="0"/>
              <a:t>General Information</a:t>
            </a:r>
          </a:p>
          <a:p>
            <a:r>
              <a:rPr lang="en" altLang="zh-TW" sz="1600" dirty="0"/>
              <a:t>DEAD-box RNA helicase family.</a:t>
            </a:r>
          </a:p>
          <a:p>
            <a:r>
              <a:rPr lang="en" altLang="zh-TW" sz="1600" dirty="0"/>
              <a:t>661–662 amino acids, ~72 </a:t>
            </a:r>
            <a:r>
              <a:rPr lang="en" altLang="zh-TW" sz="1600" dirty="0" err="1"/>
              <a:t>kDa</a:t>
            </a:r>
            <a:r>
              <a:rPr lang="en" altLang="zh-TW" sz="1600" dirty="0"/>
              <a:t>.</a:t>
            </a:r>
          </a:p>
          <a:p>
            <a:r>
              <a:rPr lang="en" altLang="zh-TW" sz="1600" dirty="0"/>
              <a:t>Plays critical roles in RNA metabolism, cell cycle control, and tumorigenesis.</a:t>
            </a:r>
          </a:p>
        </p:txBody>
      </p:sp>
      <p:pic>
        <p:nvPicPr>
          <p:cNvPr id="7" name="圖片 6" descr="一張含有 文字, 螢幕擷取畫面, 行, 圖表 的圖片&#10;&#10;自動產生的描述">
            <a:extLst>
              <a:ext uri="{FF2B5EF4-FFF2-40B4-BE49-F238E27FC236}">
                <a16:creationId xmlns:a16="http://schemas.microsoft.com/office/drawing/2014/main" id="{F0D44FD0-8E86-B282-15A3-DA264B3B66AE}"/>
              </a:ext>
            </a:extLst>
          </p:cNvPr>
          <p:cNvPicPr>
            <a:picLocks noChangeAspect="1"/>
          </p:cNvPicPr>
          <p:nvPr/>
        </p:nvPicPr>
        <p:blipFill>
          <a:blip r:embed="rId3"/>
          <a:stretch>
            <a:fillRect/>
          </a:stretch>
        </p:blipFill>
        <p:spPr>
          <a:xfrm>
            <a:off x="711401" y="1336968"/>
            <a:ext cx="7721198" cy="1708464"/>
          </a:xfrm>
          <a:prstGeom prst="rect">
            <a:avLst/>
          </a:prstGeom>
        </p:spPr>
      </p:pic>
      <p:sp>
        <p:nvSpPr>
          <p:cNvPr id="3" name="內容版面配置區 4">
            <a:extLst>
              <a:ext uri="{FF2B5EF4-FFF2-40B4-BE49-F238E27FC236}">
                <a16:creationId xmlns:a16="http://schemas.microsoft.com/office/drawing/2014/main" id="{CDDB5E4B-B497-3CCC-943E-6DDAF4F4A69B}"/>
              </a:ext>
            </a:extLst>
          </p:cNvPr>
          <p:cNvSpPr txBox="1">
            <a:spLocks/>
          </p:cNvSpPr>
          <p:nvPr/>
        </p:nvSpPr>
        <p:spPr>
          <a:xfrm>
            <a:off x="3857344" y="3228563"/>
            <a:ext cx="4818954" cy="29273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 altLang="zh-TW" sz="1800" b="1" dirty="0"/>
              <a:t>Structure</a:t>
            </a:r>
          </a:p>
          <a:p>
            <a:r>
              <a:rPr lang="en" altLang="zh-TW" sz="1600" dirty="0"/>
              <a:t>Consists of two </a:t>
            </a:r>
            <a:r>
              <a:rPr lang="en" altLang="zh-TW" sz="1600" dirty="0" err="1"/>
              <a:t>RecA</a:t>
            </a:r>
            <a:r>
              <a:rPr lang="en" altLang="zh-TW" sz="1600" dirty="0"/>
              <a:t>-like domains (Domain 1 &amp; 2).</a:t>
            </a:r>
          </a:p>
          <a:p>
            <a:pPr lvl="1"/>
            <a:r>
              <a:rPr lang="en" altLang="zh-TW" sz="1600" dirty="0"/>
              <a:t>Contains 12 conserved helicase motifs.</a:t>
            </a:r>
          </a:p>
          <a:p>
            <a:r>
              <a:rPr lang="en" altLang="zh-TW" sz="1600" dirty="0"/>
              <a:t>N-terminal Extensions (NTE) </a:t>
            </a:r>
          </a:p>
          <a:p>
            <a:pPr lvl="1"/>
            <a:r>
              <a:rPr lang="en" altLang="zh-TW" sz="1600" dirty="0"/>
              <a:t>Important for ATP hydrolysis</a:t>
            </a:r>
          </a:p>
          <a:p>
            <a:pPr lvl="1"/>
            <a:r>
              <a:rPr lang="en" altLang="zh-TW" sz="1600" dirty="0"/>
              <a:t>Nuclear export signal (NES)</a:t>
            </a:r>
          </a:p>
          <a:p>
            <a:pPr lvl="1"/>
            <a:r>
              <a:rPr lang="en" altLang="zh-TW" sz="1600" dirty="0"/>
              <a:t>eIF4E binding site (unique, ~aa 40) </a:t>
            </a:r>
          </a:p>
          <a:p>
            <a:r>
              <a:rPr lang="en" altLang="zh-TW" sz="1600" dirty="0"/>
              <a:t>C-terminal Extensions (CTE)</a:t>
            </a:r>
            <a:r>
              <a:rPr lang="zh-TW" altLang="en-US" sz="1600" dirty="0"/>
              <a:t> </a:t>
            </a:r>
            <a:r>
              <a:rPr lang="en" altLang="zh-TW" sz="1600" dirty="0"/>
              <a:t>:</a:t>
            </a:r>
          </a:p>
          <a:p>
            <a:pPr lvl="1"/>
            <a:r>
              <a:rPr lang="en" altLang="zh-TW" sz="1600" dirty="0"/>
              <a:t>Crucial for RNA duplex unwinding</a:t>
            </a:r>
          </a:p>
          <a:p>
            <a:pPr lvl="1"/>
            <a:r>
              <a:rPr lang="en" altLang="zh-TW" sz="1600" dirty="0"/>
              <a:t>RS-like domain (Arg/Ser-rich)</a:t>
            </a:r>
          </a:p>
          <a:p>
            <a:pPr lvl="1"/>
            <a:r>
              <a:rPr lang="en" altLang="zh-TW" sz="1600" dirty="0"/>
              <a:t>Interacts with TAP nuclear export receptor</a:t>
            </a:r>
          </a:p>
          <a:p>
            <a:endParaRPr lang="en" altLang="zh-TW" sz="1600" dirty="0"/>
          </a:p>
          <a:p>
            <a:pPr marL="457200" lvl="1" indent="0">
              <a:buFont typeface="Arial" panose="020B0604020202020204" pitchFamily="34" charset="0"/>
              <a:buNone/>
            </a:pPr>
            <a:endParaRPr lang="en" altLang="zh-TW" sz="1600" dirty="0"/>
          </a:p>
        </p:txBody>
      </p:sp>
      <p:sp>
        <p:nvSpPr>
          <p:cNvPr id="6" name="文字方塊 5">
            <a:extLst>
              <a:ext uri="{FF2B5EF4-FFF2-40B4-BE49-F238E27FC236}">
                <a16:creationId xmlns:a16="http://schemas.microsoft.com/office/drawing/2014/main" id="{0BABFAB5-4A5F-5AA5-11D4-FF494E062760}"/>
              </a:ext>
            </a:extLst>
          </p:cNvPr>
          <p:cNvSpPr txBox="1"/>
          <p:nvPr/>
        </p:nvSpPr>
        <p:spPr>
          <a:xfrm>
            <a:off x="135545" y="6050136"/>
            <a:ext cx="3687559" cy="738664"/>
          </a:xfrm>
          <a:prstGeom prst="rect">
            <a:avLst/>
          </a:prstGeom>
          <a:noFill/>
        </p:spPr>
        <p:txBody>
          <a:bodyPr wrap="square" rtlCol="0">
            <a:spAutoFit/>
          </a:bodyPr>
          <a:lstStyle/>
          <a:p>
            <a:r>
              <a:rPr kumimoji="1" lang="en" altLang="zh-TW" sz="1400" dirty="0"/>
              <a:t>Mo, J., Liang, H., Su, C. et al. DDX3X: structure, physiologic functions and cancer. Mol Cancer 20, 38 (2021).</a:t>
            </a:r>
            <a:endParaRPr kumimoji="1" lang="zh-TW" altLang="en-US" sz="1400" dirty="0"/>
          </a:p>
        </p:txBody>
      </p:sp>
    </p:spTree>
    <p:extLst>
      <p:ext uri="{BB962C8B-B14F-4D97-AF65-F5344CB8AC3E}">
        <p14:creationId xmlns:p14="http://schemas.microsoft.com/office/powerpoint/2010/main" val="2058645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4FE28-7F53-576E-EAF2-87BC4608FEC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D565541-AB7C-9B4C-E7DC-D700FB5D4D15}"/>
              </a:ext>
            </a:extLst>
          </p:cNvPr>
          <p:cNvSpPr>
            <a:spLocks noGrp="1"/>
          </p:cNvSpPr>
          <p:nvPr>
            <p:ph type="title"/>
          </p:nvPr>
        </p:nvSpPr>
        <p:spPr>
          <a:xfrm>
            <a:off x="628650" y="433416"/>
            <a:ext cx="8202696" cy="681037"/>
          </a:xfrm>
        </p:spPr>
        <p:txBody>
          <a:bodyPr>
            <a:normAutofit fontScale="90000"/>
          </a:bodyPr>
          <a:lstStyle/>
          <a:p>
            <a:r>
              <a:rPr kumimoji="1" lang="en-US" altLang="zh-TW" sz="3600" dirty="0"/>
              <a:t>The Function of DDX3 in the Apoptosis Pathway </a:t>
            </a:r>
            <a:endParaRPr kumimoji="1" lang="zh-TW" altLang="en-US" sz="3600" dirty="0"/>
          </a:p>
        </p:txBody>
      </p:sp>
      <p:sp>
        <p:nvSpPr>
          <p:cNvPr id="4" name="投影片編號版面配置區 3">
            <a:extLst>
              <a:ext uri="{FF2B5EF4-FFF2-40B4-BE49-F238E27FC236}">
                <a16:creationId xmlns:a16="http://schemas.microsoft.com/office/drawing/2014/main" id="{37B88769-90B0-83AE-C889-BB43D34C75C6}"/>
              </a:ext>
            </a:extLst>
          </p:cNvPr>
          <p:cNvSpPr>
            <a:spLocks noGrp="1"/>
          </p:cNvSpPr>
          <p:nvPr>
            <p:ph type="sldNum" sz="quarter" idx="12"/>
          </p:nvPr>
        </p:nvSpPr>
        <p:spPr/>
        <p:txBody>
          <a:bodyPr/>
          <a:lstStyle/>
          <a:p>
            <a:fld id="{5457A026-CD74-A64B-872B-B0D8D2A810A8}" type="slidenum">
              <a:rPr kumimoji="1" lang="zh-TW" altLang="en-US" smtClean="0"/>
              <a:t>9</a:t>
            </a:fld>
            <a:endParaRPr kumimoji="1" lang="zh-TW" altLang="en-US"/>
          </a:p>
        </p:txBody>
      </p:sp>
      <p:sp>
        <p:nvSpPr>
          <p:cNvPr id="3" name="文字方塊 2">
            <a:extLst>
              <a:ext uri="{FF2B5EF4-FFF2-40B4-BE49-F238E27FC236}">
                <a16:creationId xmlns:a16="http://schemas.microsoft.com/office/drawing/2014/main" id="{30851A30-7E0B-4EBC-6032-19725D5F5715}"/>
              </a:ext>
            </a:extLst>
          </p:cNvPr>
          <p:cNvSpPr txBox="1"/>
          <p:nvPr/>
        </p:nvSpPr>
        <p:spPr>
          <a:xfrm>
            <a:off x="169785" y="6326404"/>
            <a:ext cx="8240307" cy="523220"/>
          </a:xfrm>
          <a:prstGeom prst="rect">
            <a:avLst/>
          </a:prstGeom>
          <a:noFill/>
        </p:spPr>
        <p:txBody>
          <a:bodyPr wrap="square" rtlCol="0">
            <a:spAutoFit/>
          </a:bodyPr>
          <a:lstStyle/>
          <a:p>
            <a:r>
              <a:rPr kumimoji="1" lang="en" altLang="zh-TW" sz="1400" dirty="0"/>
              <a:t>Mo, J., Liang, H., Su, C. et al. DDX3X: structure, physiologic functions and cancer. Mol Cancer 20, 38 (2021).</a:t>
            </a:r>
            <a:endParaRPr kumimoji="1" lang="zh-TW" altLang="en-US" sz="1400" dirty="0"/>
          </a:p>
        </p:txBody>
      </p:sp>
      <p:pic>
        <p:nvPicPr>
          <p:cNvPr id="9" name="內容版面配置區 8" descr="一張含有 文字, 螢幕擷取畫面, 圖表, 行 的圖片&#10;&#10;自動產生的描述">
            <a:extLst>
              <a:ext uri="{FF2B5EF4-FFF2-40B4-BE49-F238E27FC236}">
                <a16:creationId xmlns:a16="http://schemas.microsoft.com/office/drawing/2014/main" id="{8BFDA98D-CEA3-7BCE-8903-C366C9806122}"/>
              </a:ext>
            </a:extLst>
          </p:cNvPr>
          <p:cNvPicPr>
            <a:picLocks noGrp="1" noChangeAspect="1"/>
          </p:cNvPicPr>
          <p:nvPr>
            <p:ph idx="1"/>
          </p:nvPr>
        </p:nvPicPr>
        <p:blipFill>
          <a:blip r:embed="rId3"/>
          <a:stretch>
            <a:fillRect/>
          </a:stretch>
        </p:blipFill>
        <p:spPr>
          <a:xfrm>
            <a:off x="175992" y="1144400"/>
            <a:ext cx="8843700" cy="4665083"/>
          </a:xfrm>
        </p:spPr>
      </p:pic>
    </p:spTree>
    <p:extLst>
      <p:ext uri="{BB962C8B-B14F-4D97-AF65-F5344CB8AC3E}">
        <p14:creationId xmlns:p14="http://schemas.microsoft.com/office/powerpoint/2010/main" val="238154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48272-53A6-B839-6C1D-EC93AC62D1E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1A52373-8607-EF98-8F2A-B2BA7742C474}"/>
              </a:ext>
            </a:extLst>
          </p:cNvPr>
          <p:cNvSpPr>
            <a:spLocks noGrp="1"/>
          </p:cNvSpPr>
          <p:nvPr>
            <p:ph type="title"/>
          </p:nvPr>
        </p:nvSpPr>
        <p:spPr>
          <a:xfrm>
            <a:off x="628650" y="433416"/>
            <a:ext cx="7886700" cy="681037"/>
          </a:xfrm>
        </p:spPr>
        <p:txBody>
          <a:bodyPr>
            <a:normAutofit/>
          </a:bodyPr>
          <a:lstStyle/>
          <a:p>
            <a:r>
              <a:rPr kumimoji="1" lang="en-US" altLang="zh-TW" sz="3600"/>
              <a:t>Summary</a:t>
            </a:r>
            <a:endParaRPr kumimoji="1" lang="zh-TW" altLang="en-US" sz="3600"/>
          </a:p>
        </p:txBody>
      </p:sp>
      <p:sp>
        <p:nvSpPr>
          <p:cNvPr id="3" name="內容版面配置區 2">
            <a:extLst>
              <a:ext uri="{FF2B5EF4-FFF2-40B4-BE49-F238E27FC236}">
                <a16:creationId xmlns:a16="http://schemas.microsoft.com/office/drawing/2014/main" id="{44AC9FBA-5E53-069F-30F8-ABD2B71DA0E9}"/>
              </a:ext>
            </a:extLst>
          </p:cNvPr>
          <p:cNvSpPr>
            <a:spLocks noGrp="1"/>
          </p:cNvSpPr>
          <p:nvPr>
            <p:ph idx="1"/>
          </p:nvPr>
        </p:nvSpPr>
        <p:spPr>
          <a:xfrm>
            <a:off x="628650" y="1121730"/>
            <a:ext cx="7886700" cy="4854233"/>
          </a:xfrm>
        </p:spPr>
        <p:txBody>
          <a:bodyPr>
            <a:noAutofit/>
          </a:bodyPr>
          <a:lstStyle/>
          <a:p>
            <a:pPr>
              <a:lnSpc>
                <a:spcPct val="150000"/>
              </a:lnSpc>
            </a:pPr>
            <a:r>
              <a:rPr kumimoji="1" lang="en-US" altLang="zh-TW" sz="2400" dirty="0">
                <a:solidFill>
                  <a:schemeClr val="bg1">
                    <a:lumMod val="65000"/>
                  </a:schemeClr>
                </a:solidFill>
              </a:rPr>
              <a:t>Introduction</a:t>
            </a:r>
          </a:p>
          <a:p>
            <a:pPr lvl="1">
              <a:lnSpc>
                <a:spcPct val="150000"/>
              </a:lnSpc>
            </a:pPr>
            <a:r>
              <a:rPr kumimoji="1" lang="en-US" altLang="zh-TW" dirty="0">
                <a:solidFill>
                  <a:schemeClr val="bg1">
                    <a:lumMod val="65000"/>
                  </a:schemeClr>
                </a:solidFill>
              </a:rPr>
              <a:t>Programmed Cell Death</a:t>
            </a:r>
          </a:p>
          <a:p>
            <a:pPr lvl="1">
              <a:lnSpc>
                <a:spcPct val="150000"/>
              </a:lnSpc>
            </a:pPr>
            <a:r>
              <a:rPr kumimoji="1" lang="en-US" altLang="zh-TW" dirty="0">
                <a:solidFill>
                  <a:schemeClr val="bg1">
                    <a:lumMod val="65000"/>
                  </a:schemeClr>
                </a:solidFill>
              </a:rPr>
              <a:t>Apoptosis</a:t>
            </a:r>
          </a:p>
          <a:p>
            <a:pPr lvl="1">
              <a:lnSpc>
                <a:spcPct val="150000"/>
              </a:lnSpc>
            </a:pPr>
            <a:r>
              <a:rPr lang="en" altLang="zh-TW" dirty="0">
                <a:solidFill>
                  <a:schemeClr val="bg1">
                    <a:lumMod val="65000"/>
                  </a:schemeClr>
                </a:solidFill>
              </a:rPr>
              <a:t>DDX3</a:t>
            </a:r>
            <a:endParaRPr kumimoji="1" lang="en-US" altLang="zh-TW" dirty="0">
              <a:solidFill>
                <a:schemeClr val="bg1">
                  <a:lumMod val="65000"/>
                </a:schemeClr>
              </a:solidFill>
            </a:endParaRPr>
          </a:p>
          <a:p>
            <a:pPr>
              <a:lnSpc>
                <a:spcPct val="150000"/>
              </a:lnSpc>
            </a:pPr>
            <a:r>
              <a:rPr lang="en" altLang="zh-TW" sz="2400" dirty="0"/>
              <a:t>Related </a:t>
            </a:r>
            <a:r>
              <a:rPr kumimoji="1" lang="en-US" altLang="zh-TW" sz="2400" dirty="0"/>
              <a:t>Research of DDX3 and Apoptosis</a:t>
            </a:r>
          </a:p>
          <a:p>
            <a:pPr>
              <a:lnSpc>
                <a:spcPct val="150000"/>
              </a:lnSpc>
            </a:pPr>
            <a:r>
              <a:rPr kumimoji="1" lang="en-US" altLang="zh-TW" sz="2400" dirty="0">
                <a:solidFill>
                  <a:schemeClr val="bg1">
                    <a:lumMod val="65000"/>
                  </a:schemeClr>
                </a:solidFill>
              </a:rPr>
              <a:t>Conclusion</a:t>
            </a:r>
            <a:endParaRPr kumimoji="1" lang="en-US" altLang="zh-TW" dirty="0">
              <a:solidFill>
                <a:schemeClr val="bg1">
                  <a:lumMod val="65000"/>
                </a:schemeClr>
              </a:solidFill>
            </a:endParaRPr>
          </a:p>
          <a:p>
            <a:pPr lvl="1"/>
            <a:endParaRPr kumimoji="1" lang="en-US" altLang="zh-TW" dirty="0"/>
          </a:p>
          <a:p>
            <a:pPr marL="457200" lvl="1" indent="0">
              <a:buNone/>
            </a:pPr>
            <a:endParaRPr kumimoji="1" lang="en-US" altLang="zh-TW" dirty="0"/>
          </a:p>
          <a:p>
            <a:endParaRPr kumimoji="1" lang="en-US" altLang="zh-TW" sz="2400" dirty="0"/>
          </a:p>
        </p:txBody>
      </p:sp>
      <p:sp>
        <p:nvSpPr>
          <p:cNvPr id="4" name="投影片編號版面配置區 3">
            <a:extLst>
              <a:ext uri="{FF2B5EF4-FFF2-40B4-BE49-F238E27FC236}">
                <a16:creationId xmlns:a16="http://schemas.microsoft.com/office/drawing/2014/main" id="{75CF85CF-CBCB-80DB-20C4-2C8D34E1D865}"/>
              </a:ext>
            </a:extLst>
          </p:cNvPr>
          <p:cNvSpPr>
            <a:spLocks noGrp="1"/>
          </p:cNvSpPr>
          <p:nvPr>
            <p:ph type="sldNum" sz="quarter" idx="12"/>
          </p:nvPr>
        </p:nvSpPr>
        <p:spPr/>
        <p:txBody>
          <a:bodyPr/>
          <a:lstStyle/>
          <a:p>
            <a:fld id="{5457A026-CD74-A64B-872B-B0D8D2A810A8}" type="slidenum">
              <a:rPr kumimoji="1" lang="zh-TW" altLang="en-US" smtClean="0"/>
              <a:t>10</a:t>
            </a:fld>
            <a:endParaRPr kumimoji="1" lang="zh-TW" altLang="en-US"/>
          </a:p>
        </p:txBody>
      </p:sp>
    </p:spTree>
    <p:extLst>
      <p:ext uri="{BB962C8B-B14F-4D97-AF65-F5344CB8AC3E}">
        <p14:creationId xmlns:p14="http://schemas.microsoft.com/office/powerpoint/2010/main" val="3885289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D4A46-18F2-0D11-44A4-809AEAE76ED7}"/>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8E92ED30-B1A2-093F-FFE1-81856153029E}"/>
              </a:ext>
            </a:extLst>
          </p:cNvPr>
          <p:cNvSpPr>
            <a:spLocks noGrp="1"/>
          </p:cNvSpPr>
          <p:nvPr>
            <p:ph idx="1"/>
          </p:nvPr>
        </p:nvSpPr>
        <p:spPr>
          <a:xfrm>
            <a:off x="1079108" y="3736881"/>
            <a:ext cx="6974095" cy="1498309"/>
          </a:xfrm>
        </p:spPr>
        <p:txBody>
          <a:bodyPr>
            <a:noAutofit/>
          </a:bodyPr>
          <a:lstStyle/>
          <a:p>
            <a:pPr marL="0" indent="0" algn="ctr">
              <a:lnSpc>
                <a:spcPct val="100000"/>
              </a:lnSpc>
              <a:spcBef>
                <a:spcPts val="0"/>
              </a:spcBef>
              <a:buNone/>
            </a:pPr>
            <a:r>
              <a:rPr lang="en" altLang="zh-TW" sz="3200" dirty="0">
                <a:solidFill>
                  <a:srgbClr val="1F1F1F"/>
                </a:solidFill>
                <a:latin typeface="+mj-lt"/>
              </a:rPr>
              <a:t>DDX3 regulates DNA damage-induced apoptosis and p53 stabilization </a:t>
            </a:r>
          </a:p>
          <a:p>
            <a:pPr marL="0" indent="0" algn="ctr">
              <a:lnSpc>
                <a:spcPct val="100000"/>
              </a:lnSpc>
              <a:spcBef>
                <a:spcPts val="0"/>
              </a:spcBef>
              <a:buNone/>
            </a:pPr>
            <a:r>
              <a:rPr lang="en" altLang="zh-TW" sz="1600" dirty="0">
                <a:solidFill>
                  <a:srgbClr val="212121"/>
                </a:solidFill>
              </a:rPr>
              <a:t>Sun M, Zhou T, </a:t>
            </a:r>
            <a:r>
              <a:rPr lang="en" altLang="zh-TW" sz="1600" dirty="0" err="1">
                <a:solidFill>
                  <a:srgbClr val="212121"/>
                </a:solidFill>
              </a:rPr>
              <a:t>Jonasch</a:t>
            </a:r>
            <a:r>
              <a:rPr lang="en" altLang="zh-TW" sz="1600" dirty="0">
                <a:solidFill>
                  <a:srgbClr val="212121"/>
                </a:solidFill>
              </a:rPr>
              <a:t> E</a:t>
            </a:r>
            <a:r>
              <a:rPr lang="en" altLang="zh-TW" sz="1600" b="0" i="0" dirty="0">
                <a:solidFill>
                  <a:srgbClr val="212121"/>
                </a:solidFill>
                <a:effectLst/>
              </a:rPr>
              <a:t>. </a:t>
            </a:r>
            <a:r>
              <a:rPr lang="en" altLang="zh-TW" sz="1600" i="1" dirty="0">
                <a:solidFill>
                  <a:srgbClr val="333333"/>
                </a:solidFill>
                <a:effectLst/>
              </a:rPr>
              <a:t>et al</a:t>
            </a:r>
            <a:r>
              <a:rPr lang="en" altLang="zh-TW" sz="1600" dirty="0">
                <a:solidFill>
                  <a:srgbClr val="212121"/>
                </a:solidFill>
              </a:rPr>
              <a:t>. </a:t>
            </a:r>
            <a:r>
              <a:rPr lang="en" altLang="zh-TW" sz="1600" dirty="0" err="1">
                <a:solidFill>
                  <a:srgbClr val="212121"/>
                </a:solidFill>
              </a:rPr>
              <a:t>Biochimica</a:t>
            </a:r>
            <a:r>
              <a:rPr lang="en" altLang="zh-TW" sz="1600" dirty="0">
                <a:solidFill>
                  <a:srgbClr val="212121"/>
                </a:solidFill>
              </a:rPr>
              <a:t> et </a:t>
            </a:r>
            <a:r>
              <a:rPr lang="en" altLang="zh-TW" sz="1600" dirty="0" err="1">
                <a:solidFill>
                  <a:srgbClr val="212121"/>
                </a:solidFill>
              </a:rPr>
              <a:t>Biophysica</a:t>
            </a:r>
            <a:r>
              <a:rPr lang="en" altLang="zh-TW" sz="1600" dirty="0">
                <a:solidFill>
                  <a:srgbClr val="212121"/>
                </a:solidFill>
              </a:rPr>
              <a:t> Acta-Molecular Cell Research 1833(6):1489-97.(2013).</a:t>
            </a:r>
          </a:p>
          <a:p>
            <a:pPr marL="0" indent="0" algn="ctr">
              <a:lnSpc>
                <a:spcPct val="100000"/>
              </a:lnSpc>
              <a:spcBef>
                <a:spcPts val="0"/>
              </a:spcBef>
              <a:buNone/>
            </a:pPr>
            <a:r>
              <a:rPr lang="en" altLang="zh-TW" sz="1600" dirty="0">
                <a:solidFill>
                  <a:srgbClr val="212121"/>
                </a:solidFill>
              </a:rPr>
              <a:t> IF (2024): 3.7</a:t>
            </a:r>
            <a:endParaRPr lang="en" altLang="zh-TW" sz="1600" dirty="0">
              <a:solidFill>
                <a:srgbClr val="212121"/>
              </a:solidFill>
              <a:latin typeface="system-ui"/>
            </a:endParaRPr>
          </a:p>
          <a:p>
            <a:pPr marL="0" indent="0" algn="ctr">
              <a:lnSpc>
                <a:spcPct val="100000"/>
              </a:lnSpc>
              <a:spcBef>
                <a:spcPts val="0"/>
              </a:spcBef>
              <a:buNone/>
            </a:pPr>
            <a:endParaRPr lang="en" altLang="zh-TW" sz="1600" dirty="0">
              <a:solidFill>
                <a:srgbClr val="212121"/>
              </a:solidFill>
              <a:latin typeface="system-ui"/>
            </a:endParaRPr>
          </a:p>
          <a:p>
            <a:pPr marL="0" indent="0" algn="ctr">
              <a:lnSpc>
                <a:spcPct val="100000"/>
              </a:lnSpc>
              <a:spcBef>
                <a:spcPts val="0"/>
              </a:spcBef>
              <a:buNone/>
            </a:pPr>
            <a:endParaRPr kumimoji="1" lang="en-US" altLang="zh-TW" dirty="0"/>
          </a:p>
          <a:p>
            <a:pPr algn="ctr"/>
            <a:endParaRPr kumimoji="1" lang="en-US" altLang="zh-TW" sz="2400" dirty="0"/>
          </a:p>
        </p:txBody>
      </p:sp>
      <p:sp>
        <p:nvSpPr>
          <p:cNvPr id="4" name="投影片編號版面配置區 3">
            <a:extLst>
              <a:ext uri="{FF2B5EF4-FFF2-40B4-BE49-F238E27FC236}">
                <a16:creationId xmlns:a16="http://schemas.microsoft.com/office/drawing/2014/main" id="{DDB4D9CD-1BB1-19F4-B26D-2BC637AC751B}"/>
              </a:ext>
            </a:extLst>
          </p:cNvPr>
          <p:cNvSpPr>
            <a:spLocks noGrp="1"/>
          </p:cNvSpPr>
          <p:nvPr>
            <p:ph type="sldNum" sz="quarter" idx="12"/>
          </p:nvPr>
        </p:nvSpPr>
        <p:spPr/>
        <p:txBody>
          <a:bodyPr/>
          <a:lstStyle/>
          <a:p>
            <a:fld id="{5457A026-CD74-A64B-872B-B0D8D2A810A8}" type="slidenum">
              <a:rPr kumimoji="1" lang="zh-TW" altLang="en-US" smtClean="0"/>
              <a:t>11</a:t>
            </a:fld>
            <a:endParaRPr kumimoji="1" lang="zh-TW" altLang="en-US"/>
          </a:p>
        </p:txBody>
      </p:sp>
      <p:sp>
        <p:nvSpPr>
          <p:cNvPr id="9" name="內容版面配置區 2">
            <a:extLst>
              <a:ext uri="{FF2B5EF4-FFF2-40B4-BE49-F238E27FC236}">
                <a16:creationId xmlns:a16="http://schemas.microsoft.com/office/drawing/2014/main" id="{F3A3F889-BFB9-D870-9ECC-D8AC7F6F6186}"/>
              </a:ext>
            </a:extLst>
          </p:cNvPr>
          <p:cNvSpPr txBox="1">
            <a:spLocks/>
          </p:cNvSpPr>
          <p:nvPr/>
        </p:nvSpPr>
        <p:spPr>
          <a:xfrm>
            <a:off x="1079108" y="1792807"/>
            <a:ext cx="6974094" cy="13251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 altLang="zh-TW" sz="3200" dirty="0">
                <a:solidFill>
                  <a:srgbClr val="1F1F1F"/>
                </a:solidFill>
                <a:latin typeface="+mj-lt"/>
              </a:rPr>
              <a:t>Identification of an antiapoptotic protein complex at death receptors</a:t>
            </a:r>
          </a:p>
          <a:p>
            <a:pPr marL="0" indent="0" algn="ctr">
              <a:lnSpc>
                <a:spcPct val="100000"/>
              </a:lnSpc>
              <a:spcBef>
                <a:spcPts val="0"/>
              </a:spcBef>
              <a:buNone/>
            </a:pPr>
            <a:r>
              <a:rPr lang="en" altLang="zh-TW" sz="1600" b="0" i="0" dirty="0">
                <a:solidFill>
                  <a:srgbClr val="212121"/>
                </a:solidFill>
                <a:effectLst/>
              </a:rPr>
              <a:t>Sun M, Song L, Li Y. </a:t>
            </a:r>
            <a:r>
              <a:rPr lang="en" altLang="zh-TW" sz="1600" i="1" dirty="0">
                <a:solidFill>
                  <a:srgbClr val="333333"/>
                </a:solidFill>
                <a:effectLst/>
              </a:rPr>
              <a:t>et al.</a:t>
            </a:r>
            <a:r>
              <a:rPr lang="en" altLang="zh-TW" sz="1600" b="0" i="0" dirty="0">
                <a:solidFill>
                  <a:srgbClr val="212121"/>
                </a:solidFill>
                <a:effectLst/>
              </a:rPr>
              <a:t> Cell Death Differ</a:t>
            </a:r>
            <a:r>
              <a:rPr lang="en" altLang="zh-TW" sz="1600" dirty="0">
                <a:solidFill>
                  <a:srgbClr val="212121"/>
                </a:solidFill>
              </a:rPr>
              <a:t> 15(12):1887-900. (2008).</a:t>
            </a:r>
          </a:p>
          <a:p>
            <a:pPr marL="0" indent="0" algn="ctr">
              <a:lnSpc>
                <a:spcPct val="100000"/>
              </a:lnSpc>
              <a:spcBef>
                <a:spcPts val="0"/>
              </a:spcBef>
              <a:buNone/>
            </a:pPr>
            <a:r>
              <a:rPr lang="en" altLang="zh-TW" sz="1600" dirty="0">
                <a:solidFill>
                  <a:srgbClr val="212121"/>
                </a:solidFill>
              </a:rPr>
              <a:t> IF (2024): 15.4</a:t>
            </a:r>
            <a:endParaRPr kumimoji="1" lang="en-US" altLang="zh-TW" sz="3200" dirty="0"/>
          </a:p>
        </p:txBody>
      </p:sp>
    </p:spTree>
    <p:extLst>
      <p:ext uri="{BB962C8B-B14F-4D97-AF65-F5344CB8AC3E}">
        <p14:creationId xmlns:p14="http://schemas.microsoft.com/office/powerpoint/2010/main" val="3672209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0B8B7-7D8A-666F-EAFA-99823EA86681}"/>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FB4934C3-014E-22AD-83A5-8CD1F64663F8}"/>
              </a:ext>
            </a:extLst>
          </p:cNvPr>
          <p:cNvSpPr>
            <a:spLocks noGrp="1"/>
          </p:cNvSpPr>
          <p:nvPr>
            <p:ph idx="1"/>
          </p:nvPr>
        </p:nvSpPr>
        <p:spPr>
          <a:xfrm>
            <a:off x="1079108" y="3736881"/>
            <a:ext cx="6974095" cy="1498309"/>
          </a:xfrm>
        </p:spPr>
        <p:txBody>
          <a:bodyPr>
            <a:noAutofit/>
          </a:bodyPr>
          <a:lstStyle/>
          <a:p>
            <a:pPr marL="0" indent="0" algn="ctr">
              <a:lnSpc>
                <a:spcPct val="100000"/>
              </a:lnSpc>
              <a:spcBef>
                <a:spcPts val="0"/>
              </a:spcBef>
              <a:buNone/>
            </a:pPr>
            <a:r>
              <a:rPr lang="en" altLang="zh-TW" sz="3200" dirty="0">
                <a:solidFill>
                  <a:schemeClr val="bg1">
                    <a:lumMod val="65000"/>
                  </a:schemeClr>
                </a:solidFill>
                <a:latin typeface="+mj-lt"/>
              </a:rPr>
              <a:t>DDX3 regulates DNA damage-induced apoptosis and p53 stabilization </a:t>
            </a:r>
          </a:p>
          <a:p>
            <a:pPr marL="0" indent="0" algn="ctr">
              <a:lnSpc>
                <a:spcPct val="100000"/>
              </a:lnSpc>
              <a:spcBef>
                <a:spcPts val="0"/>
              </a:spcBef>
              <a:buNone/>
            </a:pPr>
            <a:r>
              <a:rPr lang="en" altLang="zh-TW" sz="1600" dirty="0">
                <a:solidFill>
                  <a:schemeClr val="bg1">
                    <a:lumMod val="65000"/>
                  </a:schemeClr>
                </a:solidFill>
              </a:rPr>
              <a:t>Sun M, Zhou T, </a:t>
            </a:r>
            <a:r>
              <a:rPr lang="en" altLang="zh-TW" sz="1600" dirty="0" err="1">
                <a:solidFill>
                  <a:schemeClr val="bg1">
                    <a:lumMod val="65000"/>
                  </a:schemeClr>
                </a:solidFill>
              </a:rPr>
              <a:t>Jonasch</a:t>
            </a:r>
            <a:r>
              <a:rPr lang="en" altLang="zh-TW" sz="1600" dirty="0">
                <a:solidFill>
                  <a:schemeClr val="bg1">
                    <a:lumMod val="65000"/>
                  </a:schemeClr>
                </a:solidFill>
              </a:rPr>
              <a:t> E</a:t>
            </a:r>
            <a:r>
              <a:rPr lang="en" altLang="zh-TW" sz="1600" b="0" i="0" dirty="0">
                <a:solidFill>
                  <a:schemeClr val="bg1">
                    <a:lumMod val="65000"/>
                  </a:schemeClr>
                </a:solidFill>
                <a:effectLst/>
              </a:rPr>
              <a:t>. </a:t>
            </a:r>
            <a:r>
              <a:rPr lang="en" altLang="zh-TW" sz="1600" i="1" dirty="0">
                <a:solidFill>
                  <a:schemeClr val="bg1">
                    <a:lumMod val="65000"/>
                  </a:schemeClr>
                </a:solidFill>
                <a:effectLst/>
              </a:rPr>
              <a:t>et al</a:t>
            </a:r>
            <a:r>
              <a:rPr lang="en" altLang="zh-TW" sz="1600" dirty="0">
                <a:solidFill>
                  <a:schemeClr val="bg1">
                    <a:lumMod val="65000"/>
                  </a:schemeClr>
                </a:solidFill>
              </a:rPr>
              <a:t>. </a:t>
            </a:r>
            <a:r>
              <a:rPr lang="en" altLang="zh-TW" sz="1600" dirty="0" err="1">
                <a:solidFill>
                  <a:schemeClr val="bg1">
                    <a:lumMod val="65000"/>
                  </a:schemeClr>
                </a:solidFill>
              </a:rPr>
              <a:t>Biochimica</a:t>
            </a:r>
            <a:r>
              <a:rPr lang="en" altLang="zh-TW" sz="1600" dirty="0">
                <a:solidFill>
                  <a:schemeClr val="bg1">
                    <a:lumMod val="65000"/>
                  </a:schemeClr>
                </a:solidFill>
              </a:rPr>
              <a:t> et </a:t>
            </a:r>
            <a:r>
              <a:rPr lang="en" altLang="zh-TW" sz="1600" dirty="0" err="1">
                <a:solidFill>
                  <a:schemeClr val="bg1">
                    <a:lumMod val="65000"/>
                  </a:schemeClr>
                </a:solidFill>
              </a:rPr>
              <a:t>Biophysica</a:t>
            </a:r>
            <a:r>
              <a:rPr lang="en" altLang="zh-TW" sz="1600" dirty="0">
                <a:solidFill>
                  <a:schemeClr val="bg1">
                    <a:lumMod val="65000"/>
                  </a:schemeClr>
                </a:solidFill>
              </a:rPr>
              <a:t> Acta-Molecular Cell Research 1833(6):1489-97.(2013).</a:t>
            </a:r>
          </a:p>
          <a:p>
            <a:pPr marL="0" indent="0" algn="ctr">
              <a:lnSpc>
                <a:spcPct val="100000"/>
              </a:lnSpc>
              <a:spcBef>
                <a:spcPts val="0"/>
              </a:spcBef>
              <a:buNone/>
            </a:pPr>
            <a:r>
              <a:rPr lang="en" altLang="zh-TW" sz="1600" dirty="0">
                <a:solidFill>
                  <a:schemeClr val="bg1">
                    <a:lumMod val="65000"/>
                  </a:schemeClr>
                </a:solidFill>
              </a:rPr>
              <a:t> IF (2024): 3.7</a:t>
            </a:r>
            <a:endParaRPr lang="en" altLang="zh-TW" sz="1600" dirty="0">
              <a:solidFill>
                <a:schemeClr val="bg1">
                  <a:lumMod val="65000"/>
                </a:schemeClr>
              </a:solidFill>
              <a:latin typeface="system-ui"/>
            </a:endParaRPr>
          </a:p>
          <a:p>
            <a:pPr marL="0" indent="0" algn="ctr">
              <a:lnSpc>
                <a:spcPct val="100000"/>
              </a:lnSpc>
              <a:spcBef>
                <a:spcPts val="0"/>
              </a:spcBef>
              <a:buNone/>
            </a:pPr>
            <a:endParaRPr lang="en" altLang="zh-TW" sz="1600" dirty="0">
              <a:solidFill>
                <a:schemeClr val="bg1">
                  <a:lumMod val="65000"/>
                </a:schemeClr>
              </a:solidFill>
              <a:latin typeface="system-ui"/>
            </a:endParaRPr>
          </a:p>
          <a:p>
            <a:pPr marL="0" indent="0" algn="ctr">
              <a:lnSpc>
                <a:spcPct val="100000"/>
              </a:lnSpc>
              <a:spcBef>
                <a:spcPts val="0"/>
              </a:spcBef>
              <a:buNone/>
            </a:pPr>
            <a:endParaRPr kumimoji="1" lang="en-US" altLang="zh-TW" dirty="0">
              <a:solidFill>
                <a:schemeClr val="bg1">
                  <a:lumMod val="65000"/>
                </a:schemeClr>
              </a:solidFill>
            </a:endParaRPr>
          </a:p>
          <a:p>
            <a:pPr algn="ctr"/>
            <a:endParaRPr kumimoji="1" lang="en-US" altLang="zh-TW" sz="2400" dirty="0">
              <a:solidFill>
                <a:schemeClr val="bg1">
                  <a:lumMod val="65000"/>
                </a:schemeClr>
              </a:solidFill>
            </a:endParaRPr>
          </a:p>
        </p:txBody>
      </p:sp>
      <p:sp>
        <p:nvSpPr>
          <p:cNvPr id="4" name="投影片編號版面配置區 3">
            <a:extLst>
              <a:ext uri="{FF2B5EF4-FFF2-40B4-BE49-F238E27FC236}">
                <a16:creationId xmlns:a16="http://schemas.microsoft.com/office/drawing/2014/main" id="{B410EAAD-3401-BB82-0042-F8FE3F086DE9}"/>
              </a:ext>
            </a:extLst>
          </p:cNvPr>
          <p:cNvSpPr>
            <a:spLocks noGrp="1"/>
          </p:cNvSpPr>
          <p:nvPr>
            <p:ph type="sldNum" sz="quarter" idx="12"/>
          </p:nvPr>
        </p:nvSpPr>
        <p:spPr/>
        <p:txBody>
          <a:bodyPr/>
          <a:lstStyle/>
          <a:p>
            <a:fld id="{5457A026-CD74-A64B-872B-B0D8D2A810A8}" type="slidenum">
              <a:rPr kumimoji="1" lang="zh-TW" altLang="en-US" smtClean="0"/>
              <a:t>12</a:t>
            </a:fld>
            <a:endParaRPr kumimoji="1" lang="zh-TW" altLang="en-US"/>
          </a:p>
        </p:txBody>
      </p:sp>
      <p:sp>
        <p:nvSpPr>
          <p:cNvPr id="9" name="內容版面配置區 2">
            <a:extLst>
              <a:ext uri="{FF2B5EF4-FFF2-40B4-BE49-F238E27FC236}">
                <a16:creationId xmlns:a16="http://schemas.microsoft.com/office/drawing/2014/main" id="{18499EBC-47FD-D15E-3FCA-E1607B394764}"/>
              </a:ext>
            </a:extLst>
          </p:cNvPr>
          <p:cNvSpPr txBox="1">
            <a:spLocks/>
          </p:cNvSpPr>
          <p:nvPr/>
        </p:nvSpPr>
        <p:spPr>
          <a:xfrm>
            <a:off x="1079108" y="1792807"/>
            <a:ext cx="6974094" cy="13251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 altLang="zh-TW" sz="3200" dirty="0">
                <a:solidFill>
                  <a:srgbClr val="1F1F1F"/>
                </a:solidFill>
                <a:latin typeface="+mj-lt"/>
              </a:rPr>
              <a:t>Identification of an antiapoptotic protein complex at death receptors</a:t>
            </a:r>
          </a:p>
          <a:p>
            <a:pPr marL="0" indent="0" algn="ctr">
              <a:lnSpc>
                <a:spcPct val="100000"/>
              </a:lnSpc>
              <a:spcBef>
                <a:spcPts val="0"/>
              </a:spcBef>
              <a:buNone/>
            </a:pPr>
            <a:r>
              <a:rPr lang="en" altLang="zh-TW" sz="1600" b="0" i="0" dirty="0">
                <a:solidFill>
                  <a:srgbClr val="212121"/>
                </a:solidFill>
                <a:effectLst/>
              </a:rPr>
              <a:t>Sun M, Song L, Li Y. </a:t>
            </a:r>
            <a:r>
              <a:rPr lang="en" altLang="zh-TW" sz="1600" i="1" dirty="0">
                <a:solidFill>
                  <a:srgbClr val="333333"/>
                </a:solidFill>
                <a:effectLst/>
              </a:rPr>
              <a:t>et al.</a:t>
            </a:r>
            <a:r>
              <a:rPr lang="en" altLang="zh-TW" sz="1600" b="0" i="0" dirty="0">
                <a:solidFill>
                  <a:srgbClr val="212121"/>
                </a:solidFill>
                <a:effectLst/>
              </a:rPr>
              <a:t> Cell Death Differ</a:t>
            </a:r>
            <a:r>
              <a:rPr lang="en" altLang="zh-TW" sz="1600" dirty="0">
                <a:solidFill>
                  <a:srgbClr val="212121"/>
                </a:solidFill>
              </a:rPr>
              <a:t> 15(12):1887-900. (2008).</a:t>
            </a:r>
          </a:p>
          <a:p>
            <a:pPr marL="0" indent="0" algn="ctr">
              <a:lnSpc>
                <a:spcPct val="100000"/>
              </a:lnSpc>
              <a:spcBef>
                <a:spcPts val="0"/>
              </a:spcBef>
              <a:buNone/>
            </a:pPr>
            <a:r>
              <a:rPr lang="en" altLang="zh-TW" sz="1600" dirty="0">
                <a:solidFill>
                  <a:srgbClr val="212121"/>
                </a:solidFill>
              </a:rPr>
              <a:t> IF (2024): 15.4</a:t>
            </a:r>
            <a:endParaRPr kumimoji="1" lang="en-US" altLang="zh-TW" sz="3200" dirty="0"/>
          </a:p>
        </p:txBody>
      </p:sp>
    </p:spTree>
    <p:extLst>
      <p:ext uri="{BB962C8B-B14F-4D97-AF65-F5344CB8AC3E}">
        <p14:creationId xmlns:p14="http://schemas.microsoft.com/office/powerpoint/2010/main" val="4194761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0DC6D-AF2A-5E3B-C8E4-C277CDA5049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EB8F7E8-0BA0-F329-C588-368FBDDBF36F}"/>
              </a:ext>
            </a:extLst>
          </p:cNvPr>
          <p:cNvSpPr>
            <a:spLocks noGrp="1"/>
          </p:cNvSpPr>
          <p:nvPr>
            <p:ph type="title"/>
          </p:nvPr>
        </p:nvSpPr>
        <p:spPr>
          <a:xfrm>
            <a:off x="628650" y="433416"/>
            <a:ext cx="7886700" cy="681037"/>
          </a:xfrm>
        </p:spPr>
        <p:txBody>
          <a:bodyPr>
            <a:normAutofit/>
          </a:bodyPr>
          <a:lstStyle/>
          <a:p>
            <a:r>
              <a:rPr kumimoji="1" lang="en-US" altLang="zh-TW" sz="3200" dirty="0"/>
              <a:t>Extrinsic Apoptosis</a:t>
            </a:r>
            <a:endParaRPr kumimoji="1" lang="zh-TW" altLang="en-US" sz="3200" dirty="0"/>
          </a:p>
        </p:txBody>
      </p:sp>
      <p:sp>
        <p:nvSpPr>
          <p:cNvPr id="3" name="內容版面配置區 2">
            <a:extLst>
              <a:ext uri="{FF2B5EF4-FFF2-40B4-BE49-F238E27FC236}">
                <a16:creationId xmlns:a16="http://schemas.microsoft.com/office/drawing/2014/main" id="{EBD47754-3CD0-3D2C-D5C5-E8C8C40E204A}"/>
              </a:ext>
            </a:extLst>
          </p:cNvPr>
          <p:cNvSpPr txBox="1">
            <a:spLocks/>
          </p:cNvSpPr>
          <p:nvPr/>
        </p:nvSpPr>
        <p:spPr>
          <a:xfrm>
            <a:off x="564263" y="1103848"/>
            <a:ext cx="8015473" cy="48542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endParaRPr kumimoji="1" lang="en-US" altLang="zh-TW" sz="2000"/>
          </a:p>
          <a:p>
            <a:endParaRPr kumimoji="1" lang="en-US" altLang="zh-TW" sz="2000"/>
          </a:p>
        </p:txBody>
      </p:sp>
      <p:sp>
        <p:nvSpPr>
          <p:cNvPr id="10" name="矩形 9">
            <a:extLst>
              <a:ext uri="{FF2B5EF4-FFF2-40B4-BE49-F238E27FC236}">
                <a16:creationId xmlns:a16="http://schemas.microsoft.com/office/drawing/2014/main" id="{961995F7-02CD-C3B1-A699-7A3181D08B7E}"/>
              </a:ext>
            </a:extLst>
          </p:cNvPr>
          <p:cNvSpPr/>
          <p:nvPr/>
        </p:nvSpPr>
        <p:spPr>
          <a:xfrm>
            <a:off x="410010" y="3889432"/>
            <a:ext cx="511122" cy="10297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矩形 11">
            <a:extLst>
              <a:ext uri="{FF2B5EF4-FFF2-40B4-BE49-F238E27FC236}">
                <a16:creationId xmlns:a16="http://schemas.microsoft.com/office/drawing/2014/main" id="{502E80E2-A9AC-5A29-9C1F-C7F8A421240A}"/>
              </a:ext>
            </a:extLst>
          </p:cNvPr>
          <p:cNvSpPr/>
          <p:nvPr/>
        </p:nvSpPr>
        <p:spPr>
          <a:xfrm>
            <a:off x="3495462" y="1556760"/>
            <a:ext cx="1778629" cy="13964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矩形 13">
            <a:extLst>
              <a:ext uri="{FF2B5EF4-FFF2-40B4-BE49-F238E27FC236}">
                <a16:creationId xmlns:a16="http://schemas.microsoft.com/office/drawing/2014/main" id="{87EC830C-EB6F-C524-E82E-D6E2B8B5DB9E}"/>
              </a:ext>
            </a:extLst>
          </p:cNvPr>
          <p:cNvSpPr/>
          <p:nvPr/>
        </p:nvSpPr>
        <p:spPr>
          <a:xfrm>
            <a:off x="5233792" y="2444940"/>
            <a:ext cx="438834" cy="2536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矩形 14">
            <a:extLst>
              <a:ext uri="{FF2B5EF4-FFF2-40B4-BE49-F238E27FC236}">
                <a16:creationId xmlns:a16="http://schemas.microsoft.com/office/drawing/2014/main" id="{22763080-84F4-79D2-6A0C-EF93786F44ED}"/>
              </a:ext>
            </a:extLst>
          </p:cNvPr>
          <p:cNvSpPr/>
          <p:nvPr/>
        </p:nvSpPr>
        <p:spPr>
          <a:xfrm>
            <a:off x="6350627" y="1994239"/>
            <a:ext cx="2199883" cy="4093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矩形 15">
            <a:extLst>
              <a:ext uri="{FF2B5EF4-FFF2-40B4-BE49-F238E27FC236}">
                <a16:creationId xmlns:a16="http://schemas.microsoft.com/office/drawing/2014/main" id="{A087436C-AC3A-1766-46E9-A3184D159B6C}"/>
              </a:ext>
            </a:extLst>
          </p:cNvPr>
          <p:cNvSpPr/>
          <p:nvPr/>
        </p:nvSpPr>
        <p:spPr>
          <a:xfrm>
            <a:off x="7708002" y="1579304"/>
            <a:ext cx="1038522" cy="4669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矩形 16">
            <a:extLst>
              <a:ext uri="{FF2B5EF4-FFF2-40B4-BE49-F238E27FC236}">
                <a16:creationId xmlns:a16="http://schemas.microsoft.com/office/drawing/2014/main" id="{90756DB5-CB3F-6798-6462-BC0A553AD0C6}"/>
              </a:ext>
            </a:extLst>
          </p:cNvPr>
          <p:cNvSpPr/>
          <p:nvPr/>
        </p:nvSpPr>
        <p:spPr>
          <a:xfrm>
            <a:off x="7699212" y="3335388"/>
            <a:ext cx="1038522" cy="766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FED606F8-0A03-B50C-2509-CF5E87354067}"/>
              </a:ext>
            </a:extLst>
          </p:cNvPr>
          <p:cNvSpPr/>
          <p:nvPr/>
        </p:nvSpPr>
        <p:spPr>
          <a:xfrm>
            <a:off x="6303822" y="883863"/>
            <a:ext cx="2199883" cy="5324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矩形 18">
            <a:extLst>
              <a:ext uri="{FF2B5EF4-FFF2-40B4-BE49-F238E27FC236}">
                <a16:creationId xmlns:a16="http://schemas.microsoft.com/office/drawing/2014/main" id="{F854F490-36FE-4A3D-7C65-7D003A97DEF6}"/>
              </a:ext>
            </a:extLst>
          </p:cNvPr>
          <p:cNvSpPr/>
          <p:nvPr/>
        </p:nvSpPr>
        <p:spPr>
          <a:xfrm>
            <a:off x="6274597" y="2258850"/>
            <a:ext cx="76031" cy="1243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5D593303-0F53-8E04-A021-3295309D9AF4}"/>
              </a:ext>
            </a:extLst>
          </p:cNvPr>
          <p:cNvSpPr/>
          <p:nvPr/>
        </p:nvSpPr>
        <p:spPr>
          <a:xfrm>
            <a:off x="1670028" y="3889432"/>
            <a:ext cx="608478" cy="382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矩形 20">
            <a:extLst>
              <a:ext uri="{FF2B5EF4-FFF2-40B4-BE49-F238E27FC236}">
                <a16:creationId xmlns:a16="http://schemas.microsoft.com/office/drawing/2014/main" id="{EE8C9F8B-D3EB-10C8-F005-9177EC36C906}"/>
              </a:ext>
            </a:extLst>
          </p:cNvPr>
          <p:cNvSpPr/>
          <p:nvPr/>
        </p:nvSpPr>
        <p:spPr>
          <a:xfrm>
            <a:off x="4053649" y="3335388"/>
            <a:ext cx="986411" cy="3744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920487F4-E1C3-C656-79DC-A45AE332A1A6}"/>
              </a:ext>
            </a:extLst>
          </p:cNvPr>
          <p:cNvSpPr/>
          <p:nvPr/>
        </p:nvSpPr>
        <p:spPr>
          <a:xfrm>
            <a:off x="4993254" y="4973889"/>
            <a:ext cx="1090248" cy="7325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投影片編號版面配置區 3">
            <a:extLst>
              <a:ext uri="{FF2B5EF4-FFF2-40B4-BE49-F238E27FC236}">
                <a16:creationId xmlns:a16="http://schemas.microsoft.com/office/drawing/2014/main" id="{165A0368-09C3-8346-87A9-A26A8B165C44}"/>
              </a:ext>
            </a:extLst>
          </p:cNvPr>
          <p:cNvSpPr>
            <a:spLocks noGrp="1"/>
          </p:cNvSpPr>
          <p:nvPr>
            <p:ph type="sldNum" sz="quarter" idx="12"/>
          </p:nvPr>
        </p:nvSpPr>
        <p:spPr>
          <a:xfrm>
            <a:off x="6457950" y="6340295"/>
            <a:ext cx="2057400" cy="365125"/>
          </a:xfrm>
        </p:spPr>
        <p:txBody>
          <a:bodyPr/>
          <a:lstStyle/>
          <a:p>
            <a:fld id="{5457A026-CD74-A64B-872B-B0D8D2A810A8}" type="slidenum">
              <a:rPr kumimoji="1" lang="zh-TW" altLang="en-US" smtClean="0"/>
              <a:t>13</a:t>
            </a:fld>
            <a:endParaRPr kumimoji="1" lang="zh-TW" altLang="en-US"/>
          </a:p>
        </p:txBody>
      </p:sp>
      <p:sp>
        <p:nvSpPr>
          <p:cNvPr id="23" name="矩形 22">
            <a:extLst>
              <a:ext uri="{FF2B5EF4-FFF2-40B4-BE49-F238E27FC236}">
                <a16:creationId xmlns:a16="http://schemas.microsoft.com/office/drawing/2014/main" id="{E4A596CA-DC3F-DD6A-E3DE-99737DCBCB96}"/>
              </a:ext>
            </a:extLst>
          </p:cNvPr>
          <p:cNvSpPr/>
          <p:nvPr/>
        </p:nvSpPr>
        <p:spPr>
          <a:xfrm>
            <a:off x="510246" y="2444940"/>
            <a:ext cx="511122" cy="4915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 name="矩形 23">
            <a:extLst>
              <a:ext uri="{FF2B5EF4-FFF2-40B4-BE49-F238E27FC236}">
                <a16:creationId xmlns:a16="http://schemas.microsoft.com/office/drawing/2014/main" id="{0F4381DD-5A4D-A4B2-D129-CB457EA34F0D}"/>
              </a:ext>
            </a:extLst>
          </p:cNvPr>
          <p:cNvSpPr/>
          <p:nvPr/>
        </p:nvSpPr>
        <p:spPr>
          <a:xfrm>
            <a:off x="5198890" y="2685776"/>
            <a:ext cx="129217" cy="3142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矩形 24">
            <a:extLst>
              <a:ext uri="{FF2B5EF4-FFF2-40B4-BE49-F238E27FC236}">
                <a16:creationId xmlns:a16="http://schemas.microsoft.com/office/drawing/2014/main" id="{A8C7E9C7-8A99-C443-DF01-56EF55B6F196}"/>
              </a:ext>
            </a:extLst>
          </p:cNvPr>
          <p:cNvSpPr/>
          <p:nvPr/>
        </p:nvSpPr>
        <p:spPr>
          <a:xfrm>
            <a:off x="6257016" y="2181294"/>
            <a:ext cx="76031" cy="1243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8" name="內容版面配置區 7" descr="一張含有 文字, 圖表, 螢幕擷取畫面, 地圖 的圖片&#10;&#10;自動產生的描述">
            <a:extLst>
              <a:ext uri="{FF2B5EF4-FFF2-40B4-BE49-F238E27FC236}">
                <a16:creationId xmlns:a16="http://schemas.microsoft.com/office/drawing/2014/main" id="{BD7B009B-4318-ED49-C367-AB93088A613D}"/>
              </a:ext>
            </a:extLst>
          </p:cNvPr>
          <p:cNvPicPr>
            <a:picLocks noGrp="1" noChangeAspect="1"/>
          </p:cNvPicPr>
          <p:nvPr>
            <p:ph idx="1"/>
          </p:nvPr>
        </p:nvPicPr>
        <p:blipFill>
          <a:blip r:embed="rId3"/>
          <a:stretch>
            <a:fillRect/>
          </a:stretch>
        </p:blipFill>
        <p:spPr>
          <a:xfrm>
            <a:off x="1350350" y="1103848"/>
            <a:ext cx="6393007" cy="5524665"/>
          </a:xfrm>
        </p:spPr>
      </p:pic>
      <p:sp>
        <p:nvSpPr>
          <p:cNvPr id="5" name="矩形 4">
            <a:extLst>
              <a:ext uri="{FF2B5EF4-FFF2-40B4-BE49-F238E27FC236}">
                <a16:creationId xmlns:a16="http://schemas.microsoft.com/office/drawing/2014/main" id="{DE5ABBED-1B98-9D01-3556-C9AD7875696A}"/>
              </a:ext>
            </a:extLst>
          </p:cNvPr>
          <p:cNvSpPr/>
          <p:nvPr/>
        </p:nvSpPr>
        <p:spPr>
          <a:xfrm>
            <a:off x="1278634" y="1123846"/>
            <a:ext cx="2878622" cy="2305153"/>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283788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D7D5D-2BCF-2DBE-C16F-ECF86831013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6788937-C1BA-2608-E4C9-1784776962BC}"/>
              </a:ext>
            </a:extLst>
          </p:cNvPr>
          <p:cNvSpPr>
            <a:spLocks noGrp="1"/>
          </p:cNvSpPr>
          <p:nvPr>
            <p:ph type="title"/>
          </p:nvPr>
        </p:nvSpPr>
        <p:spPr>
          <a:xfrm>
            <a:off x="461414" y="460048"/>
            <a:ext cx="8416820" cy="681037"/>
          </a:xfrm>
        </p:spPr>
        <p:txBody>
          <a:bodyPr>
            <a:noAutofit/>
          </a:bodyPr>
          <a:lstStyle/>
          <a:p>
            <a:pPr lvl="1"/>
            <a:r>
              <a:rPr lang="en" altLang="zh-TW" sz="3000" dirty="0">
                <a:latin typeface="+mj-lt"/>
              </a:rPr>
              <a:t>GSK3 impedes death receptor-induced caspase-3 activation</a:t>
            </a:r>
          </a:p>
        </p:txBody>
      </p:sp>
      <p:sp>
        <p:nvSpPr>
          <p:cNvPr id="4" name="投影片編號版面配置區 3">
            <a:extLst>
              <a:ext uri="{FF2B5EF4-FFF2-40B4-BE49-F238E27FC236}">
                <a16:creationId xmlns:a16="http://schemas.microsoft.com/office/drawing/2014/main" id="{0B31CFBE-C726-ED41-A5CF-4D93D64ED661}"/>
              </a:ext>
            </a:extLst>
          </p:cNvPr>
          <p:cNvSpPr>
            <a:spLocks noGrp="1"/>
          </p:cNvSpPr>
          <p:nvPr>
            <p:ph type="sldNum" sz="quarter" idx="12"/>
          </p:nvPr>
        </p:nvSpPr>
        <p:spPr/>
        <p:txBody>
          <a:bodyPr/>
          <a:lstStyle/>
          <a:p>
            <a:fld id="{5457A026-CD74-A64B-872B-B0D8D2A810A8}" type="slidenum">
              <a:rPr kumimoji="1" lang="zh-TW" altLang="en-US" smtClean="0"/>
              <a:t>14</a:t>
            </a:fld>
            <a:endParaRPr kumimoji="1" lang="zh-TW" altLang="en-US"/>
          </a:p>
        </p:txBody>
      </p:sp>
      <p:pic>
        <p:nvPicPr>
          <p:cNvPr id="9" name="圖片 8" descr="一張含有 文字, 圖表, 行, 平行 的圖片&#10;&#10;自動產生的描述">
            <a:extLst>
              <a:ext uri="{FF2B5EF4-FFF2-40B4-BE49-F238E27FC236}">
                <a16:creationId xmlns:a16="http://schemas.microsoft.com/office/drawing/2014/main" id="{9934AA73-D289-0343-A66B-9FC8E3A44F8F}"/>
              </a:ext>
            </a:extLst>
          </p:cNvPr>
          <p:cNvPicPr>
            <a:picLocks noChangeAspect="1"/>
          </p:cNvPicPr>
          <p:nvPr/>
        </p:nvPicPr>
        <p:blipFill>
          <a:blip r:embed="rId3"/>
          <a:srcRect t="-2" b="18935"/>
          <a:stretch/>
        </p:blipFill>
        <p:spPr>
          <a:xfrm>
            <a:off x="125430" y="1672784"/>
            <a:ext cx="6121765" cy="5126248"/>
          </a:xfrm>
          <a:prstGeom prst="rect">
            <a:avLst/>
          </a:prstGeom>
        </p:spPr>
      </p:pic>
      <p:sp>
        <p:nvSpPr>
          <p:cNvPr id="3" name="文字方塊 2">
            <a:extLst>
              <a:ext uri="{FF2B5EF4-FFF2-40B4-BE49-F238E27FC236}">
                <a16:creationId xmlns:a16="http://schemas.microsoft.com/office/drawing/2014/main" id="{FEC37D0B-6D5F-4DA5-ED39-3F4B337163D9}"/>
              </a:ext>
            </a:extLst>
          </p:cNvPr>
          <p:cNvSpPr txBox="1"/>
          <p:nvPr/>
        </p:nvSpPr>
        <p:spPr>
          <a:xfrm>
            <a:off x="3963522" y="1050715"/>
            <a:ext cx="5718086" cy="584775"/>
          </a:xfrm>
          <a:prstGeom prst="rect">
            <a:avLst/>
          </a:prstGeom>
          <a:noFill/>
        </p:spPr>
        <p:txBody>
          <a:bodyPr wrap="square" rtlCol="0">
            <a:spAutoFit/>
          </a:bodyPr>
          <a:lstStyle/>
          <a:p>
            <a:r>
              <a:rPr lang="en" altLang="zh-TW" sz="1600" b="0" i="0" dirty="0">
                <a:solidFill>
                  <a:srgbClr val="222222"/>
                </a:solidFill>
                <a:effectLst/>
                <a:latin typeface="-apple-system"/>
              </a:rPr>
              <a:t>GSK3</a:t>
            </a:r>
            <a:r>
              <a:rPr lang="zh-TW" altLang="en-US" sz="1600" b="0" i="0" dirty="0">
                <a:solidFill>
                  <a:srgbClr val="222222"/>
                </a:solidFill>
                <a:effectLst/>
                <a:latin typeface="-apple-system"/>
              </a:rPr>
              <a:t>：</a:t>
            </a:r>
            <a:r>
              <a:rPr lang="en" altLang="zh-TW" sz="1600" b="0" i="0" dirty="0">
                <a:solidFill>
                  <a:srgbClr val="222222"/>
                </a:solidFill>
                <a:effectLst/>
                <a:latin typeface="-apple-system"/>
              </a:rPr>
              <a:t>glycogen synthase kinase-3</a:t>
            </a:r>
          </a:p>
          <a:p>
            <a:r>
              <a:rPr lang="en" altLang="zh-TW" sz="1600" dirty="0"/>
              <a:t>TRA-8</a:t>
            </a:r>
            <a:r>
              <a:rPr lang="zh-TW" altLang="en-US" sz="1600" dirty="0"/>
              <a:t>：</a:t>
            </a:r>
            <a:r>
              <a:rPr lang="en" altLang="zh-TW" sz="1600" dirty="0"/>
              <a:t> Anti-human DR5 monoclonal antibody TRA-8</a:t>
            </a:r>
            <a:endParaRPr kumimoji="1" lang="zh-TW" altLang="en-US" sz="1600" dirty="0"/>
          </a:p>
        </p:txBody>
      </p:sp>
      <p:pic>
        <p:nvPicPr>
          <p:cNvPr id="7" name="圖片 6" descr="一張含有 文字, 圖表, 行, 平行 的圖片&#10;&#10;自動產生的描述">
            <a:extLst>
              <a:ext uri="{FF2B5EF4-FFF2-40B4-BE49-F238E27FC236}">
                <a16:creationId xmlns:a16="http://schemas.microsoft.com/office/drawing/2014/main" id="{9A761777-7010-2E2B-7A1F-20965536A75E}"/>
              </a:ext>
            </a:extLst>
          </p:cNvPr>
          <p:cNvPicPr>
            <a:picLocks noChangeAspect="1"/>
          </p:cNvPicPr>
          <p:nvPr/>
        </p:nvPicPr>
        <p:blipFill>
          <a:blip r:embed="rId3"/>
          <a:srcRect t="80562" r="49631" b="-582"/>
          <a:stretch/>
        </p:blipFill>
        <p:spPr>
          <a:xfrm>
            <a:off x="6175137" y="2492880"/>
            <a:ext cx="2890239" cy="1186576"/>
          </a:xfrm>
          <a:prstGeom prst="rect">
            <a:avLst/>
          </a:prstGeom>
        </p:spPr>
      </p:pic>
      <p:pic>
        <p:nvPicPr>
          <p:cNvPr id="8" name="圖片 7" descr="一張含有 文字, 圖表, 行, 平行 的圖片&#10;&#10;自動產生的描述">
            <a:extLst>
              <a:ext uri="{FF2B5EF4-FFF2-40B4-BE49-F238E27FC236}">
                <a16:creationId xmlns:a16="http://schemas.microsoft.com/office/drawing/2014/main" id="{53FCAAE0-3430-CBC9-1775-2D54D1A8A227}"/>
              </a:ext>
            </a:extLst>
          </p:cNvPr>
          <p:cNvPicPr>
            <a:picLocks noChangeAspect="1"/>
          </p:cNvPicPr>
          <p:nvPr/>
        </p:nvPicPr>
        <p:blipFill>
          <a:blip r:embed="rId3"/>
          <a:srcRect l="50000" t="80562" b="-582"/>
          <a:stretch/>
        </p:blipFill>
        <p:spPr>
          <a:xfrm>
            <a:off x="6152679" y="3787022"/>
            <a:ext cx="2869086" cy="1186576"/>
          </a:xfrm>
          <a:prstGeom prst="rect">
            <a:avLst/>
          </a:prstGeom>
        </p:spPr>
      </p:pic>
    </p:spTree>
    <p:extLst>
      <p:ext uri="{BB962C8B-B14F-4D97-AF65-F5344CB8AC3E}">
        <p14:creationId xmlns:p14="http://schemas.microsoft.com/office/powerpoint/2010/main" val="2828434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80687-D1DE-BB18-9C10-3BAD893F1454}"/>
            </a:ext>
          </a:extLst>
        </p:cNvPr>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A28E17DE-0B75-3295-C284-7627C7EB18B2}"/>
              </a:ext>
            </a:extLst>
          </p:cNvPr>
          <p:cNvSpPr>
            <a:spLocks noGrp="1"/>
          </p:cNvSpPr>
          <p:nvPr>
            <p:ph type="sldNum" sz="quarter" idx="12"/>
          </p:nvPr>
        </p:nvSpPr>
        <p:spPr/>
        <p:txBody>
          <a:bodyPr/>
          <a:lstStyle/>
          <a:p>
            <a:fld id="{5457A026-CD74-A64B-872B-B0D8D2A810A8}" type="slidenum">
              <a:rPr kumimoji="1" lang="zh-TW" altLang="en-US" smtClean="0"/>
              <a:t>15</a:t>
            </a:fld>
            <a:endParaRPr kumimoji="1" lang="zh-TW" altLang="en-US"/>
          </a:p>
        </p:txBody>
      </p:sp>
      <p:sp>
        <p:nvSpPr>
          <p:cNvPr id="9" name="內容版面配置區 2">
            <a:extLst>
              <a:ext uri="{FF2B5EF4-FFF2-40B4-BE49-F238E27FC236}">
                <a16:creationId xmlns:a16="http://schemas.microsoft.com/office/drawing/2014/main" id="{077DF5C0-287E-B831-3747-185237E6C206}"/>
              </a:ext>
            </a:extLst>
          </p:cNvPr>
          <p:cNvSpPr txBox="1">
            <a:spLocks/>
          </p:cNvSpPr>
          <p:nvPr/>
        </p:nvSpPr>
        <p:spPr>
          <a:xfrm>
            <a:off x="6567100" y="2914134"/>
            <a:ext cx="2311052"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dirty="0"/>
              <a:t>Apoptosis</a:t>
            </a:r>
          </a:p>
        </p:txBody>
      </p:sp>
      <p:sp>
        <p:nvSpPr>
          <p:cNvPr id="2" name="內容版面配置區 2">
            <a:extLst>
              <a:ext uri="{FF2B5EF4-FFF2-40B4-BE49-F238E27FC236}">
                <a16:creationId xmlns:a16="http://schemas.microsoft.com/office/drawing/2014/main" id="{C3F9351B-4C3F-8D2C-CCD4-4F4724A7F688}"/>
              </a:ext>
            </a:extLst>
          </p:cNvPr>
          <p:cNvSpPr txBox="1">
            <a:spLocks/>
          </p:cNvSpPr>
          <p:nvPr/>
        </p:nvSpPr>
        <p:spPr>
          <a:xfrm>
            <a:off x="1751872" y="1484938"/>
            <a:ext cx="1437276" cy="561672"/>
          </a:xfrm>
          <a:prstGeom prst="rect">
            <a:avLst/>
          </a:prstGeom>
          <a:ln w="38100"/>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dirty="0">
                <a:solidFill>
                  <a:schemeClr val="accent2"/>
                </a:solidFill>
              </a:rPr>
              <a:t>GSK3</a:t>
            </a:r>
          </a:p>
        </p:txBody>
      </p:sp>
      <p:sp>
        <p:nvSpPr>
          <p:cNvPr id="5" name="內容版面配置區 2">
            <a:extLst>
              <a:ext uri="{FF2B5EF4-FFF2-40B4-BE49-F238E27FC236}">
                <a16:creationId xmlns:a16="http://schemas.microsoft.com/office/drawing/2014/main" id="{D272B867-F3BC-1C00-93D0-6647700274EB}"/>
              </a:ext>
            </a:extLst>
          </p:cNvPr>
          <p:cNvSpPr txBox="1">
            <a:spLocks/>
          </p:cNvSpPr>
          <p:nvPr/>
        </p:nvSpPr>
        <p:spPr>
          <a:xfrm>
            <a:off x="2582745" y="2925732"/>
            <a:ext cx="3978510"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dirty="0"/>
              <a:t>Caspase-3 activate</a:t>
            </a:r>
          </a:p>
        </p:txBody>
      </p:sp>
      <p:sp>
        <p:nvSpPr>
          <p:cNvPr id="11" name="向右箭號 10">
            <a:extLst>
              <a:ext uri="{FF2B5EF4-FFF2-40B4-BE49-F238E27FC236}">
                <a16:creationId xmlns:a16="http://schemas.microsoft.com/office/drawing/2014/main" id="{F1B93D46-3EBB-6886-AFAF-B16D87120D87}"/>
              </a:ext>
            </a:extLst>
          </p:cNvPr>
          <p:cNvSpPr/>
          <p:nvPr/>
        </p:nvSpPr>
        <p:spPr>
          <a:xfrm>
            <a:off x="2107830" y="3104784"/>
            <a:ext cx="872767" cy="157295"/>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18" name="群組 17">
            <a:extLst>
              <a:ext uri="{FF2B5EF4-FFF2-40B4-BE49-F238E27FC236}">
                <a16:creationId xmlns:a16="http://schemas.microsoft.com/office/drawing/2014/main" id="{150B2662-D99F-7B73-6879-8F5D87A72046}"/>
              </a:ext>
            </a:extLst>
          </p:cNvPr>
          <p:cNvGrpSpPr/>
          <p:nvPr/>
        </p:nvGrpSpPr>
        <p:grpSpPr>
          <a:xfrm>
            <a:off x="2325312" y="2222610"/>
            <a:ext cx="346265" cy="651822"/>
            <a:chOff x="1529610" y="2141973"/>
            <a:chExt cx="468060" cy="702090"/>
          </a:xfrm>
          <a:solidFill>
            <a:schemeClr val="accent2"/>
          </a:solidFill>
        </p:grpSpPr>
        <p:sp>
          <p:nvSpPr>
            <p:cNvPr id="16" name="矩形 15">
              <a:extLst>
                <a:ext uri="{FF2B5EF4-FFF2-40B4-BE49-F238E27FC236}">
                  <a16:creationId xmlns:a16="http://schemas.microsoft.com/office/drawing/2014/main" id="{73241D25-E2CE-1F97-1C57-F0B9E6D803E4}"/>
                </a:ext>
              </a:extLst>
            </p:cNvPr>
            <p:cNvSpPr/>
            <p:nvPr/>
          </p:nvSpPr>
          <p:spPr>
            <a:xfrm>
              <a:off x="1716834" y="2141973"/>
              <a:ext cx="93612" cy="70209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7" name="矩形 16">
              <a:extLst>
                <a:ext uri="{FF2B5EF4-FFF2-40B4-BE49-F238E27FC236}">
                  <a16:creationId xmlns:a16="http://schemas.microsoft.com/office/drawing/2014/main" id="{689D41FB-2223-0039-F4B0-8C3663247C32}"/>
                </a:ext>
              </a:extLst>
            </p:cNvPr>
            <p:cNvSpPr/>
            <p:nvPr/>
          </p:nvSpPr>
          <p:spPr>
            <a:xfrm>
              <a:off x="1529610" y="2770754"/>
              <a:ext cx="468060" cy="7330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20" name="內容版面配置區 2">
            <a:extLst>
              <a:ext uri="{FF2B5EF4-FFF2-40B4-BE49-F238E27FC236}">
                <a16:creationId xmlns:a16="http://schemas.microsoft.com/office/drawing/2014/main" id="{8B4C7F05-7918-842A-FDEC-7D5BB1325584}"/>
              </a:ext>
            </a:extLst>
          </p:cNvPr>
          <p:cNvSpPr txBox="1">
            <a:spLocks/>
          </p:cNvSpPr>
          <p:nvPr/>
        </p:nvSpPr>
        <p:spPr>
          <a:xfrm>
            <a:off x="355948" y="2930759"/>
            <a:ext cx="1857252"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 altLang="zh-TW" dirty="0"/>
              <a:t>TRAIL-R2</a:t>
            </a:r>
            <a:endParaRPr kumimoji="1" lang="en-US" altLang="zh-TW" dirty="0"/>
          </a:p>
        </p:txBody>
      </p:sp>
      <p:sp>
        <p:nvSpPr>
          <p:cNvPr id="22" name="向右箭號 21">
            <a:extLst>
              <a:ext uri="{FF2B5EF4-FFF2-40B4-BE49-F238E27FC236}">
                <a16:creationId xmlns:a16="http://schemas.microsoft.com/office/drawing/2014/main" id="{9DA50FF4-C456-DF07-ED42-6FD1EA21FF14}"/>
              </a:ext>
            </a:extLst>
          </p:cNvPr>
          <p:cNvSpPr/>
          <p:nvPr/>
        </p:nvSpPr>
        <p:spPr>
          <a:xfrm>
            <a:off x="6163404" y="3127920"/>
            <a:ext cx="559171" cy="157295"/>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4126430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6E864-7BA1-C7B6-84DF-BB4B686597D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E54C07E-2E79-5FAC-3E4B-523696A04E35}"/>
              </a:ext>
            </a:extLst>
          </p:cNvPr>
          <p:cNvSpPr>
            <a:spLocks noGrp="1"/>
          </p:cNvSpPr>
          <p:nvPr>
            <p:ph type="title"/>
          </p:nvPr>
        </p:nvSpPr>
        <p:spPr>
          <a:xfrm>
            <a:off x="461414" y="460048"/>
            <a:ext cx="8416820" cy="681037"/>
          </a:xfrm>
        </p:spPr>
        <p:txBody>
          <a:bodyPr>
            <a:noAutofit/>
          </a:bodyPr>
          <a:lstStyle/>
          <a:p>
            <a:pPr lvl="1"/>
            <a:r>
              <a:rPr lang="en" altLang="zh-TW" sz="3000" dirty="0">
                <a:latin typeface="+mj-lt"/>
              </a:rPr>
              <a:t>GSK3 impedes death receptor-induced caspase-3 activation</a:t>
            </a:r>
          </a:p>
        </p:txBody>
      </p:sp>
      <p:sp>
        <p:nvSpPr>
          <p:cNvPr id="4" name="投影片編號版面配置區 3">
            <a:extLst>
              <a:ext uri="{FF2B5EF4-FFF2-40B4-BE49-F238E27FC236}">
                <a16:creationId xmlns:a16="http://schemas.microsoft.com/office/drawing/2014/main" id="{9C5E098F-80DE-7E65-9CDA-0FCE010C918F}"/>
              </a:ext>
            </a:extLst>
          </p:cNvPr>
          <p:cNvSpPr>
            <a:spLocks noGrp="1"/>
          </p:cNvSpPr>
          <p:nvPr>
            <p:ph type="sldNum" sz="quarter" idx="12"/>
          </p:nvPr>
        </p:nvSpPr>
        <p:spPr/>
        <p:txBody>
          <a:bodyPr/>
          <a:lstStyle/>
          <a:p>
            <a:fld id="{5457A026-CD74-A64B-872B-B0D8D2A810A8}" type="slidenum">
              <a:rPr kumimoji="1" lang="zh-TW" altLang="en-US" smtClean="0"/>
              <a:t>16</a:t>
            </a:fld>
            <a:endParaRPr kumimoji="1" lang="zh-TW" altLang="en-US"/>
          </a:p>
        </p:txBody>
      </p:sp>
      <p:sp>
        <p:nvSpPr>
          <p:cNvPr id="3" name="文字方塊 2">
            <a:extLst>
              <a:ext uri="{FF2B5EF4-FFF2-40B4-BE49-F238E27FC236}">
                <a16:creationId xmlns:a16="http://schemas.microsoft.com/office/drawing/2014/main" id="{7D5F44DE-70E3-671A-6645-5DF6EDF5826D}"/>
              </a:ext>
            </a:extLst>
          </p:cNvPr>
          <p:cNvSpPr txBox="1"/>
          <p:nvPr/>
        </p:nvSpPr>
        <p:spPr>
          <a:xfrm>
            <a:off x="3823104" y="820392"/>
            <a:ext cx="5718086" cy="646331"/>
          </a:xfrm>
          <a:prstGeom prst="rect">
            <a:avLst/>
          </a:prstGeom>
          <a:noFill/>
        </p:spPr>
        <p:txBody>
          <a:bodyPr wrap="square" rtlCol="0">
            <a:spAutoFit/>
          </a:bodyPr>
          <a:lstStyle/>
          <a:p>
            <a:r>
              <a:rPr lang="en" altLang="zh-TW" b="0" i="0" dirty="0">
                <a:solidFill>
                  <a:srgbClr val="222222"/>
                </a:solidFill>
                <a:effectLst/>
                <a:latin typeface="-apple-system"/>
              </a:rPr>
              <a:t>GSK3</a:t>
            </a:r>
            <a:r>
              <a:rPr lang="zh-TW" altLang="en-US" b="0" i="0" dirty="0">
                <a:solidFill>
                  <a:srgbClr val="222222"/>
                </a:solidFill>
                <a:effectLst/>
                <a:latin typeface="-apple-system"/>
              </a:rPr>
              <a:t>：</a:t>
            </a:r>
            <a:r>
              <a:rPr lang="en" altLang="zh-TW" b="0" i="0" dirty="0">
                <a:solidFill>
                  <a:srgbClr val="222222"/>
                </a:solidFill>
                <a:effectLst/>
                <a:latin typeface="-apple-system"/>
              </a:rPr>
              <a:t>glycogen synthase kinase-3</a:t>
            </a:r>
          </a:p>
          <a:p>
            <a:r>
              <a:rPr lang="en" altLang="zh-TW" dirty="0"/>
              <a:t>TRA-8</a:t>
            </a:r>
            <a:r>
              <a:rPr lang="zh-TW" altLang="en-US" dirty="0"/>
              <a:t>：</a:t>
            </a:r>
            <a:r>
              <a:rPr lang="en" altLang="zh-TW" dirty="0"/>
              <a:t> Anti-human DR5 monoclonal antibody TRA-8</a:t>
            </a:r>
            <a:endParaRPr kumimoji="1" lang="zh-TW" altLang="en-US" dirty="0"/>
          </a:p>
        </p:txBody>
      </p:sp>
      <p:pic>
        <p:nvPicPr>
          <p:cNvPr id="6" name="圖片 5" descr="一張含有 文字, 圖表, 螢幕擷取畫面, 平行 的圖片&#10;&#10;自動產生的描述">
            <a:extLst>
              <a:ext uri="{FF2B5EF4-FFF2-40B4-BE49-F238E27FC236}">
                <a16:creationId xmlns:a16="http://schemas.microsoft.com/office/drawing/2014/main" id="{3082F7E0-1CC8-6BD2-9C7E-54E86B7D17CD}"/>
              </a:ext>
            </a:extLst>
          </p:cNvPr>
          <p:cNvPicPr>
            <a:picLocks noChangeAspect="1"/>
          </p:cNvPicPr>
          <p:nvPr/>
        </p:nvPicPr>
        <p:blipFill>
          <a:blip r:embed="rId3"/>
          <a:srcRect t="-205" b="47410"/>
          <a:stretch/>
        </p:blipFill>
        <p:spPr>
          <a:xfrm>
            <a:off x="337125" y="2112666"/>
            <a:ext cx="5653893" cy="3924942"/>
          </a:xfrm>
          <a:prstGeom prst="rect">
            <a:avLst/>
          </a:prstGeom>
        </p:spPr>
      </p:pic>
      <p:pic>
        <p:nvPicPr>
          <p:cNvPr id="7" name="圖片 6" descr="一張含有 文字, 圖表, 螢幕擷取畫面, 平行 的圖片&#10;&#10;自動產生的描述">
            <a:extLst>
              <a:ext uri="{FF2B5EF4-FFF2-40B4-BE49-F238E27FC236}">
                <a16:creationId xmlns:a16="http://schemas.microsoft.com/office/drawing/2014/main" id="{66E1C535-DCB7-B07D-93DC-6A311491578D}"/>
              </a:ext>
            </a:extLst>
          </p:cNvPr>
          <p:cNvPicPr>
            <a:picLocks noChangeAspect="1"/>
          </p:cNvPicPr>
          <p:nvPr/>
        </p:nvPicPr>
        <p:blipFill>
          <a:blip r:embed="rId3"/>
          <a:srcRect t="69990" r="48751" b="165"/>
          <a:stretch/>
        </p:blipFill>
        <p:spPr>
          <a:xfrm>
            <a:off x="5979929" y="1755651"/>
            <a:ext cx="3013441" cy="2307497"/>
          </a:xfrm>
          <a:prstGeom prst="rect">
            <a:avLst/>
          </a:prstGeom>
        </p:spPr>
      </p:pic>
      <p:pic>
        <p:nvPicPr>
          <p:cNvPr id="8" name="圖片 7" descr="一張含有 文字, 圖表, 螢幕擷取畫面, 平行 的圖片&#10;&#10;自動產生的描述">
            <a:extLst>
              <a:ext uri="{FF2B5EF4-FFF2-40B4-BE49-F238E27FC236}">
                <a16:creationId xmlns:a16="http://schemas.microsoft.com/office/drawing/2014/main" id="{98C089A6-5DEE-82CD-08E9-AC5835BC0E88}"/>
              </a:ext>
            </a:extLst>
          </p:cNvPr>
          <p:cNvPicPr>
            <a:picLocks noChangeAspect="1"/>
          </p:cNvPicPr>
          <p:nvPr/>
        </p:nvPicPr>
        <p:blipFill>
          <a:blip r:embed="rId3"/>
          <a:srcRect l="48300" t="69990" r="6165" b="165"/>
          <a:stretch/>
        </p:blipFill>
        <p:spPr>
          <a:xfrm>
            <a:off x="6313782" y="4088643"/>
            <a:ext cx="2679588" cy="2309309"/>
          </a:xfrm>
          <a:prstGeom prst="rect">
            <a:avLst/>
          </a:prstGeom>
        </p:spPr>
      </p:pic>
    </p:spTree>
    <p:extLst>
      <p:ext uri="{BB962C8B-B14F-4D97-AF65-F5344CB8AC3E}">
        <p14:creationId xmlns:p14="http://schemas.microsoft.com/office/powerpoint/2010/main" val="3834738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40D16-6A90-A18D-A33C-7ED694FF3863}"/>
            </a:ext>
          </a:extLst>
        </p:cNvPr>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E3FB480-A870-3E97-20B5-6E466E2C9793}"/>
              </a:ext>
            </a:extLst>
          </p:cNvPr>
          <p:cNvSpPr>
            <a:spLocks noGrp="1"/>
          </p:cNvSpPr>
          <p:nvPr>
            <p:ph type="sldNum" sz="quarter" idx="12"/>
          </p:nvPr>
        </p:nvSpPr>
        <p:spPr/>
        <p:txBody>
          <a:bodyPr/>
          <a:lstStyle/>
          <a:p>
            <a:fld id="{5457A026-CD74-A64B-872B-B0D8D2A810A8}" type="slidenum">
              <a:rPr kumimoji="1" lang="zh-TW" altLang="en-US" smtClean="0"/>
              <a:t>17</a:t>
            </a:fld>
            <a:endParaRPr kumimoji="1" lang="zh-TW" altLang="en-US"/>
          </a:p>
        </p:txBody>
      </p:sp>
      <p:sp>
        <p:nvSpPr>
          <p:cNvPr id="9" name="內容版面配置區 2">
            <a:extLst>
              <a:ext uri="{FF2B5EF4-FFF2-40B4-BE49-F238E27FC236}">
                <a16:creationId xmlns:a16="http://schemas.microsoft.com/office/drawing/2014/main" id="{1ECD9300-3FF8-18EA-EA20-EA1E07746B17}"/>
              </a:ext>
            </a:extLst>
          </p:cNvPr>
          <p:cNvSpPr txBox="1">
            <a:spLocks/>
          </p:cNvSpPr>
          <p:nvPr/>
        </p:nvSpPr>
        <p:spPr>
          <a:xfrm>
            <a:off x="6613906" y="2880028"/>
            <a:ext cx="2311052"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3200" dirty="0"/>
              <a:t>Apoptosis</a:t>
            </a:r>
          </a:p>
        </p:txBody>
      </p:sp>
      <p:sp>
        <p:nvSpPr>
          <p:cNvPr id="2" name="內容版面配置區 2">
            <a:extLst>
              <a:ext uri="{FF2B5EF4-FFF2-40B4-BE49-F238E27FC236}">
                <a16:creationId xmlns:a16="http://schemas.microsoft.com/office/drawing/2014/main" id="{3AECAAA3-A80F-467F-93F6-39E2C6F9C983}"/>
              </a:ext>
            </a:extLst>
          </p:cNvPr>
          <p:cNvSpPr txBox="1">
            <a:spLocks/>
          </p:cNvSpPr>
          <p:nvPr/>
        </p:nvSpPr>
        <p:spPr>
          <a:xfrm>
            <a:off x="1751872" y="1484938"/>
            <a:ext cx="1437276" cy="561672"/>
          </a:xfrm>
          <a:prstGeom prst="rect">
            <a:avLst/>
          </a:prstGeom>
          <a:ln w="38100"/>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dirty="0">
                <a:solidFill>
                  <a:schemeClr val="accent2"/>
                </a:solidFill>
              </a:rPr>
              <a:t>GSK3</a:t>
            </a:r>
          </a:p>
        </p:txBody>
      </p:sp>
      <p:sp>
        <p:nvSpPr>
          <p:cNvPr id="5" name="內容版面配置區 2">
            <a:extLst>
              <a:ext uri="{FF2B5EF4-FFF2-40B4-BE49-F238E27FC236}">
                <a16:creationId xmlns:a16="http://schemas.microsoft.com/office/drawing/2014/main" id="{4B208101-4856-8C75-14A5-A624F7BAF6E9}"/>
              </a:ext>
            </a:extLst>
          </p:cNvPr>
          <p:cNvSpPr txBox="1">
            <a:spLocks/>
          </p:cNvSpPr>
          <p:nvPr/>
        </p:nvSpPr>
        <p:spPr>
          <a:xfrm>
            <a:off x="2582745" y="2925732"/>
            <a:ext cx="3978510"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dirty="0"/>
              <a:t>Caspase-3 activate</a:t>
            </a:r>
          </a:p>
        </p:txBody>
      </p:sp>
      <p:sp>
        <p:nvSpPr>
          <p:cNvPr id="11" name="向右箭號 10">
            <a:extLst>
              <a:ext uri="{FF2B5EF4-FFF2-40B4-BE49-F238E27FC236}">
                <a16:creationId xmlns:a16="http://schemas.microsoft.com/office/drawing/2014/main" id="{CA7ED4C6-2087-6E28-C119-F94A5E2227CD}"/>
              </a:ext>
            </a:extLst>
          </p:cNvPr>
          <p:cNvSpPr/>
          <p:nvPr/>
        </p:nvSpPr>
        <p:spPr>
          <a:xfrm>
            <a:off x="2107830" y="3104784"/>
            <a:ext cx="872767" cy="157295"/>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18" name="群組 17">
            <a:extLst>
              <a:ext uri="{FF2B5EF4-FFF2-40B4-BE49-F238E27FC236}">
                <a16:creationId xmlns:a16="http://schemas.microsoft.com/office/drawing/2014/main" id="{DD9C4E83-5C6E-61D9-11F0-2DCCD3D77133}"/>
              </a:ext>
            </a:extLst>
          </p:cNvPr>
          <p:cNvGrpSpPr/>
          <p:nvPr/>
        </p:nvGrpSpPr>
        <p:grpSpPr>
          <a:xfrm>
            <a:off x="2325312" y="2222610"/>
            <a:ext cx="346265" cy="651822"/>
            <a:chOff x="1529610" y="2141973"/>
            <a:chExt cx="468060" cy="702090"/>
          </a:xfrm>
          <a:solidFill>
            <a:schemeClr val="accent2"/>
          </a:solidFill>
        </p:grpSpPr>
        <p:sp>
          <p:nvSpPr>
            <p:cNvPr id="16" name="矩形 15">
              <a:extLst>
                <a:ext uri="{FF2B5EF4-FFF2-40B4-BE49-F238E27FC236}">
                  <a16:creationId xmlns:a16="http://schemas.microsoft.com/office/drawing/2014/main" id="{75B2C69F-2565-8AC3-3CE8-07BB21A3B248}"/>
                </a:ext>
              </a:extLst>
            </p:cNvPr>
            <p:cNvSpPr/>
            <p:nvPr/>
          </p:nvSpPr>
          <p:spPr>
            <a:xfrm>
              <a:off x="1716834" y="2141973"/>
              <a:ext cx="93612" cy="70209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7" name="矩形 16">
              <a:extLst>
                <a:ext uri="{FF2B5EF4-FFF2-40B4-BE49-F238E27FC236}">
                  <a16:creationId xmlns:a16="http://schemas.microsoft.com/office/drawing/2014/main" id="{458B2DE8-A058-AA34-C9D8-712ADF0149F6}"/>
                </a:ext>
              </a:extLst>
            </p:cNvPr>
            <p:cNvSpPr/>
            <p:nvPr/>
          </p:nvSpPr>
          <p:spPr>
            <a:xfrm>
              <a:off x="1529610" y="2770754"/>
              <a:ext cx="468060" cy="7330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20" name="內容版面配置區 2">
            <a:extLst>
              <a:ext uri="{FF2B5EF4-FFF2-40B4-BE49-F238E27FC236}">
                <a16:creationId xmlns:a16="http://schemas.microsoft.com/office/drawing/2014/main" id="{3BE60488-3B4D-CBDC-FF2E-F0D0984F63B8}"/>
              </a:ext>
            </a:extLst>
          </p:cNvPr>
          <p:cNvSpPr txBox="1">
            <a:spLocks/>
          </p:cNvSpPr>
          <p:nvPr/>
        </p:nvSpPr>
        <p:spPr>
          <a:xfrm>
            <a:off x="219042" y="2352462"/>
            <a:ext cx="1857252" cy="26045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 altLang="zh-TW" dirty="0"/>
              <a:t>TRAIL-R2</a:t>
            </a:r>
          </a:p>
          <a:p>
            <a:pPr marL="0" indent="0" algn="ctr">
              <a:lnSpc>
                <a:spcPct val="100000"/>
              </a:lnSpc>
              <a:spcBef>
                <a:spcPts val="0"/>
              </a:spcBef>
              <a:buFont typeface="Arial" panose="020B0604020202020204" pitchFamily="34" charset="0"/>
              <a:buNone/>
            </a:pPr>
            <a:r>
              <a:rPr lang="en" altLang="zh-TW" dirty="0"/>
              <a:t>TRAIL-R1</a:t>
            </a:r>
            <a:endParaRPr lang="en-US" altLang="zh-TW" dirty="0"/>
          </a:p>
          <a:p>
            <a:pPr marL="0" indent="0" algn="ctr">
              <a:lnSpc>
                <a:spcPct val="100000"/>
              </a:lnSpc>
              <a:spcBef>
                <a:spcPts val="0"/>
              </a:spcBef>
              <a:buFont typeface="Arial" panose="020B0604020202020204" pitchFamily="34" charset="0"/>
              <a:buNone/>
            </a:pPr>
            <a:r>
              <a:rPr lang="en" altLang="zh-TW" b="0" i="0" dirty="0" err="1">
                <a:solidFill>
                  <a:srgbClr val="222222"/>
                </a:solidFill>
                <a:effectLst/>
                <a:latin typeface="-apple-system"/>
              </a:rPr>
              <a:t>Fas</a:t>
            </a:r>
            <a:endParaRPr lang="en-US" altLang="zh-TW" dirty="0">
              <a:solidFill>
                <a:srgbClr val="222222"/>
              </a:solidFill>
              <a:latin typeface="-apple-system"/>
            </a:endParaRPr>
          </a:p>
          <a:p>
            <a:pPr marL="0" indent="0" algn="ctr">
              <a:lnSpc>
                <a:spcPct val="100000"/>
              </a:lnSpc>
              <a:spcBef>
                <a:spcPts val="0"/>
              </a:spcBef>
              <a:buFont typeface="Arial" panose="020B0604020202020204" pitchFamily="34" charset="0"/>
              <a:buNone/>
            </a:pPr>
            <a:r>
              <a:rPr lang="en" altLang="zh-TW" b="0" i="0" dirty="0">
                <a:solidFill>
                  <a:srgbClr val="222222"/>
                </a:solidFill>
                <a:effectLst/>
                <a:latin typeface="-apple-system"/>
              </a:rPr>
              <a:t>TNF </a:t>
            </a:r>
            <a:r>
              <a:rPr lang="el-GR" altLang="zh-TW" b="0" i="1" dirty="0">
                <a:solidFill>
                  <a:srgbClr val="222222"/>
                </a:solidFill>
                <a:effectLst/>
                <a:latin typeface="-apple-system"/>
              </a:rPr>
              <a:t>α</a:t>
            </a:r>
            <a:endParaRPr lang="en" altLang="zh-TW" dirty="0"/>
          </a:p>
          <a:p>
            <a:pPr marL="0" indent="0" algn="ctr">
              <a:lnSpc>
                <a:spcPct val="100000"/>
              </a:lnSpc>
              <a:spcBef>
                <a:spcPts val="0"/>
              </a:spcBef>
              <a:buFont typeface="Arial" panose="020B0604020202020204" pitchFamily="34" charset="0"/>
              <a:buNone/>
            </a:pPr>
            <a:endParaRPr kumimoji="1" lang="en-US" altLang="zh-TW" dirty="0"/>
          </a:p>
        </p:txBody>
      </p:sp>
      <p:sp>
        <p:nvSpPr>
          <p:cNvPr id="22" name="向右箭號 21">
            <a:extLst>
              <a:ext uri="{FF2B5EF4-FFF2-40B4-BE49-F238E27FC236}">
                <a16:creationId xmlns:a16="http://schemas.microsoft.com/office/drawing/2014/main" id="{7223B2BE-27D4-8BAF-D734-95496CD85E1D}"/>
              </a:ext>
            </a:extLst>
          </p:cNvPr>
          <p:cNvSpPr/>
          <p:nvPr/>
        </p:nvSpPr>
        <p:spPr>
          <a:xfrm>
            <a:off x="6163404" y="3127920"/>
            <a:ext cx="559171" cy="157295"/>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829326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E580E-6393-EB9F-7EF5-0F8852962E3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2A2067C-1E41-34F1-DAF2-B64D62115BED}"/>
              </a:ext>
            </a:extLst>
          </p:cNvPr>
          <p:cNvSpPr>
            <a:spLocks noGrp="1"/>
          </p:cNvSpPr>
          <p:nvPr>
            <p:ph type="title"/>
          </p:nvPr>
        </p:nvSpPr>
        <p:spPr>
          <a:xfrm>
            <a:off x="461414" y="460048"/>
            <a:ext cx="8416820" cy="681037"/>
          </a:xfrm>
        </p:spPr>
        <p:txBody>
          <a:bodyPr>
            <a:noAutofit/>
          </a:bodyPr>
          <a:lstStyle/>
          <a:p>
            <a:pPr lvl="1"/>
            <a:r>
              <a:rPr lang="en" altLang="zh-TW" sz="3200" b="0" i="0" dirty="0">
                <a:solidFill>
                  <a:srgbClr val="222222"/>
                </a:solidFill>
                <a:effectLst/>
                <a:latin typeface="-apple-system"/>
              </a:rPr>
              <a:t>Inhibition of GSK3 promotes death receptor-induced caspase-8 activation and DISC formation</a:t>
            </a:r>
            <a:endParaRPr lang="en" altLang="zh-TW" sz="3000" dirty="0">
              <a:latin typeface="+mj-lt"/>
            </a:endParaRPr>
          </a:p>
        </p:txBody>
      </p:sp>
      <p:sp>
        <p:nvSpPr>
          <p:cNvPr id="4" name="投影片編號版面配置區 3">
            <a:extLst>
              <a:ext uri="{FF2B5EF4-FFF2-40B4-BE49-F238E27FC236}">
                <a16:creationId xmlns:a16="http://schemas.microsoft.com/office/drawing/2014/main" id="{E324AAA2-38BA-7A6A-9A6F-8A0ACFB9FE24}"/>
              </a:ext>
            </a:extLst>
          </p:cNvPr>
          <p:cNvSpPr>
            <a:spLocks noGrp="1"/>
          </p:cNvSpPr>
          <p:nvPr>
            <p:ph type="sldNum" sz="quarter" idx="12"/>
          </p:nvPr>
        </p:nvSpPr>
        <p:spPr/>
        <p:txBody>
          <a:bodyPr/>
          <a:lstStyle/>
          <a:p>
            <a:fld id="{5457A026-CD74-A64B-872B-B0D8D2A810A8}" type="slidenum">
              <a:rPr kumimoji="1" lang="zh-TW" altLang="en-US" smtClean="0"/>
              <a:t>18</a:t>
            </a:fld>
            <a:endParaRPr kumimoji="1" lang="zh-TW" altLang="en-US"/>
          </a:p>
        </p:txBody>
      </p:sp>
      <p:pic>
        <p:nvPicPr>
          <p:cNvPr id="5" name="圖片 4" descr="一張含有 文字, 圖表, 平行, 方案 的圖片&#10;&#10;自動產生的描述">
            <a:extLst>
              <a:ext uri="{FF2B5EF4-FFF2-40B4-BE49-F238E27FC236}">
                <a16:creationId xmlns:a16="http://schemas.microsoft.com/office/drawing/2014/main" id="{699ACE44-0E6B-56DE-7B2B-0DB0518DB9D5}"/>
              </a:ext>
            </a:extLst>
          </p:cNvPr>
          <p:cNvPicPr>
            <a:picLocks noChangeAspect="1"/>
          </p:cNvPicPr>
          <p:nvPr/>
        </p:nvPicPr>
        <p:blipFill>
          <a:blip r:embed="rId3"/>
          <a:srcRect b="54505"/>
          <a:stretch/>
        </p:blipFill>
        <p:spPr>
          <a:xfrm>
            <a:off x="1277095" y="1275924"/>
            <a:ext cx="6589809" cy="3110369"/>
          </a:xfrm>
          <a:prstGeom prst="rect">
            <a:avLst/>
          </a:prstGeom>
        </p:spPr>
      </p:pic>
      <p:pic>
        <p:nvPicPr>
          <p:cNvPr id="3" name="圖片 2" descr="一張含有 文字, 圖表, 平行, 方案 的圖片&#10;&#10;自動產生的描述">
            <a:extLst>
              <a:ext uri="{FF2B5EF4-FFF2-40B4-BE49-F238E27FC236}">
                <a16:creationId xmlns:a16="http://schemas.microsoft.com/office/drawing/2014/main" id="{EF17B10A-58F7-98C4-0A23-41766076082A}"/>
              </a:ext>
            </a:extLst>
          </p:cNvPr>
          <p:cNvPicPr>
            <a:picLocks noChangeAspect="1"/>
          </p:cNvPicPr>
          <p:nvPr/>
        </p:nvPicPr>
        <p:blipFill>
          <a:blip r:embed="rId3"/>
          <a:srcRect l="12876" t="65043" r="13015" b="-789"/>
          <a:stretch/>
        </p:blipFill>
        <p:spPr>
          <a:xfrm>
            <a:off x="2102373" y="4420937"/>
            <a:ext cx="4939252" cy="2471707"/>
          </a:xfrm>
          <a:prstGeom prst="rect">
            <a:avLst/>
          </a:prstGeom>
        </p:spPr>
      </p:pic>
    </p:spTree>
    <p:extLst>
      <p:ext uri="{BB962C8B-B14F-4D97-AF65-F5344CB8AC3E}">
        <p14:creationId xmlns:p14="http://schemas.microsoft.com/office/powerpoint/2010/main" val="1361554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ACAF3-30A2-15D2-716F-E6BCFF0D7A89}"/>
            </a:ext>
          </a:extLst>
        </p:cNvPr>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BBA348F7-9792-2791-5D98-C8232EB22C98}"/>
              </a:ext>
            </a:extLst>
          </p:cNvPr>
          <p:cNvSpPr>
            <a:spLocks noGrp="1"/>
          </p:cNvSpPr>
          <p:nvPr>
            <p:ph type="sldNum" sz="quarter" idx="12"/>
          </p:nvPr>
        </p:nvSpPr>
        <p:spPr/>
        <p:txBody>
          <a:bodyPr/>
          <a:lstStyle/>
          <a:p>
            <a:fld id="{5457A026-CD74-A64B-872B-B0D8D2A810A8}" type="slidenum">
              <a:rPr kumimoji="1" lang="zh-TW" altLang="en-US" smtClean="0"/>
              <a:t>19</a:t>
            </a:fld>
            <a:endParaRPr kumimoji="1" lang="zh-TW" altLang="en-US"/>
          </a:p>
        </p:txBody>
      </p:sp>
      <p:sp>
        <p:nvSpPr>
          <p:cNvPr id="9" name="內容版面配置區 2">
            <a:extLst>
              <a:ext uri="{FF2B5EF4-FFF2-40B4-BE49-F238E27FC236}">
                <a16:creationId xmlns:a16="http://schemas.microsoft.com/office/drawing/2014/main" id="{AB293361-F94F-A4D1-1604-323B8E46D62D}"/>
              </a:ext>
            </a:extLst>
          </p:cNvPr>
          <p:cNvSpPr txBox="1">
            <a:spLocks/>
          </p:cNvSpPr>
          <p:nvPr/>
        </p:nvSpPr>
        <p:spPr>
          <a:xfrm>
            <a:off x="6832948" y="2987583"/>
            <a:ext cx="2311052"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t>Apoptosis</a:t>
            </a:r>
          </a:p>
        </p:txBody>
      </p:sp>
      <p:sp>
        <p:nvSpPr>
          <p:cNvPr id="2" name="內容版面配置區 2">
            <a:extLst>
              <a:ext uri="{FF2B5EF4-FFF2-40B4-BE49-F238E27FC236}">
                <a16:creationId xmlns:a16="http://schemas.microsoft.com/office/drawing/2014/main" id="{48CC6AAC-0B5D-BC1B-9B4A-090034AA0199}"/>
              </a:ext>
            </a:extLst>
          </p:cNvPr>
          <p:cNvSpPr txBox="1">
            <a:spLocks/>
          </p:cNvSpPr>
          <p:nvPr/>
        </p:nvSpPr>
        <p:spPr>
          <a:xfrm>
            <a:off x="2953880" y="1388884"/>
            <a:ext cx="977887" cy="435444"/>
          </a:xfrm>
          <a:prstGeom prst="rect">
            <a:avLst/>
          </a:prstGeom>
          <a:ln w="38100"/>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solidFill>
                  <a:schemeClr val="accent2"/>
                </a:solidFill>
              </a:rPr>
              <a:t>GSK3</a:t>
            </a:r>
          </a:p>
        </p:txBody>
      </p:sp>
      <p:sp>
        <p:nvSpPr>
          <p:cNvPr id="5" name="內容版面配置區 2">
            <a:extLst>
              <a:ext uri="{FF2B5EF4-FFF2-40B4-BE49-F238E27FC236}">
                <a16:creationId xmlns:a16="http://schemas.microsoft.com/office/drawing/2014/main" id="{3D13A003-7138-0DB3-B325-A39870B8CA0A}"/>
              </a:ext>
            </a:extLst>
          </p:cNvPr>
          <p:cNvSpPr txBox="1">
            <a:spLocks/>
          </p:cNvSpPr>
          <p:nvPr/>
        </p:nvSpPr>
        <p:spPr>
          <a:xfrm>
            <a:off x="4463942" y="2867328"/>
            <a:ext cx="2311052"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t>Caspase-3 activate</a:t>
            </a:r>
          </a:p>
        </p:txBody>
      </p:sp>
      <p:sp>
        <p:nvSpPr>
          <p:cNvPr id="11" name="向右箭號 10">
            <a:extLst>
              <a:ext uri="{FF2B5EF4-FFF2-40B4-BE49-F238E27FC236}">
                <a16:creationId xmlns:a16="http://schemas.microsoft.com/office/drawing/2014/main" id="{CC7B5E00-55EE-B62D-7DA4-8D27333F9118}"/>
              </a:ext>
            </a:extLst>
          </p:cNvPr>
          <p:cNvSpPr/>
          <p:nvPr/>
        </p:nvSpPr>
        <p:spPr>
          <a:xfrm>
            <a:off x="2252835" y="3121140"/>
            <a:ext cx="559171" cy="180431"/>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18" name="群組 17">
            <a:extLst>
              <a:ext uri="{FF2B5EF4-FFF2-40B4-BE49-F238E27FC236}">
                <a16:creationId xmlns:a16="http://schemas.microsoft.com/office/drawing/2014/main" id="{AA934BD9-7FAF-6946-4872-B1B7FE3C6483}"/>
              </a:ext>
            </a:extLst>
          </p:cNvPr>
          <p:cNvGrpSpPr/>
          <p:nvPr/>
        </p:nvGrpSpPr>
        <p:grpSpPr>
          <a:xfrm>
            <a:off x="3304318" y="2050312"/>
            <a:ext cx="346265" cy="651822"/>
            <a:chOff x="1529610" y="2141973"/>
            <a:chExt cx="468060" cy="702090"/>
          </a:xfrm>
          <a:solidFill>
            <a:schemeClr val="accent2"/>
          </a:solidFill>
        </p:grpSpPr>
        <p:sp>
          <p:nvSpPr>
            <p:cNvPr id="16" name="矩形 15">
              <a:extLst>
                <a:ext uri="{FF2B5EF4-FFF2-40B4-BE49-F238E27FC236}">
                  <a16:creationId xmlns:a16="http://schemas.microsoft.com/office/drawing/2014/main" id="{22260D5D-F8E6-7A06-FDE7-0A273B7EDE19}"/>
                </a:ext>
              </a:extLst>
            </p:cNvPr>
            <p:cNvSpPr/>
            <p:nvPr/>
          </p:nvSpPr>
          <p:spPr>
            <a:xfrm>
              <a:off x="1716834" y="2141973"/>
              <a:ext cx="93612" cy="70209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7" name="矩形 16">
              <a:extLst>
                <a:ext uri="{FF2B5EF4-FFF2-40B4-BE49-F238E27FC236}">
                  <a16:creationId xmlns:a16="http://schemas.microsoft.com/office/drawing/2014/main" id="{A6185EC7-756A-FC16-91CB-C864972EC788}"/>
                </a:ext>
              </a:extLst>
            </p:cNvPr>
            <p:cNvSpPr/>
            <p:nvPr/>
          </p:nvSpPr>
          <p:spPr>
            <a:xfrm>
              <a:off x="1529610" y="2770754"/>
              <a:ext cx="468060" cy="7330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20" name="內容版面配置區 2">
            <a:extLst>
              <a:ext uri="{FF2B5EF4-FFF2-40B4-BE49-F238E27FC236}">
                <a16:creationId xmlns:a16="http://schemas.microsoft.com/office/drawing/2014/main" id="{824153B4-CCB9-1497-8BF9-6B3033B3DDF8}"/>
              </a:ext>
            </a:extLst>
          </p:cNvPr>
          <p:cNvSpPr txBox="1">
            <a:spLocks/>
          </p:cNvSpPr>
          <p:nvPr/>
        </p:nvSpPr>
        <p:spPr>
          <a:xfrm>
            <a:off x="429193" y="2472717"/>
            <a:ext cx="1857252" cy="15914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 altLang="zh-TW" sz="2400" dirty="0"/>
              <a:t>TRAIL-R2</a:t>
            </a:r>
          </a:p>
          <a:p>
            <a:pPr marL="0" indent="0" algn="ctr">
              <a:lnSpc>
                <a:spcPct val="100000"/>
              </a:lnSpc>
              <a:spcBef>
                <a:spcPts val="0"/>
              </a:spcBef>
              <a:buFont typeface="Arial" panose="020B0604020202020204" pitchFamily="34" charset="0"/>
              <a:buNone/>
            </a:pPr>
            <a:r>
              <a:rPr lang="en" altLang="zh-TW" sz="2400" dirty="0"/>
              <a:t>TRAIL-R1</a:t>
            </a:r>
            <a:endParaRPr lang="en-US" altLang="zh-TW" sz="2400" dirty="0"/>
          </a:p>
          <a:p>
            <a:pPr marL="0" indent="0" algn="ctr">
              <a:lnSpc>
                <a:spcPct val="100000"/>
              </a:lnSpc>
              <a:spcBef>
                <a:spcPts val="0"/>
              </a:spcBef>
              <a:buFont typeface="Arial" panose="020B0604020202020204" pitchFamily="34" charset="0"/>
              <a:buNone/>
            </a:pPr>
            <a:r>
              <a:rPr lang="en" altLang="zh-TW" sz="2400" b="0" i="0" dirty="0" err="1">
                <a:solidFill>
                  <a:srgbClr val="222222"/>
                </a:solidFill>
                <a:effectLst/>
                <a:latin typeface="-apple-system"/>
              </a:rPr>
              <a:t>Fas</a:t>
            </a:r>
            <a:endParaRPr lang="en-US" altLang="zh-TW" sz="2400" dirty="0">
              <a:solidFill>
                <a:srgbClr val="222222"/>
              </a:solidFill>
              <a:latin typeface="-apple-system"/>
            </a:endParaRPr>
          </a:p>
          <a:p>
            <a:pPr marL="0" indent="0" algn="ctr">
              <a:lnSpc>
                <a:spcPct val="100000"/>
              </a:lnSpc>
              <a:spcBef>
                <a:spcPts val="0"/>
              </a:spcBef>
              <a:buFont typeface="Arial" panose="020B0604020202020204" pitchFamily="34" charset="0"/>
              <a:buNone/>
            </a:pPr>
            <a:r>
              <a:rPr lang="en" altLang="zh-TW" sz="2400" b="0" i="0" dirty="0">
                <a:solidFill>
                  <a:srgbClr val="222222"/>
                </a:solidFill>
                <a:effectLst/>
                <a:latin typeface="-apple-system"/>
              </a:rPr>
              <a:t>TNF </a:t>
            </a:r>
            <a:r>
              <a:rPr lang="el-GR" altLang="zh-TW" sz="2400" b="0" i="1" dirty="0">
                <a:solidFill>
                  <a:srgbClr val="222222"/>
                </a:solidFill>
                <a:effectLst/>
                <a:latin typeface="-apple-system"/>
              </a:rPr>
              <a:t>α</a:t>
            </a:r>
            <a:endParaRPr lang="en" altLang="zh-TW" sz="2400" dirty="0"/>
          </a:p>
          <a:p>
            <a:pPr marL="0" indent="0" algn="ctr">
              <a:lnSpc>
                <a:spcPct val="100000"/>
              </a:lnSpc>
              <a:spcBef>
                <a:spcPts val="0"/>
              </a:spcBef>
              <a:buFont typeface="Arial" panose="020B0604020202020204" pitchFamily="34" charset="0"/>
              <a:buNone/>
            </a:pPr>
            <a:endParaRPr kumimoji="1" lang="en-US" altLang="zh-TW" sz="2400" dirty="0"/>
          </a:p>
        </p:txBody>
      </p:sp>
      <p:sp>
        <p:nvSpPr>
          <p:cNvPr id="3" name="內容版面配置區 2">
            <a:extLst>
              <a:ext uri="{FF2B5EF4-FFF2-40B4-BE49-F238E27FC236}">
                <a16:creationId xmlns:a16="http://schemas.microsoft.com/office/drawing/2014/main" id="{15BF4659-0356-33CB-D59D-F4FB7F018C6E}"/>
              </a:ext>
            </a:extLst>
          </p:cNvPr>
          <p:cNvSpPr txBox="1">
            <a:spLocks/>
          </p:cNvSpPr>
          <p:nvPr/>
        </p:nvSpPr>
        <p:spPr>
          <a:xfrm>
            <a:off x="2134574" y="2936302"/>
            <a:ext cx="2628755"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dirty="0"/>
              <a:t>DISC </a:t>
            </a:r>
          </a:p>
        </p:txBody>
      </p:sp>
      <p:sp>
        <p:nvSpPr>
          <p:cNvPr id="6" name="向右箭號 5">
            <a:extLst>
              <a:ext uri="{FF2B5EF4-FFF2-40B4-BE49-F238E27FC236}">
                <a16:creationId xmlns:a16="http://schemas.microsoft.com/office/drawing/2014/main" id="{E50DBB68-3284-4031-4D05-395459727526}"/>
              </a:ext>
            </a:extLst>
          </p:cNvPr>
          <p:cNvSpPr/>
          <p:nvPr/>
        </p:nvSpPr>
        <p:spPr>
          <a:xfrm>
            <a:off x="4126401" y="3126923"/>
            <a:ext cx="559171" cy="180431"/>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向右箭號 6">
            <a:extLst>
              <a:ext uri="{FF2B5EF4-FFF2-40B4-BE49-F238E27FC236}">
                <a16:creationId xmlns:a16="http://schemas.microsoft.com/office/drawing/2014/main" id="{CDEC348F-C968-FC2F-A127-81F032A9DBE6}"/>
              </a:ext>
            </a:extLst>
          </p:cNvPr>
          <p:cNvSpPr/>
          <p:nvPr/>
        </p:nvSpPr>
        <p:spPr>
          <a:xfrm>
            <a:off x="6553362" y="3132707"/>
            <a:ext cx="559171" cy="16886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95846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A140B-15D8-5C38-07A7-95122194718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CC6931A-C146-A963-5EFF-BEFFB66C7A98}"/>
              </a:ext>
            </a:extLst>
          </p:cNvPr>
          <p:cNvSpPr>
            <a:spLocks noGrp="1"/>
          </p:cNvSpPr>
          <p:nvPr>
            <p:ph type="title"/>
          </p:nvPr>
        </p:nvSpPr>
        <p:spPr>
          <a:xfrm>
            <a:off x="461414" y="460048"/>
            <a:ext cx="8416820" cy="681037"/>
          </a:xfrm>
        </p:spPr>
        <p:txBody>
          <a:bodyPr>
            <a:noAutofit/>
          </a:bodyPr>
          <a:lstStyle/>
          <a:p>
            <a:pPr lvl="1"/>
            <a:r>
              <a:rPr lang="en" altLang="zh-TW" sz="3000" dirty="0">
                <a:latin typeface="+mj-lt"/>
              </a:rPr>
              <a:t>GSK3 associates with the antiapoptotic proteins DDX3 and cIAP-1</a:t>
            </a:r>
          </a:p>
        </p:txBody>
      </p:sp>
      <p:sp>
        <p:nvSpPr>
          <p:cNvPr id="4" name="投影片編號版面配置區 3">
            <a:extLst>
              <a:ext uri="{FF2B5EF4-FFF2-40B4-BE49-F238E27FC236}">
                <a16:creationId xmlns:a16="http://schemas.microsoft.com/office/drawing/2014/main" id="{23E6D048-1A5D-7ED5-95A9-9164479367CC}"/>
              </a:ext>
            </a:extLst>
          </p:cNvPr>
          <p:cNvSpPr>
            <a:spLocks noGrp="1"/>
          </p:cNvSpPr>
          <p:nvPr>
            <p:ph type="sldNum" sz="quarter" idx="12"/>
          </p:nvPr>
        </p:nvSpPr>
        <p:spPr/>
        <p:txBody>
          <a:bodyPr/>
          <a:lstStyle/>
          <a:p>
            <a:fld id="{5457A026-CD74-A64B-872B-B0D8D2A810A8}" type="slidenum">
              <a:rPr kumimoji="1" lang="zh-TW" altLang="en-US" smtClean="0"/>
              <a:t>20</a:t>
            </a:fld>
            <a:endParaRPr kumimoji="1" lang="zh-TW" altLang="en-US"/>
          </a:p>
        </p:txBody>
      </p:sp>
      <p:pic>
        <p:nvPicPr>
          <p:cNvPr id="5" name="圖片 4" descr="一張含有 文字, 螢幕擷取畫面, 設計 的圖片&#10;&#10;自動產生的描述">
            <a:extLst>
              <a:ext uri="{FF2B5EF4-FFF2-40B4-BE49-F238E27FC236}">
                <a16:creationId xmlns:a16="http://schemas.microsoft.com/office/drawing/2014/main" id="{9B8649E4-36B2-77BA-6509-47AAEDB2B907}"/>
              </a:ext>
            </a:extLst>
          </p:cNvPr>
          <p:cNvPicPr>
            <a:picLocks noChangeAspect="1"/>
          </p:cNvPicPr>
          <p:nvPr/>
        </p:nvPicPr>
        <p:blipFill>
          <a:blip r:embed="rId3"/>
          <a:stretch>
            <a:fillRect/>
          </a:stretch>
        </p:blipFill>
        <p:spPr>
          <a:xfrm>
            <a:off x="1482804" y="1360977"/>
            <a:ext cx="6049466" cy="5360499"/>
          </a:xfrm>
          <a:prstGeom prst="rect">
            <a:avLst/>
          </a:prstGeom>
        </p:spPr>
      </p:pic>
      <p:sp>
        <p:nvSpPr>
          <p:cNvPr id="3" name="文字方塊 2">
            <a:extLst>
              <a:ext uri="{FF2B5EF4-FFF2-40B4-BE49-F238E27FC236}">
                <a16:creationId xmlns:a16="http://schemas.microsoft.com/office/drawing/2014/main" id="{63A5C395-2CAE-CF8E-B3DF-EFBCAAEDE6A3}"/>
              </a:ext>
            </a:extLst>
          </p:cNvPr>
          <p:cNvSpPr txBox="1"/>
          <p:nvPr/>
        </p:nvSpPr>
        <p:spPr>
          <a:xfrm>
            <a:off x="5656307" y="1160242"/>
            <a:ext cx="5718086" cy="646331"/>
          </a:xfrm>
          <a:prstGeom prst="rect">
            <a:avLst/>
          </a:prstGeom>
          <a:noFill/>
        </p:spPr>
        <p:txBody>
          <a:bodyPr wrap="square" rtlCol="0">
            <a:spAutoFit/>
          </a:bodyPr>
          <a:lstStyle/>
          <a:p>
            <a:r>
              <a:rPr lang="en" altLang="zh-TW" b="0" i="0" dirty="0">
                <a:solidFill>
                  <a:srgbClr val="222222"/>
                </a:solidFill>
                <a:effectLst/>
                <a:latin typeface="-apple-system"/>
              </a:rPr>
              <a:t>FL: full-length protein</a:t>
            </a:r>
          </a:p>
          <a:p>
            <a:r>
              <a:rPr lang="en" altLang="zh-TW" b="0" i="0" dirty="0">
                <a:solidFill>
                  <a:srgbClr val="222222"/>
                </a:solidFill>
                <a:effectLst/>
                <a:latin typeface="-apple-system"/>
              </a:rPr>
              <a:t>CL: cleaved fragment</a:t>
            </a:r>
            <a:endParaRPr kumimoji="1" lang="zh-TW" altLang="en-US" dirty="0"/>
          </a:p>
        </p:txBody>
      </p:sp>
    </p:spTree>
    <p:extLst>
      <p:ext uri="{BB962C8B-B14F-4D97-AF65-F5344CB8AC3E}">
        <p14:creationId xmlns:p14="http://schemas.microsoft.com/office/powerpoint/2010/main" val="1905297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B80C9-FB1D-2C5E-6722-F45A779A1A2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66315E7-8AF8-8D47-CFCD-9211944E1100}"/>
              </a:ext>
            </a:extLst>
          </p:cNvPr>
          <p:cNvSpPr>
            <a:spLocks noGrp="1"/>
          </p:cNvSpPr>
          <p:nvPr>
            <p:ph type="title"/>
          </p:nvPr>
        </p:nvSpPr>
        <p:spPr>
          <a:xfrm>
            <a:off x="461414" y="460048"/>
            <a:ext cx="8416820" cy="681037"/>
          </a:xfrm>
        </p:spPr>
        <p:txBody>
          <a:bodyPr>
            <a:noAutofit/>
          </a:bodyPr>
          <a:lstStyle/>
          <a:p>
            <a:pPr lvl="1"/>
            <a:r>
              <a:rPr lang="en" altLang="zh-TW" sz="3000" dirty="0">
                <a:latin typeface="+mj-lt"/>
              </a:rPr>
              <a:t>Apoptosis induced by DNA damage is selectively affected by DDX3</a:t>
            </a:r>
          </a:p>
        </p:txBody>
      </p:sp>
      <p:sp>
        <p:nvSpPr>
          <p:cNvPr id="4" name="投影片編號版面配置區 3">
            <a:extLst>
              <a:ext uri="{FF2B5EF4-FFF2-40B4-BE49-F238E27FC236}">
                <a16:creationId xmlns:a16="http://schemas.microsoft.com/office/drawing/2014/main" id="{3843169B-8B84-4FAE-B2A2-60B2E0B731CE}"/>
              </a:ext>
            </a:extLst>
          </p:cNvPr>
          <p:cNvSpPr>
            <a:spLocks noGrp="1"/>
          </p:cNvSpPr>
          <p:nvPr>
            <p:ph type="sldNum" sz="quarter" idx="12"/>
          </p:nvPr>
        </p:nvSpPr>
        <p:spPr/>
        <p:txBody>
          <a:bodyPr/>
          <a:lstStyle/>
          <a:p>
            <a:fld id="{5457A026-CD74-A64B-872B-B0D8D2A810A8}" type="slidenum">
              <a:rPr kumimoji="1" lang="zh-TW" altLang="en-US" smtClean="0"/>
              <a:t>21</a:t>
            </a:fld>
            <a:endParaRPr kumimoji="1" lang="zh-TW" altLang="en-US"/>
          </a:p>
        </p:txBody>
      </p:sp>
      <p:pic>
        <p:nvPicPr>
          <p:cNvPr id="6" name="圖片 5" descr="一張含有 文字, 螢幕擷取畫面, 收據, 圖表 的圖片&#10;&#10;自動產生的描述">
            <a:extLst>
              <a:ext uri="{FF2B5EF4-FFF2-40B4-BE49-F238E27FC236}">
                <a16:creationId xmlns:a16="http://schemas.microsoft.com/office/drawing/2014/main" id="{9A32922A-1F43-40C5-BBDA-BB1F78E13587}"/>
              </a:ext>
            </a:extLst>
          </p:cNvPr>
          <p:cNvPicPr>
            <a:picLocks noChangeAspect="1"/>
          </p:cNvPicPr>
          <p:nvPr/>
        </p:nvPicPr>
        <p:blipFill>
          <a:blip r:embed="rId3"/>
          <a:srcRect b="56796"/>
          <a:stretch/>
        </p:blipFill>
        <p:spPr>
          <a:xfrm>
            <a:off x="277242" y="2352462"/>
            <a:ext cx="4316293" cy="2714748"/>
          </a:xfrm>
          <a:prstGeom prst="rect">
            <a:avLst/>
          </a:prstGeom>
        </p:spPr>
      </p:pic>
      <p:pic>
        <p:nvPicPr>
          <p:cNvPr id="3" name="圖片 2" descr="一張含有 文字, 螢幕擷取畫面, 收據, 圖表 的圖片&#10;&#10;自動產生的描述">
            <a:extLst>
              <a:ext uri="{FF2B5EF4-FFF2-40B4-BE49-F238E27FC236}">
                <a16:creationId xmlns:a16="http://schemas.microsoft.com/office/drawing/2014/main" id="{6B04CA6D-8BCD-F9BE-7428-ABAAE6A9E8F9}"/>
              </a:ext>
            </a:extLst>
          </p:cNvPr>
          <p:cNvPicPr>
            <a:picLocks noChangeAspect="1"/>
          </p:cNvPicPr>
          <p:nvPr/>
        </p:nvPicPr>
        <p:blipFill>
          <a:blip r:embed="rId3"/>
          <a:srcRect t="42595"/>
          <a:stretch/>
        </p:blipFill>
        <p:spPr>
          <a:xfrm>
            <a:off x="4384776" y="1603566"/>
            <a:ext cx="4648747" cy="3884898"/>
          </a:xfrm>
          <a:prstGeom prst="rect">
            <a:avLst/>
          </a:prstGeom>
        </p:spPr>
      </p:pic>
    </p:spTree>
    <p:extLst>
      <p:ext uri="{BB962C8B-B14F-4D97-AF65-F5344CB8AC3E}">
        <p14:creationId xmlns:p14="http://schemas.microsoft.com/office/powerpoint/2010/main" val="995652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74EF4-6431-701A-74DF-8F7C6B126820}"/>
            </a:ext>
          </a:extLst>
        </p:cNvPr>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CA8EE54-6E30-6E56-6451-BA8CE140FEB8}"/>
              </a:ext>
            </a:extLst>
          </p:cNvPr>
          <p:cNvSpPr>
            <a:spLocks noGrp="1"/>
          </p:cNvSpPr>
          <p:nvPr>
            <p:ph type="sldNum" sz="quarter" idx="12"/>
          </p:nvPr>
        </p:nvSpPr>
        <p:spPr/>
        <p:txBody>
          <a:bodyPr/>
          <a:lstStyle/>
          <a:p>
            <a:fld id="{5457A026-CD74-A64B-872B-B0D8D2A810A8}" type="slidenum">
              <a:rPr kumimoji="1" lang="zh-TW" altLang="en-US" smtClean="0"/>
              <a:t>22</a:t>
            </a:fld>
            <a:endParaRPr kumimoji="1" lang="zh-TW" altLang="en-US"/>
          </a:p>
        </p:txBody>
      </p:sp>
      <p:sp>
        <p:nvSpPr>
          <p:cNvPr id="9" name="內容版面配置區 2">
            <a:extLst>
              <a:ext uri="{FF2B5EF4-FFF2-40B4-BE49-F238E27FC236}">
                <a16:creationId xmlns:a16="http://schemas.microsoft.com/office/drawing/2014/main" id="{C5EF7983-1696-9A35-598F-FE057F34D5B8}"/>
              </a:ext>
            </a:extLst>
          </p:cNvPr>
          <p:cNvSpPr txBox="1">
            <a:spLocks/>
          </p:cNvSpPr>
          <p:nvPr/>
        </p:nvSpPr>
        <p:spPr>
          <a:xfrm>
            <a:off x="6832948" y="2987583"/>
            <a:ext cx="2311052"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t>Apoptosis</a:t>
            </a:r>
          </a:p>
        </p:txBody>
      </p:sp>
      <p:sp>
        <p:nvSpPr>
          <p:cNvPr id="5" name="內容版面配置區 2">
            <a:extLst>
              <a:ext uri="{FF2B5EF4-FFF2-40B4-BE49-F238E27FC236}">
                <a16:creationId xmlns:a16="http://schemas.microsoft.com/office/drawing/2014/main" id="{28B00F9C-E355-4F10-CBAD-FA03F526791A}"/>
              </a:ext>
            </a:extLst>
          </p:cNvPr>
          <p:cNvSpPr txBox="1">
            <a:spLocks/>
          </p:cNvSpPr>
          <p:nvPr/>
        </p:nvSpPr>
        <p:spPr>
          <a:xfrm>
            <a:off x="4463942" y="2867328"/>
            <a:ext cx="2311052"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t>Caspase-3 activate</a:t>
            </a:r>
          </a:p>
        </p:txBody>
      </p:sp>
      <p:sp>
        <p:nvSpPr>
          <p:cNvPr id="11" name="向右箭號 10">
            <a:extLst>
              <a:ext uri="{FF2B5EF4-FFF2-40B4-BE49-F238E27FC236}">
                <a16:creationId xmlns:a16="http://schemas.microsoft.com/office/drawing/2014/main" id="{38311F73-BEDD-007F-25D9-76D6CBF7BA99}"/>
              </a:ext>
            </a:extLst>
          </p:cNvPr>
          <p:cNvSpPr/>
          <p:nvPr/>
        </p:nvSpPr>
        <p:spPr>
          <a:xfrm>
            <a:off x="2252835" y="3121140"/>
            <a:ext cx="559171" cy="180431"/>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內容版面配置區 2">
            <a:extLst>
              <a:ext uri="{FF2B5EF4-FFF2-40B4-BE49-F238E27FC236}">
                <a16:creationId xmlns:a16="http://schemas.microsoft.com/office/drawing/2014/main" id="{462CE19B-74C8-C3AB-D25E-745BC884411E}"/>
              </a:ext>
            </a:extLst>
          </p:cNvPr>
          <p:cNvSpPr txBox="1">
            <a:spLocks/>
          </p:cNvSpPr>
          <p:nvPr/>
        </p:nvSpPr>
        <p:spPr>
          <a:xfrm>
            <a:off x="429193" y="2472717"/>
            <a:ext cx="1857252" cy="15914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 altLang="zh-TW" sz="2400" dirty="0"/>
              <a:t>TRAIL-R2</a:t>
            </a:r>
          </a:p>
          <a:p>
            <a:pPr marL="0" indent="0" algn="ctr">
              <a:lnSpc>
                <a:spcPct val="100000"/>
              </a:lnSpc>
              <a:spcBef>
                <a:spcPts val="0"/>
              </a:spcBef>
              <a:buFont typeface="Arial" panose="020B0604020202020204" pitchFamily="34" charset="0"/>
              <a:buNone/>
            </a:pPr>
            <a:r>
              <a:rPr lang="en" altLang="zh-TW" sz="2400" dirty="0"/>
              <a:t>TRAIL-R1</a:t>
            </a:r>
            <a:endParaRPr lang="en-US" altLang="zh-TW" sz="2400" dirty="0"/>
          </a:p>
          <a:p>
            <a:pPr marL="0" indent="0" algn="ctr">
              <a:lnSpc>
                <a:spcPct val="100000"/>
              </a:lnSpc>
              <a:spcBef>
                <a:spcPts val="0"/>
              </a:spcBef>
              <a:buFont typeface="Arial" panose="020B0604020202020204" pitchFamily="34" charset="0"/>
              <a:buNone/>
            </a:pPr>
            <a:r>
              <a:rPr lang="en" altLang="zh-TW" sz="2400" b="0" i="0" dirty="0" err="1">
                <a:solidFill>
                  <a:srgbClr val="222222"/>
                </a:solidFill>
                <a:effectLst/>
                <a:latin typeface="-apple-system"/>
              </a:rPr>
              <a:t>Fas</a:t>
            </a:r>
            <a:endParaRPr lang="en-US" altLang="zh-TW" sz="2400" dirty="0">
              <a:solidFill>
                <a:srgbClr val="222222"/>
              </a:solidFill>
              <a:latin typeface="-apple-system"/>
            </a:endParaRPr>
          </a:p>
          <a:p>
            <a:pPr marL="0" indent="0" algn="ctr">
              <a:lnSpc>
                <a:spcPct val="100000"/>
              </a:lnSpc>
              <a:spcBef>
                <a:spcPts val="0"/>
              </a:spcBef>
              <a:buFont typeface="Arial" panose="020B0604020202020204" pitchFamily="34" charset="0"/>
              <a:buNone/>
            </a:pPr>
            <a:r>
              <a:rPr lang="en" altLang="zh-TW" sz="2400" b="0" i="0" dirty="0">
                <a:solidFill>
                  <a:srgbClr val="222222"/>
                </a:solidFill>
                <a:effectLst/>
                <a:latin typeface="-apple-system"/>
              </a:rPr>
              <a:t>TNF </a:t>
            </a:r>
            <a:r>
              <a:rPr lang="el-GR" altLang="zh-TW" sz="2400" b="0" i="1" dirty="0">
                <a:solidFill>
                  <a:srgbClr val="222222"/>
                </a:solidFill>
                <a:effectLst/>
                <a:latin typeface="-apple-system"/>
              </a:rPr>
              <a:t>α</a:t>
            </a:r>
            <a:endParaRPr lang="en" altLang="zh-TW" sz="2400" dirty="0"/>
          </a:p>
          <a:p>
            <a:pPr marL="0" indent="0" algn="ctr">
              <a:lnSpc>
                <a:spcPct val="100000"/>
              </a:lnSpc>
              <a:spcBef>
                <a:spcPts val="0"/>
              </a:spcBef>
              <a:buFont typeface="Arial" panose="020B0604020202020204" pitchFamily="34" charset="0"/>
              <a:buNone/>
            </a:pPr>
            <a:endParaRPr kumimoji="1" lang="en-US" altLang="zh-TW" sz="2400" dirty="0"/>
          </a:p>
        </p:txBody>
      </p:sp>
      <p:sp>
        <p:nvSpPr>
          <p:cNvPr id="3" name="內容版面配置區 2">
            <a:extLst>
              <a:ext uri="{FF2B5EF4-FFF2-40B4-BE49-F238E27FC236}">
                <a16:creationId xmlns:a16="http://schemas.microsoft.com/office/drawing/2014/main" id="{1992C190-464D-A6FF-FBAB-6E6F308534D7}"/>
              </a:ext>
            </a:extLst>
          </p:cNvPr>
          <p:cNvSpPr txBox="1">
            <a:spLocks/>
          </p:cNvSpPr>
          <p:nvPr/>
        </p:nvSpPr>
        <p:spPr>
          <a:xfrm>
            <a:off x="2134574" y="2936302"/>
            <a:ext cx="2628755"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dirty="0"/>
              <a:t>DISC </a:t>
            </a:r>
          </a:p>
        </p:txBody>
      </p:sp>
      <p:sp>
        <p:nvSpPr>
          <p:cNvPr id="6" name="向右箭號 5">
            <a:extLst>
              <a:ext uri="{FF2B5EF4-FFF2-40B4-BE49-F238E27FC236}">
                <a16:creationId xmlns:a16="http://schemas.microsoft.com/office/drawing/2014/main" id="{BF78D2EF-BF7C-FC38-49C8-3A2C7711F54B}"/>
              </a:ext>
            </a:extLst>
          </p:cNvPr>
          <p:cNvSpPr/>
          <p:nvPr/>
        </p:nvSpPr>
        <p:spPr>
          <a:xfrm>
            <a:off x="4126401" y="3126923"/>
            <a:ext cx="559171" cy="180431"/>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向右箭號 6">
            <a:extLst>
              <a:ext uri="{FF2B5EF4-FFF2-40B4-BE49-F238E27FC236}">
                <a16:creationId xmlns:a16="http://schemas.microsoft.com/office/drawing/2014/main" id="{89D11753-2A01-04D7-3931-CF3F8232CF40}"/>
              </a:ext>
            </a:extLst>
          </p:cNvPr>
          <p:cNvSpPr/>
          <p:nvPr/>
        </p:nvSpPr>
        <p:spPr>
          <a:xfrm>
            <a:off x="6553362" y="3132707"/>
            <a:ext cx="559171" cy="16886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12" name="群組 11">
            <a:extLst>
              <a:ext uri="{FF2B5EF4-FFF2-40B4-BE49-F238E27FC236}">
                <a16:creationId xmlns:a16="http://schemas.microsoft.com/office/drawing/2014/main" id="{AA7DD709-1C0B-63F2-6F94-C47E3D69ABD7}"/>
              </a:ext>
            </a:extLst>
          </p:cNvPr>
          <p:cNvGrpSpPr/>
          <p:nvPr/>
        </p:nvGrpSpPr>
        <p:grpSpPr>
          <a:xfrm>
            <a:off x="5189794" y="706767"/>
            <a:ext cx="1884209" cy="1051664"/>
            <a:chOff x="2535345" y="772664"/>
            <a:chExt cx="1884209" cy="1051664"/>
          </a:xfrm>
        </p:grpSpPr>
        <p:sp>
          <p:nvSpPr>
            <p:cNvPr id="2" name="內容版面配置區 2">
              <a:extLst>
                <a:ext uri="{FF2B5EF4-FFF2-40B4-BE49-F238E27FC236}">
                  <a16:creationId xmlns:a16="http://schemas.microsoft.com/office/drawing/2014/main" id="{38F307BE-0A63-E440-8285-56FFBB0BE32C}"/>
                </a:ext>
              </a:extLst>
            </p:cNvPr>
            <p:cNvSpPr txBox="1">
              <a:spLocks/>
            </p:cNvSpPr>
            <p:nvPr/>
          </p:nvSpPr>
          <p:spPr>
            <a:xfrm>
              <a:off x="2953880" y="1388884"/>
              <a:ext cx="977887" cy="435444"/>
            </a:xfrm>
            <a:prstGeom prst="rect">
              <a:avLst/>
            </a:prstGeom>
            <a:ln w="38100"/>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solidFill>
                    <a:schemeClr val="accent2"/>
                  </a:solidFill>
                </a:rPr>
                <a:t>GSK3</a:t>
              </a:r>
            </a:p>
            <a:p>
              <a:pPr marL="0" indent="0" algn="ctr">
                <a:lnSpc>
                  <a:spcPct val="100000"/>
                </a:lnSpc>
                <a:spcBef>
                  <a:spcPts val="0"/>
                </a:spcBef>
                <a:buFont typeface="Arial" panose="020B0604020202020204" pitchFamily="34" charset="0"/>
                <a:buNone/>
              </a:pPr>
              <a:endParaRPr kumimoji="1" lang="en-US" altLang="zh-TW" sz="2400" dirty="0">
                <a:solidFill>
                  <a:schemeClr val="accent2"/>
                </a:solidFill>
              </a:endParaRPr>
            </a:p>
          </p:txBody>
        </p:sp>
        <p:sp>
          <p:nvSpPr>
            <p:cNvPr id="8" name="內容版面配置區 2">
              <a:extLst>
                <a:ext uri="{FF2B5EF4-FFF2-40B4-BE49-F238E27FC236}">
                  <a16:creationId xmlns:a16="http://schemas.microsoft.com/office/drawing/2014/main" id="{9FE39676-0CCE-EFE9-674E-67EA87E4FD13}"/>
                </a:ext>
              </a:extLst>
            </p:cNvPr>
            <p:cNvSpPr txBox="1">
              <a:spLocks/>
            </p:cNvSpPr>
            <p:nvPr/>
          </p:nvSpPr>
          <p:spPr>
            <a:xfrm>
              <a:off x="2535345" y="772664"/>
              <a:ext cx="1884209" cy="435444"/>
            </a:xfrm>
            <a:prstGeom prst="rect">
              <a:avLst/>
            </a:prstGeom>
            <a:ln w="38100"/>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solidFill>
                    <a:schemeClr val="accent2"/>
                  </a:solidFill>
                </a:rPr>
                <a:t>N’-DDX3-C’</a:t>
              </a:r>
            </a:p>
            <a:p>
              <a:pPr marL="0" indent="0" algn="ctr">
                <a:lnSpc>
                  <a:spcPct val="100000"/>
                </a:lnSpc>
                <a:spcBef>
                  <a:spcPts val="0"/>
                </a:spcBef>
                <a:buFont typeface="Arial" panose="020B0604020202020204" pitchFamily="34" charset="0"/>
                <a:buNone/>
              </a:pPr>
              <a:endParaRPr kumimoji="1" lang="en-US" altLang="zh-TW" sz="2400" dirty="0">
                <a:solidFill>
                  <a:schemeClr val="accent2"/>
                </a:solidFill>
              </a:endParaRPr>
            </a:p>
          </p:txBody>
        </p:sp>
        <p:sp>
          <p:nvSpPr>
            <p:cNvPr id="10" name="矩形 9">
              <a:extLst>
                <a:ext uri="{FF2B5EF4-FFF2-40B4-BE49-F238E27FC236}">
                  <a16:creationId xmlns:a16="http://schemas.microsoft.com/office/drawing/2014/main" id="{BF71DF26-FCD9-7B22-F409-2A05166D23E9}"/>
                </a:ext>
              </a:extLst>
            </p:cNvPr>
            <p:cNvSpPr/>
            <p:nvPr/>
          </p:nvSpPr>
          <p:spPr>
            <a:xfrm>
              <a:off x="3408195" y="1208108"/>
              <a:ext cx="103882" cy="18077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grpSp>
      <p:grpSp>
        <p:nvGrpSpPr>
          <p:cNvPr id="13" name="群組 12">
            <a:extLst>
              <a:ext uri="{FF2B5EF4-FFF2-40B4-BE49-F238E27FC236}">
                <a16:creationId xmlns:a16="http://schemas.microsoft.com/office/drawing/2014/main" id="{3EB754DE-68C5-4E9A-A5CA-355153C4C6D3}"/>
              </a:ext>
            </a:extLst>
          </p:cNvPr>
          <p:cNvGrpSpPr/>
          <p:nvPr/>
        </p:nvGrpSpPr>
        <p:grpSpPr>
          <a:xfrm>
            <a:off x="2557786" y="706767"/>
            <a:ext cx="1884209" cy="1051664"/>
            <a:chOff x="2535345" y="772664"/>
            <a:chExt cx="1884209" cy="1051664"/>
          </a:xfrm>
        </p:grpSpPr>
        <p:sp>
          <p:nvSpPr>
            <p:cNvPr id="14" name="內容版面配置區 2">
              <a:extLst>
                <a:ext uri="{FF2B5EF4-FFF2-40B4-BE49-F238E27FC236}">
                  <a16:creationId xmlns:a16="http://schemas.microsoft.com/office/drawing/2014/main" id="{BA3D0D5D-95FA-E795-6905-77FE75E9DE0C}"/>
                </a:ext>
              </a:extLst>
            </p:cNvPr>
            <p:cNvSpPr txBox="1">
              <a:spLocks/>
            </p:cNvSpPr>
            <p:nvPr/>
          </p:nvSpPr>
          <p:spPr>
            <a:xfrm>
              <a:off x="2953880" y="1388884"/>
              <a:ext cx="977887" cy="435444"/>
            </a:xfrm>
            <a:prstGeom prst="rect">
              <a:avLst/>
            </a:prstGeom>
            <a:ln w="38100"/>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solidFill>
                    <a:schemeClr val="accent2"/>
                  </a:solidFill>
                </a:rPr>
                <a:t>GSK3</a:t>
              </a:r>
            </a:p>
            <a:p>
              <a:pPr marL="0" indent="0" algn="ctr">
                <a:lnSpc>
                  <a:spcPct val="100000"/>
                </a:lnSpc>
                <a:spcBef>
                  <a:spcPts val="0"/>
                </a:spcBef>
                <a:buFont typeface="Arial" panose="020B0604020202020204" pitchFamily="34" charset="0"/>
                <a:buNone/>
              </a:pPr>
              <a:endParaRPr kumimoji="1" lang="en-US" altLang="zh-TW" sz="2400" dirty="0">
                <a:solidFill>
                  <a:schemeClr val="accent2"/>
                </a:solidFill>
              </a:endParaRPr>
            </a:p>
          </p:txBody>
        </p:sp>
        <p:sp>
          <p:nvSpPr>
            <p:cNvPr id="15" name="內容版面配置區 2">
              <a:extLst>
                <a:ext uri="{FF2B5EF4-FFF2-40B4-BE49-F238E27FC236}">
                  <a16:creationId xmlns:a16="http://schemas.microsoft.com/office/drawing/2014/main" id="{F00D6524-49B3-D080-277A-583FAA8D94B2}"/>
                </a:ext>
              </a:extLst>
            </p:cNvPr>
            <p:cNvSpPr txBox="1">
              <a:spLocks/>
            </p:cNvSpPr>
            <p:nvPr/>
          </p:nvSpPr>
          <p:spPr>
            <a:xfrm>
              <a:off x="2535345" y="772664"/>
              <a:ext cx="1884209" cy="435444"/>
            </a:xfrm>
            <a:prstGeom prst="rect">
              <a:avLst/>
            </a:prstGeom>
            <a:ln w="38100"/>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solidFill>
                    <a:schemeClr val="accent2"/>
                  </a:solidFill>
                </a:rPr>
                <a:t>DDX3-C’</a:t>
              </a:r>
            </a:p>
            <a:p>
              <a:pPr marL="0" indent="0" algn="ctr">
                <a:lnSpc>
                  <a:spcPct val="100000"/>
                </a:lnSpc>
                <a:spcBef>
                  <a:spcPts val="0"/>
                </a:spcBef>
                <a:buFont typeface="Arial" panose="020B0604020202020204" pitchFamily="34" charset="0"/>
                <a:buNone/>
              </a:pPr>
              <a:endParaRPr kumimoji="1" lang="en-US" altLang="zh-TW" sz="2400" dirty="0">
                <a:solidFill>
                  <a:schemeClr val="accent2"/>
                </a:solidFill>
              </a:endParaRPr>
            </a:p>
          </p:txBody>
        </p:sp>
        <p:sp>
          <p:nvSpPr>
            <p:cNvPr id="19" name="矩形 18">
              <a:extLst>
                <a:ext uri="{FF2B5EF4-FFF2-40B4-BE49-F238E27FC236}">
                  <a16:creationId xmlns:a16="http://schemas.microsoft.com/office/drawing/2014/main" id="{052A7D81-1B0C-5005-0FE7-4905AD0B6B5D}"/>
                </a:ext>
              </a:extLst>
            </p:cNvPr>
            <p:cNvSpPr/>
            <p:nvPr/>
          </p:nvSpPr>
          <p:spPr>
            <a:xfrm>
              <a:off x="3408195" y="1208108"/>
              <a:ext cx="103882" cy="18077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grpSp>
      <p:sp>
        <p:nvSpPr>
          <p:cNvPr id="21" name="向右箭號 20">
            <a:extLst>
              <a:ext uri="{FF2B5EF4-FFF2-40B4-BE49-F238E27FC236}">
                <a16:creationId xmlns:a16="http://schemas.microsoft.com/office/drawing/2014/main" id="{CB6E531F-E7BA-32C2-2866-3B067E33A72E}"/>
              </a:ext>
            </a:extLst>
          </p:cNvPr>
          <p:cNvSpPr/>
          <p:nvPr/>
        </p:nvSpPr>
        <p:spPr>
          <a:xfrm rot="10800000">
            <a:off x="4546177" y="1241307"/>
            <a:ext cx="559171" cy="180431"/>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35" name="直線箭頭接點 34">
            <a:extLst>
              <a:ext uri="{FF2B5EF4-FFF2-40B4-BE49-F238E27FC236}">
                <a16:creationId xmlns:a16="http://schemas.microsoft.com/office/drawing/2014/main" id="{A91FD9EE-51FD-AD40-0EE1-21AA16A913CA}"/>
              </a:ext>
            </a:extLst>
          </p:cNvPr>
          <p:cNvCxnSpPr>
            <a:cxnSpLocks/>
            <a:stCxn id="5" idx="0"/>
          </p:cNvCxnSpPr>
          <p:nvPr/>
        </p:nvCxnSpPr>
        <p:spPr>
          <a:xfrm flipH="1" flipV="1">
            <a:off x="4911504" y="1491021"/>
            <a:ext cx="707964" cy="1376307"/>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2227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8E6C2-BA18-2403-C7EA-010E1D14E976}"/>
            </a:ext>
          </a:extLst>
        </p:cNvPr>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B38665BC-A3A0-F7D0-560C-39D07AA677EA}"/>
              </a:ext>
            </a:extLst>
          </p:cNvPr>
          <p:cNvSpPr>
            <a:spLocks noGrp="1"/>
          </p:cNvSpPr>
          <p:nvPr>
            <p:ph type="sldNum" sz="quarter" idx="12"/>
          </p:nvPr>
        </p:nvSpPr>
        <p:spPr/>
        <p:txBody>
          <a:bodyPr/>
          <a:lstStyle/>
          <a:p>
            <a:fld id="{5457A026-CD74-A64B-872B-B0D8D2A810A8}" type="slidenum">
              <a:rPr kumimoji="1" lang="zh-TW" altLang="en-US" smtClean="0"/>
              <a:t>23</a:t>
            </a:fld>
            <a:endParaRPr kumimoji="1" lang="zh-TW" altLang="en-US"/>
          </a:p>
        </p:txBody>
      </p:sp>
      <p:sp>
        <p:nvSpPr>
          <p:cNvPr id="9" name="內容版面配置區 2">
            <a:extLst>
              <a:ext uri="{FF2B5EF4-FFF2-40B4-BE49-F238E27FC236}">
                <a16:creationId xmlns:a16="http://schemas.microsoft.com/office/drawing/2014/main" id="{34F6DF49-837A-62AC-0FB9-888AF6C22EE7}"/>
              </a:ext>
            </a:extLst>
          </p:cNvPr>
          <p:cNvSpPr txBox="1">
            <a:spLocks/>
          </p:cNvSpPr>
          <p:nvPr/>
        </p:nvSpPr>
        <p:spPr>
          <a:xfrm>
            <a:off x="6832948" y="2987583"/>
            <a:ext cx="2311052"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t>Apoptosis</a:t>
            </a:r>
          </a:p>
        </p:txBody>
      </p:sp>
      <p:sp>
        <p:nvSpPr>
          <p:cNvPr id="5" name="內容版面配置區 2">
            <a:extLst>
              <a:ext uri="{FF2B5EF4-FFF2-40B4-BE49-F238E27FC236}">
                <a16:creationId xmlns:a16="http://schemas.microsoft.com/office/drawing/2014/main" id="{E27E6011-1146-F293-5EE3-96E1A9E898C6}"/>
              </a:ext>
            </a:extLst>
          </p:cNvPr>
          <p:cNvSpPr txBox="1">
            <a:spLocks/>
          </p:cNvSpPr>
          <p:nvPr/>
        </p:nvSpPr>
        <p:spPr>
          <a:xfrm>
            <a:off x="4463942" y="2867328"/>
            <a:ext cx="2311052"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t>Caspase-3 activate</a:t>
            </a:r>
          </a:p>
        </p:txBody>
      </p:sp>
      <p:sp>
        <p:nvSpPr>
          <p:cNvPr id="11" name="向右箭號 10">
            <a:extLst>
              <a:ext uri="{FF2B5EF4-FFF2-40B4-BE49-F238E27FC236}">
                <a16:creationId xmlns:a16="http://schemas.microsoft.com/office/drawing/2014/main" id="{DB7C5798-1EE7-D334-16E7-D0F1AB662F96}"/>
              </a:ext>
            </a:extLst>
          </p:cNvPr>
          <p:cNvSpPr/>
          <p:nvPr/>
        </p:nvSpPr>
        <p:spPr>
          <a:xfrm>
            <a:off x="2252835" y="3121140"/>
            <a:ext cx="559171" cy="180431"/>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內容版面配置區 2">
            <a:extLst>
              <a:ext uri="{FF2B5EF4-FFF2-40B4-BE49-F238E27FC236}">
                <a16:creationId xmlns:a16="http://schemas.microsoft.com/office/drawing/2014/main" id="{57323CDD-7287-C73D-9BFE-6F51F21402A6}"/>
              </a:ext>
            </a:extLst>
          </p:cNvPr>
          <p:cNvSpPr txBox="1">
            <a:spLocks/>
          </p:cNvSpPr>
          <p:nvPr/>
        </p:nvSpPr>
        <p:spPr>
          <a:xfrm>
            <a:off x="429193" y="2472717"/>
            <a:ext cx="1857252" cy="15914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 altLang="zh-TW" sz="2400" dirty="0"/>
              <a:t>TRAIL-R2</a:t>
            </a:r>
          </a:p>
          <a:p>
            <a:pPr marL="0" indent="0" algn="ctr">
              <a:lnSpc>
                <a:spcPct val="100000"/>
              </a:lnSpc>
              <a:spcBef>
                <a:spcPts val="0"/>
              </a:spcBef>
              <a:buFont typeface="Arial" panose="020B0604020202020204" pitchFamily="34" charset="0"/>
              <a:buNone/>
            </a:pPr>
            <a:r>
              <a:rPr lang="en" altLang="zh-TW" sz="2400" dirty="0"/>
              <a:t>TRAIL-R1</a:t>
            </a:r>
            <a:endParaRPr lang="en-US" altLang="zh-TW" sz="2400" dirty="0"/>
          </a:p>
          <a:p>
            <a:pPr marL="0" indent="0" algn="ctr">
              <a:lnSpc>
                <a:spcPct val="100000"/>
              </a:lnSpc>
              <a:spcBef>
                <a:spcPts val="0"/>
              </a:spcBef>
              <a:buFont typeface="Arial" panose="020B0604020202020204" pitchFamily="34" charset="0"/>
              <a:buNone/>
            </a:pPr>
            <a:r>
              <a:rPr lang="en" altLang="zh-TW" sz="2400" b="0" i="0" dirty="0" err="1">
                <a:solidFill>
                  <a:srgbClr val="222222"/>
                </a:solidFill>
                <a:effectLst/>
                <a:latin typeface="-apple-system"/>
              </a:rPr>
              <a:t>Fas</a:t>
            </a:r>
            <a:endParaRPr lang="en-US" altLang="zh-TW" sz="2400" dirty="0">
              <a:solidFill>
                <a:srgbClr val="222222"/>
              </a:solidFill>
              <a:latin typeface="-apple-system"/>
            </a:endParaRPr>
          </a:p>
          <a:p>
            <a:pPr marL="0" indent="0" algn="ctr">
              <a:lnSpc>
                <a:spcPct val="100000"/>
              </a:lnSpc>
              <a:spcBef>
                <a:spcPts val="0"/>
              </a:spcBef>
              <a:buFont typeface="Arial" panose="020B0604020202020204" pitchFamily="34" charset="0"/>
              <a:buNone/>
            </a:pPr>
            <a:r>
              <a:rPr lang="en" altLang="zh-TW" sz="2400" b="0" i="0" dirty="0">
                <a:solidFill>
                  <a:srgbClr val="222222"/>
                </a:solidFill>
                <a:effectLst/>
                <a:latin typeface="-apple-system"/>
              </a:rPr>
              <a:t>TNF </a:t>
            </a:r>
            <a:r>
              <a:rPr lang="el-GR" altLang="zh-TW" sz="2400" b="0" i="1" dirty="0">
                <a:solidFill>
                  <a:srgbClr val="222222"/>
                </a:solidFill>
                <a:effectLst/>
                <a:latin typeface="-apple-system"/>
              </a:rPr>
              <a:t>α</a:t>
            </a:r>
            <a:endParaRPr lang="en" altLang="zh-TW" sz="2400" dirty="0"/>
          </a:p>
          <a:p>
            <a:pPr marL="0" indent="0" algn="ctr">
              <a:lnSpc>
                <a:spcPct val="100000"/>
              </a:lnSpc>
              <a:spcBef>
                <a:spcPts val="0"/>
              </a:spcBef>
              <a:buFont typeface="Arial" panose="020B0604020202020204" pitchFamily="34" charset="0"/>
              <a:buNone/>
            </a:pPr>
            <a:endParaRPr kumimoji="1" lang="en-US" altLang="zh-TW" sz="2400" dirty="0"/>
          </a:p>
        </p:txBody>
      </p:sp>
      <p:sp>
        <p:nvSpPr>
          <p:cNvPr id="3" name="內容版面配置區 2">
            <a:extLst>
              <a:ext uri="{FF2B5EF4-FFF2-40B4-BE49-F238E27FC236}">
                <a16:creationId xmlns:a16="http://schemas.microsoft.com/office/drawing/2014/main" id="{F8DC1761-61B7-9C86-58EB-CD06F6FE9038}"/>
              </a:ext>
            </a:extLst>
          </p:cNvPr>
          <p:cNvSpPr txBox="1">
            <a:spLocks/>
          </p:cNvSpPr>
          <p:nvPr/>
        </p:nvSpPr>
        <p:spPr>
          <a:xfrm>
            <a:off x="2134574" y="2936302"/>
            <a:ext cx="2628755" cy="561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dirty="0"/>
              <a:t>DISC </a:t>
            </a:r>
          </a:p>
        </p:txBody>
      </p:sp>
      <p:sp>
        <p:nvSpPr>
          <p:cNvPr id="6" name="向右箭號 5">
            <a:extLst>
              <a:ext uri="{FF2B5EF4-FFF2-40B4-BE49-F238E27FC236}">
                <a16:creationId xmlns:a16="http://schemas.microsoft.com/office/drawing/2014/main" id="{7871BABD-F10E-639A-998C-D1B3B940C321}"/>
              </a:ext>
            </a:extLst>
          </p:cNvPr>
          <p:cNvSpPr/>
          <p:nvPr/>
        </p:nvSpPr>
        <p:spPr>
          <a:xfrm>
            <a:off x="4126401" y="3126923"/>
            <a:ext cx="559171" cy="180431"/>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向右箭號 6">
            <a:extLst>
              <a:ext uri="{FF2B5EF4-FFF2-40B4-BE49-F238E27FC236}">
                <a16:creationId xmlns:a16="http://schemas.microsoft.com/office/drawing/2014/main" id="{59B3618E-0D09-17D6-DF67-FC35AACEFBAB}"/>
              </a:ext>
            </a:extLst>
          </p:cNvPr>
          <p:cNvSpPr/>
          <p:nvPr/>
        </p:nvSpPr>
        <p:spPr>
          <a:xfrm>
            <a:off x="6553362" y="3132707"/>
            <a:ext cx="559171" cy="16886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28" name="群組 27">
            <a:extLst>
              <a:ext uri="{FF2B5EF4-FFF2-40B4-BE49-F238E27FC236}">
                <a16:creationId xmlns:a16="http://schemas.microsoft.com/office/drawing/2014/main" id="{E23326DF-CFC6-F466-A236-0BFF415FBE74}"/>
              </a:ext>
            </a:extLst>
          </p:cNvPr>
          <p:cNvGrpSpPr/>
          <p:nvPr/>
        </p:nvGrpSpPr>
        <p:grpSpPr>
          <a:xfrm>
            <a:off x="2535345" y="275403"/>
            <a:ext cx="1884209" cy="1640599"/>
            <a:chOff x="2557786" y="117832"/>
            <a:chExt cx="1884209" cy="1640599"/>
          </a:xfrm>
        </p:grpSpPr>
        <p:grpSp>
          <p:nvGrpSpPr>
            <p:cNvPr id="13" name="群組 12">
              <a:extLst>
                <a:ext uri="{FF2B5EF4-FFF2-40B4-BE49-F238E27FC236}">
                  <a16:creationId xmlns:a16="http://schemas.microsoft.com/office/drawing/2014/main" id="{008C014D-9C2B-7465-6158-9EEDF9E93AF3}"/>
                </a:ext>
              </a:extLst>
            </p:cNvPr>
            <p:cNvGrpSpPr/>
            <p:nvPr/>
          </p:nvGrpSpPr>
          <p:grpSpPr>
            <a:xfrm>
              <a:off x="2557786" y="706767"/>
              <a:ext cx="1884209" cy="1051664"/>
              <a:chOff x="2535345" y="772664"/>
              <a:chExt cx="1884209" cy="1051664"/>
            </a:xfrm>
          </p:grpSpPr>
          <p:sp>
            <p:nvSpPr>
              <p:cNvPr id="14" name="內容版面配置區 2">
                <a:extLst>
                  <a:ext uri="{FF2B5EF4-FFF2-40B4-BE49-F238E27FC236}">
                    <a16:creationId xmlns:a16="http://schemas.microsoft.com/office/drawing/2014/main" id="{2CD344AD-BA4A-4A1D-7D13-4C3D1A4C9819}"/>
                  </a:ext>
                </a:extLst>
              </p:cNvPr>
              <p:cNvSpPr txBox="1">
                <a:spLocks/>
              </p:cNvSpPr>
              <p:nvPr/>
            </p:nvSpPr>
            <p:spPr>
              <a:xfrm>
                <a:off x="2953880" y="1388884"/>
                <a:ext cx="977887" cy="435444"/>
              </a:xfrm>
              <a:prstGeom prst="rect">
                <a:avLst/>
              </a:prstGeom>
              <a:ln w="38100"/>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solidFill>
                      <a:schemeClr val="accent2"/>
                    </a:solidFill>
                  </a:rPr>
                  <a:t>GSK3</a:t>
                </a:r>
              </a:p>
              <a:p>
                <a:pPr marL="0" indent="0" algn="ctr">
                  <a:lnSpc>
                    <a:spcPct val="100000"/>
                  </a:lnSpc>
                  <a:spcBef>
                    <a:spcPts val="0"/>
                  </a:spcBef>
                  <a:buFont typeface="Arial" panose="020B0604020202020204" pitchFamily="34" charset="0"/>
                  <a:buNone/>
                </a:pPr>
                <a:endParaRPr kumimoji="1" lang="en-US" altLang="zh-TW" sz="2400" dirty="0">
                  <a:solidFill>
                    <a:schemeClr val="accent2"/>
                  </a:solidFill>
                </a:endParaRPr>
              </a:p>
            </p:txBody>
          </p:sp>
          <p:sp>
            <p:nvSpPr>
              <p:cNvPr id="15" name="內容版面配置區 2">
                <a:extLst>
                  <a:ext uri="{FF2B5EF4-FFF2-40B4-BE49-F238E27FC236}">
                    <a16:creationId xmlns:a16="http://schemas.microsoft.com/office/drawing/2014/main" id="{AF4D21C0-92D5-E79D-78D9-380DF9D9D386}"/>
                  </a:ext>
                </a:extLst>
              </p:cNvPr>
              <p:cNvSpPr txBox="1">
                <a:spLocks/>
              </p:cNvSpPr>
              <p:nvPr/>
            </p:nvSpPr>
            <p:spPr>
              <a:xfrm>
                <a:off x="2535345" y="772664"/>
                <a:ext cx="1884209" cy="435444"/>
              </a:xfrm>
              <a:prstGeom prst="rect">
                <a:avLst/>
              </a:prstGeom>
              <a:ln w="38100"/>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solidFill>
                      <a:schemeClr val="accent2"/>
                    </a:solidFill>
                  </a:rPr>
                  <a:t>DDX3-C’</a:t>
                </a:r>
              </a:p>
              <a:p>
                <a:pPr marL="0" indent="0" algn="ctr">
                  <a:lnSpc>
                    <a:spcPct val="100000"/>
                  </a:lnSpc>
                  <a:spcBef>
                    <a:spcPts val="0"/>
                  </a:spcBef>
                  <a:buFont typeface="Arial" panose="020B0604020202020204" pitchFamily="34" charset="0"/>
                  <a:buNone/>
                </a:pPr>
                <a:endParaRPr kumimoji="1" lang="en-US" altLang="zh-TW" sz="2400" dirty="0">
                  <a:solidFill>
                    <a:schemeClr val="accent2"/>
                  </a:solidFill>
                </a:endParaRPr>
              </a:p>
            </p:txBody>
          </p:sp>
          <p:sp>
            <p:nvSpPr>
              <p:cNvPr id="19" name="矩形 18">
                <a:extLst>
                  <a:ext uri="{FF2B5EF4-FFF2-40B4-BE49-F238E27FC236}">
                    <a16:creationId xmlns:a16="http://schemas.microsoft.com/office/drawing/2014/main" id="{45749DE5-C3D3-E12D-19EB-6BA30DB45A20}"/>
                  </a:ext>
                </a:extLst>
              </p:cNvPr>
              <p:cNvSpPr/>
              <p:nvPr/>
            </p:nvSpPr>
            <p:spPr>
              <a:xfrm>
                <a:off x="3408195" y="1208108"/>
                <a:ext cx="103882" cy="18077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grpSp>
        <p:sp>
          <p:nvSpPr>
            <p:cNvPr id="26" name="內容版面配置區 2">
              <a:extLst>
                <a:ext uri="{FF2B5EF4-FFF2-40B4-BE49-F238E27FC236}">
                  <a16:creationId xmlns:a16="http://schemas.microsoft.com/office/drawing/2014/main" id="{117A97A6-242B-5B61-8FB9-302957ABF879}"/>
                </a:ext>
              </a:extLst>
            </p:cNvPr>
            <p:cNvSpPr txBox="1">
              <a:spLocks/>
            </p:cNvSpPr>
            <p:nvPr/>
          </p:nvSpPr>
          <p:spPr>
            <a:xfrm>
              <a:off x="2891189" y="117832"/>
              <a:ext cx="1172521" cy="435444"/>
            </a:xfrm>
            <a:prstGeom prst="rect">
              <a:avLst/>
            </a:prstGeom>
            <a:ln w="38100"/>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kumimoji="1" lang="en-US" altLang="zh-TW" sz="2400" dirty="0">
                  <a:solidFill>
                    <a:schemeClr val="accent2"/>
                  </a:solidFill>
                </a:rPr>
                <a:t>cIAP-1</a:t>
              </a:r>
            </a:p>
            <a:p>
              <a:pPr marL="0" indent="0" algn="ctr">
                <a:lnSpc>
                  <a:spcPct val="100000"/>
                </a:lnSpc>
                <a:spcBef>
                  <a:spcPts val="0"/>
                </a:spcBef>
                <a:buFont typeface="Arial" panose="020B0604020202020204" pitchFamily="34" charset="0"/>
                <a:buNone/>
              </a:pPr>
              <a:endParaRPr kumimoji="1" lang="en-US" altLang="zh-TW" sz="2400" dirty="0">
                <a:solidFill>
                  <a:schemeClr val="accent2"/>
                </a:solidFill>
              </a:endParaRPr>
            </a:p>
          </p:txBody>
        </p:sp>
        <p:sp>
          <p:nvSpPr>
            <p:cNvPr id="27" name="矩形 26">
              <a:extLst>
                <a:ext uri="{FF2B5EF4-FFF2-40B4-BE49-F238E27FC236}">
                  <a16:creationId xmlns:a16="http://schemas.microsoft.com/office/drawing/2014/main" id="{B64C6F75-488F-2117-A597-B883A2C9C0C4}"/>
                </a:ext>
              </a:extLst>
            </p:cNvPr>
            <p:cNvSpPr/>
            <p:nvPr/>
          </p:nvSpPr>
          <p:spPr>
            <a:xfrm>
              <a:off x="3438386" y="539634"/>
              <a:ext cx="103882" cy="18077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grpSp>
    </p:spTree>
    <p:extLst>
      <p:ext uri="{BB962C8B-B14F-4D97-AF65-F5344CB8AC3E}">
        <p14:creationId xmlns:p14="http://schemas.microsoft.com/office/powerpoint/2010/main" val="41754613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BC750-A2A2-063B-816F-128A3DE9E4A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4DBFE68-E133-2C4C-F88A-7740EFF153E9}"/>
              </a:ext>
            </a:extLst>
          </p:cNvPr>
          <p:cNvSpPr>
            <a:spLocks noGrp="1"/>
          </p:cNvSpPr>
          <p:nvPr>
            <p:ph type="title"/>
          </p:nvPr>
        </p:nvSpPr>
        <p:spPr>
          <a:xfrm>
            <a:off x="461414" y="460048"/>
            <a:ext cx="8416820" cy="681037"/>
          </a:xfrm>
        </p:spPr>
        <p:txBody>
          <a:bodyPr>
            <a:noAutofit/>
          </a:bodyPr>
          <a:lstStyle/>
          <a:p>
            <a:pPr lvl="1"/>
            <a:r>
              <a:rPr lang="en" altLang="zh-TW" sz="3000" dirty="0">
                <a:latin typeface="+mj-lt"/>
              </a:rPr>
              <a:t>Knockdown of DDX3 with siRNA increases death receptor-induced apoptosis</a:t>
            </a:r>
          </a:p>
        </p:txBody>
      </p:sp>
      <p:sp>
        <p:nvSpPr>
          <p:cNvPr id="4" name="投影片編號版面配置區 3">
            <a:extLst>
              <a:ext uri="{FF2B5EF4-FFF2-40B4-BE49-F238E27FC236}">
                <a16:creationId xmlns:a16="http://schemas.microsoft.com/office/drawing/2014/main" id="{7383D777-5C71-2400-0D5A-DFD4DED14331}"/>
              </a:ext>
            </a:extLst>
          </p:cNvPr>
          <p:cNvSpPr>
            <a:spLocks noGrp="1"/>
          </p:cNvSpPr>
          <p:nvPr>
            <p:ph type="sldNum" sz="quarter" idx="12"/>
          </p:nvPr>
        </p:nvSpPr>
        <p:spPr/>
        <p:txBody>
          <a:bodyPr/>
          <a:lstStyle/>
          <a:p>
            <a:fld id="{5457A026-CD74-A64B-872B-B0D8D2A810A8}" type="slidenum">
              <a:rPr kumimoji="1" lang="zh-TW" altLang="en-US" smtClean="0"/>
              <a:t>24</a:t>
            </a:fld>
            <a:endParaRPr kumimoji="1" lang="zh-TW" altLang="en-US"/>
          </a:p>
        </p:txBody>
      </p:sp>
      <p:pic>
        <p:nvPicPr>
          <p:cNvPr id="9" name="圖片 8" descr="一張含有 文字, 螢幕擷取畫面, 圖表, 平行 的圖片&#10;&#10;自動產生的描述">
            <a:extLst>
              <a:ext uri="{FF2B5EF4-FFF2-40B4-BE49-F238E27FC236}">
                <a16:creationId xmlns:a16="http://schemas.microsoft.com/office/drawing/2014/main" id="{25ACCB6F-E7E6-AA5C-8AF8-ACE2CD571870}"/>
              </a:ext>
            </a:extLst>
          </p:cNvPr>
          <p:cNvPicPr>
            <a:picLocks noChangeAspect="1"/>
          </p:cNvPicPr>
          <p:nvPr/>
        </p:nvPicPr>
        <p:blipFill>
          <a:blip r:embed="rId3"/>
          <a:srcRect b="64795"/>
          <a:stretch/>
        </p:blipFill>
        <p:spPr>
          <a:xfrm>
            <a:off x="461414" y="1463149"/>
            <a:ext cx="6965752" cy="2433912"/>
          </a:xfrm>
          <a:prstGeom prst="rect">
            <a:avLst/>
          </a:prstGeom>
        </p:spPr>
      </p:pic>
      <p:pic>
        <p:nvPicPr>
          <p:cNvPr id="10" name="圖片 9" descr="一張含有 文字, 螢幕擷取畫面, 圖表, 平行 的圖片&#10;&#10;自動產生的描述">
            <a:extLst>
              <a:ext uri="{FF2B5EF4-FFF2-40B4-BE49-F238E27FC236}">
                <a16:creationId xmlns:a16="http://schemas.microsoft.com/office/drawing/2014/main" id="{52867F71-FB56-C2DD-8467-9407BFF29637}"/>
              </a:ext>
            </a:extLst>
          </p:cNvPr>
          <p:cNvPicPr>
            <a:picLocks noChangeAspect="1"/>
          </p:cNvPicPr>
          <p:nvPr/>
        </p:nvPicPr>
        <p:blipFill>
          <a:blip r:embed="rId3"/>
          <a:srcRect l="13534" t="35205" r="12552" b="26206"/>
          <a:stretch/>
        </p:blipFill>
        <p:spPr>
          <a:xfrm>
            <a:off x="256232" y="3897061"/>
            <a:ext cx="5148660" cy="2667941"/>
          </a:xfrm>
          <a:prstGeom prst="rect">
            <a:avLst/>
          </a:prstGeom>
        </p:spPr>
      </p:pic>
      <p:pic>
        <p:nvPicPr>
          <p:cNvPr id="11" name="圖片 10" descr="一張含有 文字, 螢幕擷取畫面, 圖表, 平行 的圖片&#10;&#10;自動產生的描述">
            <a:extLst>
              <a:ext uri="{FF2B5EF4-FFF2-40B4-BE49-F238E27FC236}">
                <a16:creationId xmlns:a16="http://schemas.microsoft.com/office/drawing/2014/main" id="{7CB1939A-A632-12F0-CA50-23711B9DFF3C}"/>
              </a:ext>
            </a:extLst>
          </p:cNvPr>
          <p:cNvPicPr>
            <a:picLocks noChangeAspect="1"/>
          </p:cNvPicPr>
          <p:nvPr/>
        </p:nvPicPr>
        <p:blipFill>
          <a:blip r:embed="rId3"/>
          <a:srcRect l="26086" t="74026" r="24355"/>
          <a:stretch/>
        </p:blipFill>
        <p:spPr>
          <a:xfrm>
            <a:off x="5404892" y="4015160"/>
            <a:ext cx="3452158" cy="1795729"/>
          </a:xfrm>
          <a:prstGeom prst="rect">
            <a:avLst/>
          </a:prstGeom>
        </p:spPr>
      </p:pic>
    </p:spTree>
    <p:extLst>
      <p:ext uri="{BB962C8B-B14F-4D97-AF65-F5344CB8AC3E}">
        <p14:creationId xmlns:p14="http://schemas.microsoft.com/office/powerpoint/2010/main" val="1526666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48865-D355-6120-E3F8-EC6CBBEE86A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B7F38DE-602E-1E59-CB1D-710168127B82}"/>
              </a:ext>
            </a:extLst>
          </p:cNvPr>
          <p:cNvSpPr>
            <a:spLocks noGrp="1"/>
          </p:cNvSpPr>
          <p:nvPr>
            <p:ph type="title"/>
          </p:nvPr>
        </p:nvSpPr>
        <p:spPr>
          <a:xfrm>
            <a:off x="628650" y="433416"/>
            <a:ext cx="7886700" cy="681037"/>
          </a:xfrm>
        </p:spPr>
        <p:txBody>
          <a:bodyPr>
            <a:normAutofit/>
          </a:bodyPr>
          <a:lstStyle/>
          <a:p>
            <a:r>
              <a:rPr kumimoji="1" lang="en-US" altLang="zh-TW" sz="3600" dirty="0"/>
              <a:t>Conclusion</a:t>
            </a:r>
            <a:endParaRPr kumimoji="1" lang="zh-TW" altLang="en-US" sz="3600" dirty="0"/>
          </a:p>
        </p:txBody>
      </p:sp>
      <p:sp>
        <p:nvSpPr>
          <p:cNvPr id="4" name="投影片編號版面配置區 3">
            <a:extLst>
              <a:ext uri="{FF2B5EF4-FFF2-40B4-BE49-F238E27FC236}">
                <a16:creationId xmlns:a16="http://schemas.microsoft.com/office/drawing/2014/main" id="{0C45A1F8-231C-E9C6-FCD7-83DFDD8AB6C2}"/>
              </a:ext>
            </a:extLst>
          </p:cNvPr>
          <p:cNvSpPr>
            <a:spLocks noGrp="1"/>
          </p:cNvSpPr>
          <p:nvPr>
            <p:ph type="sldNum" sz="quarter" idx="12"/>
          </p:nvPr>
        </p:nvSpPr>
        <p:spPr/>
        <p:txBody>
          <a:bodyPr/>
          <a:lstStyle/>
          <a:p>
            <a:fld id="{5457A026-CD74-A64B-872B-B0D8D2A810A8}" type="slidenum">
              <a:rPr kumimoji="1" lang="zh-TW" altLang="en-US" smtClean="0"/>
              <a:t>25</a:t>
            </a:fld>
            <a:endParaRPr kumimoji="1" lang="zh-TW" altLang="en-US"/>
          </a:p>
        </p:txBody>
      </p:sp>
      <p:sp>
        <p:nvSpPr>
          <p:cNvPr id="8" name="內容版面配置區 7">
            <a:extLst>
              <a:ext uri="{FF2B5EF4-FFF2-40B4-BE49-F238E27FC236}">
                <a16:creationId xmlns:a16="http://schemas.microsoft.com/office/drawing/2014/main" id="{31EBD318-A922-BA26-E047-BD69B38071C7}"/>
              </a:ext>
            </a:extLst>
          </p:cNvPr>
          <p:cNvSpPr>
            <a:spLocks noGrp="1"/>
          </p:cNvSpPr>
          <p:nvPr>
            <p:ph idx="1"/>
          </p:nvPr>
        </p:nvSpPr>
        <p:spPr>
          <a:xfrm>
            <a:off x="628650" y="1322730"/>
            <a:ext cx="7886700" cy="4351338"/>
          </a:xfrm>
        </p:spPr>
        <p:txBody>
          <a:bodyPr>
            <a:noAutofit/>
          </a:bodyPr>
          <a:lstStyle/>
          <a:p>
            <a:pPr>
              <a:lnSpc>
                <a:spcPct val="150000"/>
              </a:lnSpc>
            </a:pPr>
            <a:r>
              <a:rPr lang="en" altLang="zh-TW" sz="1800" dirty="0"/>
              <a:t>GSK3, DDX3, and cIAP-1 form an anti-apoptotic complex that masks TRAIL-R2 death receptors prior to stimulation. This anti-apoptotic complex regulates all four major death receptors—TRAIL-R1, TRAIL-R2, </a:t>
            </a:r>
            <a:r>
              <a:rPr lang="en" altLang="zh-TW" sz="1800" dirty="0" err="1"/>
              <a:t>Fas</a:t>
            </a:r>
            <a:r>
              <a:rPr lang="en" altLang="zh-TW" sz="1800" dirty="0"/>
              <a:t>, and TNF.</a:t>
            </a:r>
          </a:p>
          <a:p>
            <a:pPr>
              <a:lnSpc>
                <a:spcPct val="150000"/>
              </a:lnSpc>
            </a:pPr>
            <a:r>
              <a:rPr lang="en" altLang="zh-TW" sz="1800" dirty="0"/>
              <a:t>Inhibiting GSK3 or knocking down DDX3 releases the inhibitory cap on death receptors, enhancing apoptotic signaling upon stimulation.</a:t>
            </a:r>
          </a:p>
          <a:p>
            <a:pPr>
              <a:lnSpc>
                <a:spcPct val="150000"/>
              </a:lnSpc>
            </a:pPr>
            <a:r>
              <a:rPr lang="en" altLang="zh-TW" sz="1800" dirty="0"/>
              <a:t>TRAIL-R2 stimulation inactivates GSK3 and induces cleavage of DDX3 and cIAP-1, lifting inhibition on apoptosis.</a:t>
            </a:r>
          </a:p>
          <a:p>
            <a:pPr>
              <a:buFont typeface="Arial" panose="020B0604020202020204" pitchFamily="34" charset="0"/>
              <a:buChar char="•"/>
            </a:pPr>
            <a:r>
              <a:rPr lang="en" altLang="zh-TW" sz="1800" dirty="0"/>
              <a:t>TRAIL-R2 activation leads to rapid cleavage of DDX3, potentially to eliminate its anti-apoptotic role.</a:t>
            </a:r>
          </a:p>
          <a:p>
            <a:pPr>
              <a:lnSpc>
                <a:spcPct val="150000"/>
              </a:lnSpc>
            </a:pPr>
            <a:r>
              <a:rPr lang="en" altLang="zh-TW" sz="1800" dirty="0"/>
              <a:t>Targeting GSK3 and DDX3 may be an effective strategy to sensitize cancer cells to death receptor-induced apoptosis.</a:t>
            </a:r>
            <a:endParaRPr lang="en" altLang="zh-TW" sz="1800" dirty="0">
              <a:solidFill>
                <a:srgbClr val="1B1B1B"/>
              </a:solidFill>
            </a:endParaRPr>
          </a:p>
        </p:txBody>
      </p:sp>
    </p:spTree>
    <p:extLst>
      <p:ext uri="{BB962C8B-B14F-4D97-AF65-F5344CB8AC3E}">
        <p14:creationId xmlns:p14="http://schemas.microsoft.com/office/powerpoint/2010/main" val="40736007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B6DC7-B39A-7BC3-26AA-E104DE15C6EB}"/>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D4C5C37-A1AF-582E-6448-69D22A02DB37}"/>
              </a:ext>
            </a:extLst>
          </p:cNvPr>
          <p:cNvSpPr>
            <a:spLocks noGrp="1"/>
          </p:cNvSpPr>
          <p:nvPr>
            <p:ph idx="1"/>
          </p:nvPr>
        </p:nvSpPr>
        <p:spPr>
          <a:xfrm>
            <a:off x="1079108" y="3736881"/>
            <a:ext cx="6974095" cy="1498309"/>
          </a:xfrm>
        </p:spPr>
        <p:txBody>
          <a:bodyPr>
            <a:noAutofit/>
          </a:bodyPr>
          <a:lstStyle/>
          <a:p>
            <a:pPr marL="0" indent="0" algn="ctr">
              <a:lnSpc>
                <a:spcPct val="100000"/>
              </a:lnSpc>
              <a:spcBef>
                <a:spcPts val="0"/>
              </a:spcBef>
              <a:buNone/>
            </a:pPr>
            <a:r>
              <a:rPr lang="en" altLang="zh-TW" sz="3200" dirty="0">
                <a:solidFill>
                  <a:srgbClr val="1F1F1F"/>
                </a:solidFill>
                <a:latin typeface="+mj-lt"/>
              </a:rPr>
              <a:t>DDX3 regulates DNA damage-induced apoptosis and p53 stabilization </a:t>
            </a:r>
          </a:p>
          <a:p>
            <a:pPr marL="0" indent="0" algn="ctr">
              <a:lnSpc>
                <a:spcPct val="100000"/>
              </a:lnSpc>
              <a:spcBef>
                <a:spcPts val="0"/>
              </a:spcBef>
              <a:buNone/>
            </a:pPr>
            <a:r>
              <a:rPr lang="en" altLang="zh-TW" sz="1600" dirty="0">
                <a:solidFill>
                  <a:srgbClr val="212121"/>
                </a:solidFill>
              </a:rPr>
              <a:t>Sun M, Zhou T, </a:t>
            </a:r>
            <a:r>
              <a:rPr lang="en" altLang="zh-TW" sz="1600" dirty="0" err="1">
                <a:solidFill>
                  <a:srgbClr val="212121"/>
                </a:solidFill>
              </a:rPr>
              <a:t>Jonasch</a:t>
            </a:r>
            <a:r>
              <a:rPr lang="en" altLang="zh-TW" sz="1600" dirty="0">
                <a:solidFill>
                  <a:srgbClr val="212121"/>
                </a:solidFill>
              </a:rPr>
              <a:t> E</a:t>
            </a:r>
            <a:r>
              <a:rPr lang="en" altLang="zh-TW" sz="1600" b="0" i="0" dirty="0">
                <a:solidFill>
                  <a:srgbClr val="212121"/>
                </a:solidFill>
                <a:effectLst/>
              </a:rPr>
              <a:t>. </a:t>
            </a:r>
            <a:r>
              <a:rPr lang="en" altLang="zh-TW" sz="1600" i="1" dirty="0">
                <a:solidFill>
                  <a:srgbClr val="333333"/>
                </a:solidFill>
                <a:effectLst/>
              </a:rPr>
              <a:t>et al</a:t>
            </a:r>
            <a:r>
              <a:rPr lang="en" altLang="zh-TW" sz="1600" dirty="0">
                <a:solidFill>
                  <a:srgbClr val="212121"/>
                </a:solidFill>
              </a:rPr>
              <a:t>. </a:t>
            </a:r>
            <a:r>
              <a:rPr lang="en" altLang="zh-TW" sz="1600" dirty="0" err="1">
                <a:solidFill>
                  <a:srgbClr val="212121"/>
                </a:solidFill>
              </a:rPr>
              <a:t>Biochimica</a:t>
            </a:r>
            <a:r>
              <a:rPr lang="en" altLang="zh-TW" sz="1600" dirty="0">
                <a:solidFill>
                  <a:srgbClr val="212121"/>
                </a:solidFill>
              </a:rPr>
              <a:t> et </a:t>
            </a:r>
            <a:r>
              <a:rPr lang="en" altLang="zh-TW" sz="1600" dirty="0" err="1">
                <a:solidFill>
                  <a:srgbClr val="212121"/>
                </a:solidFill>
              </a:rPr>
              <a:t>Biophysica</a:t>
            </a:r>
            <a:r>
              <a:rPr lang="en" altLang="zh-TW" sz="1600" dirty="0">
                <a:solidFill>
                  <a:srgbClr val="212121"/>
                </a:solidFill>
              </a:rPr>
              <a:t> Acta-Molecular Cell Research 1833(6):1489-97.(2013).</a:t>
            </a:r>
          </a:p>
          <a:p>
            <a:pPr marL="0" indent="0" algn="ctr">
              <a:lnSpc>
                <a:spcPct val="100000"/>
              </a:lnSpc>
              <a:spcBef>
                <a:spcPts val="0"/>
              </a:spcBef>
              <a:buNone/>
            </a:pPr>
            <a:r>
              <a:rPr lang="en" altLang="zh-TW" sz="1600" dirty="0">
                <a:solidFill>
                  <a:srgbClr val="212121"/>
                </a:solidFill>
              </a:rPr>
              <a:t> IF (2024): 3.7</a:t>
            </a:r>
            <a:endParaRPr lang="en" altLang="zh-TW" sz="1600" dirty="0">
              <a:solidFill>
                <a:srgbClr val="212121"/>
              </a:solidFill>
              <a:latin typeface="system-ui"/>
            </a:endParaRPr>
          </a:p>
          <a:p>
            <a:pPr marL="0" indent="0" algn="ctr">
              <a:lnSpc>
                <a:spcPct val="100000"/>
              </a:lnSpc>
              <a:spcBef>
                <a:spcPts val="0"/>
              </a:spcBef>
              <a:buNone/>
            </a:pPr>
            <a:endParaRPr lang="en" altLang="zh-TW" sz="1600" dirty="0">
              <a:solidFill>
                <a:srgbClr val="212121"/>
              </a:solidFill>
              <a:latin typeface="system-ui"/>
            </a:endParaRPr>
          </a:p>
          <a:p>
            <a:pPr marL="0" indent="0" algn="ctr">
              <a:lnSpc>
                <a:spcPct val="100000"/>
              </a:lnSpc>
              <a:spcBef>
                <a:spcPts val="0"/>
              </a:spcBef>
              <a:buNone/>
            </a:pPr>
            <a:endParaRPr kumimoji="1" lang="en-US" altLang="zh-TW" dirty="0"/>
          </a:p>
          <a:p>
            <a:pPr algn="ctr"/>
            <a:endParaRPr kumimoji="1" lang="en-US" altLang="zh-TW" sz="2400" dirty="0"/>
          </a:p>
        </p:txBody>
      </p:sp>
      <p:sp>
        <p:nvSpPr>
          <p:cNvPr id="4" name="投影片編號版面配置區 3">
            <a:extLst>
              <a:ext uri="{FF2B5EF4-FFF2-40B4-BE49-F238E27FC236}">
                <a16:creationId xmlns:a16="http://schemas.microsoft.com/office/drawing/2014/main" id="{3F283274-23A9-8E62-D5BF-E6C1B8B97F27}"/>
              </a:ext>
            </a:extLst>
          </p:cNvPr>
          <p:cNvSpPr>
            <a:spLocks noGrp="1"/>
          </p:cNvSpPr>
          <p:nvPr>
            <p:ph type="sldNum" sz="quarter" idx="12"/>
          </p:nvPr>
        </p:nvSpPr>
        <p:spPr/>
        <p:txBody>
          <a:bodyPr/>
          <a:lstStyle/>
          <a:p>
            <a:fld id="{5457A026-CD74-A64B-872B-B0D8D2A810A8}" type="slidenum">
              <a:rPr kumimoji="1" lang="zh-TW" altLang="en-US" smtClean="0"/>
              <a:t>26</a:t>
            </a:fld>
            <a:endParaRPr kumimoji="1" lang="zh-TW" altLang="en-US"/>
          </a:p>
        </p:txBody>
      </p:sp>
      <p:sp>
        <p:nvSpPr>
          <p:cNvPr id="9" name="內容版面配置區 2">
            <a:extLst>
              <a:ext uri="{FF2B5EF4-FFF2-40B4-BE49-F238E27FC236}">
                <a16:creationId xmlns:a16="http://schemas.microsoft.com/office/drawing/2014/main" id="{CF4F5AB8-F9B7-4BF1-CAF6-FE12A31F54F6}"/>
              </a:ext>
            </a:extLst>
          </p:cNvPr>
          <p:cNvSpPr txBox="1">
            <a:spLocks/>
          </p:cNvSpPr>
          <p:nvPr/>
        </p:nvSpPr>
        <p:spPr>
          <a:xfrm>
            <a:off x="1079108" y="1792807"/>
            <a:ext cx="6974094" cy="13251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 altLang="zh-TW" sz="3200" dirty="0">
                <a:solidFill>
                  <a:schemeClr val="bg1">
                    <a:lumMod val="65000"/>
                  </a:schemeClr>
                </a:solidFill>
                <a:latin typeface="+mj-lt"/>
              </a:rPr>
              <a:t>Identification of an antiapoptotic protein complex at death receptors</a:t>
            </a:r>
          </a:p>
          <a:p>
            <a:pPr marL="0" indent="0" algn="ctr">
              <a:lnSpc>
                <a:spcPct val="100000"/>
              </a:lnSpc>
              <a:spcBef>
                <a:spcPts val="0"/>
              </a:spcBef>
              <a:buNone/>
            </a:pPr>
            <a:r>
              <a:rPr lang="en" altLang="zh-TW" sz="1600" b="0" i="0" dirty="0">
                <a:solidFill>
                  <a:schemeClr val="bg1">
                    <a:lumMod val="65000"/>
                  </a:schemeClr>
                </a:solidFill>
                <a:effectLst/>
              </a:rPr>
              <a:t>Sun M, Song L, Li Y. </a:t>
            </a:r>
            <a:r>
              <a:rPr lang="en" altLang="zh-TW" sz="1600" i="1" dirty="0">
                <a:solidFill>
                  <a:schemeClr val="bg1">
                    <a:lumMod val="65000"/>
                  </a:schemeClr>
                </a:solidFill>
                <a:effectLst/>
              </a:rPr>
              <a:t>et al.</a:t>
            </a:r>
            <a:r>
              <a:rPr lang="en" altLang="zh-TW" sz="1600" b="0" i="0" dirty="0">
                <a:solidFill>
                  <a:schemeClr val="bg1">
                    <a:lumMod val="65000"/>
                  </a:schemeClr>
                </a:solidFill>
                <a:effectLst/>
              </a:rPr>
              <a:t> Cell Death Differ</a:t>
            </a:r>
            <a:r>
              <a:rPr lang="en" altLang="zh-TW" sz="1600" dirty="0">
                <a:solidFill>
                  <a:schemeClr val="bg1">
                    <a:lumMod val="65000"/>
                  </a:schemeClr>
                </a:solidFill>
              </a:rPr>
              <a:t> 15(12):1887-900. (2008).</a:t>
            </a:r>
          </a:p>
          <a:p>
            <a:pPr marL="0" indent="0" algn="ctr">
              <a:lnSpc>
                <a:spcPct val="100000"/>
              </a:lnSpc>
              <a:spcBef>
                <a:spcPts val="0"/>
              </a:spcBef>
              <a:buNone/>
            </a:pPr>
            <a:r>
              <a:rPr lang="en" altLang="zh-TW" sz="1600" dirty="0">
                <a:solidFill>
                  <a:schemeClr val="bg1">
                    <a:lumMod val="65000"/>
                  </a:schemeClr>
                </a:solidFill>
              </a:rPr>
              <a:t> IF (2024): 15.4</a:t>
            </a:r>
            <a:endParaRPr kumimoji="1" lang="en-US" altLang="zh-TW" sz="3200" dirty="0">
              <a:solidFill>
                <a:schemeClr val="bg1">
                  <a:lumMod val="65000"/>
                </a:schemeClr>
              </a:solidFill>
            </a:endParaRPr>
          </a:p>
        </p:txBody>
      </p:sp>
    </p:spTree>
    <p:extLst>
      <p:ext uri="{BB962C8B-B14F-4D97-AF65-F5344CB8AC3E}">
        <p14:creationId xmlns:p14="http://schemas.microsoft.com/office/powerpoint/2010/main" val="3978948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B5DAF-A644-AFC7-FC41-D5BE83129E5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BB3B6EE-1A44-A372-F61C-BD79B01BD054}"/>
              </a:ext>
            </a:extLst>
          </p:cNvPr>
          <p:cNvSpPr>
            <a:spLocks noGrp="1"/>
          </p:cNvSpPr>
          <p:nvPr>
            <p:ph type="title"/>
          </p:nvPr>
        </p:nvSpPr>
        <p:spPr>
          <a:xfrm>
            <a:off x="461414" y="460048"/>
            <a:ext cx="8416820" cy="681037"/>
          </a:xfrm>
        </p:spPr>
        <p:txBody>
          <a:bodyPr>
            <a:noAutofit/>
          </a:bodyPr>
          <a:lstStyle/>
          <a:p>
            <a:pPr lvl="1"/>
            <a:r>
              <a:rPr lang="en" altLang="zh-TW" sz="3000" dirty="0">
                <a:latin typeface="+mj-lt"/>
              </a:rPr>
              <a:t>Apoptosis induced by DNA damage is selectively affected by DDX3</a:t>
            </a:r>
          </a:p>
        </p:txBody>
      </p:sp>
      <p:sp>
        <p:nvSpPr>
          <p:cNvPr id="4" name="投影片編號版面配置區 3">
            <a:extLst>
              <a:ext uri="{FF2B5EF4-FFF2-40B4-BE49-F238E27FC236}">
                <a16:creationId xmlns:a16="http://schemas.microsoft.com/office/drawing/2014/main" id="{176FFE93-5A79-0025-FD92-89BD3BE14A1D}"/>
              </a:ext>
            </a:extLst>
          </p:cNvPr>
          <p:cNvSpPr>
            <a:spLocks noGrp="1"/>
          </p:cNvSpPr>
          <p:nvPr>
            <p:ph type="sldNum" sz="quarter" idx="12"/>
          </p:nvPr>
        </p:nvSpPr>
        <p:spPr/>
        <p:txBody>
          <a:bodyPr/>
          <a:lstStyle/>
          <a:p>
            <a:fld id="{5457A026-CD74-A64B-872B-B0D8D2A810A8}" type="slidenum">
              <a:rPr kumimoji="1" lang="zh-TW" altLang="en-US" smtClean="0"/>
              <a:t>27</a:t>
            </a:fld>
            <a:endParaRPr kumimoji="1" lang="zh-TW" altLang="en-US"/>
          </a:p>
        </p:txBody>
      </p:sp>
      <p:pic>
        <p:nvPicPr>
          <p:cNvPr id="6" name="圖片 5" descr="一張含有 文字, 收據, 螢幕擷取畫面, 黑與白 的圖片&#10;&#10;自動產生的描述">
            <a:extLst>
              <a:ext uri="{FF2B5EF4-FFF2-40B4-BE49-F238E27FC236}">
                <a16:creationId xmlns:a16="http://schemas.microsoft.com/office/drawing/2014/main" id="{2BD8F2CA-B8EA-B7AB-2D03-92262CA2A879}"/>
              </a:ext>
            </a:extLst>
          </p:cNvPr>
          <p:cNvPicPr>
            <a:picLocks noChangeAspect="1"/>
          </p:cNvPicPr>
          <p:nvPr/>
        </p:nvPicPr>
        <p:blipFill>
          <a:blip r:embed="rId3"/>
          <a:srcRect b="74322"/>
          <a:stretch>
            <a:fillRect/>
          </a:stretch>
        </p:blipFill>
        <p:spPr>
          <a:xfrm>
            <a:off x="453072" y="1743984"/>
            <a:ext cx="3995053" cy="2143095"/>
          </a:xfrm>
          <a:prstGeom prst="rect">
            <a:avLst/>
          </a:prstGeom>
        </p:spPr>
      </p:pic>
      <p:pic>
        <p:nvPicPr>
          <p:cNvPr id="8" name="圖片 7" descr="一張含有 文字, 收據, 螢幕擷取畫面, 黑與白 的圖片&#10;&#10;自動產生的描述">
            <a:extLst>
              <a:ext uri="{FF2B5EF4-FFF2-40B4-BE49-F238E27FC236}">
                <a16:creationId xmlns:a16="http://schemas.microsoft.com/office/drawing/2014/main" id="{CEEFFC27-2012-91BF-B4DC-936C6327E264}"/>
              </a:ext>
            </a:extLst>
          </p:cNvPr>
          <p:cNvPicPr>
            <a:picLocks noChangeAspect="1"/>
          </p:cNvPicPr>
          <p:nvPr/>
        </p:nvPicPr>
        <p:blipFill>
          <a:blip r:embed="rId3"/>
          <a:srcRect t="24026" b="50296"/>
          <a:stretch>
            <a:fillRect/>
          </a:stretch>
        </p:blipFill>
        <p:spPr>
          <a:xfrm>
            <a:off x="389725" y="4203490"/>
            <a:ext cx="3995051" cy="2143094"/>
          </a:xfrm>
          <a:prstGeom prst="rect">
            <a:avLst/>
          </a:prstGeom>
        </p:spPr>
      </p:pic>
      <p:pic>
        <p:nvPicPr>
          <p:cNvPr id="11" name="圖片 10" descr="一張含有 文字, 收據, 螢幕擷取畫面, 黑與白 的圖片&#10;&#10;自動產生的描述">
            <a:extLst>
              <a:ext uri="{FF2B5EF4-FFF2-40B4-BE49-F238E27FC236}">
                <a16:creationId xmlns:a16="http://schemas.microsoft.com/office/drawing/2014/main" id="{673E3B5A-E244-51A1-6BA4-1EF254D20702}"/>
              </a:ext>
            </a:extLst>
          </p:cNvPr>
          <p:cNvPicPr>
            <a:picLocks noChangeAspect="1"/>
          </p:cNvPicPr>
          <p:nvPr/>
        </p:nvPicPr>
        <p:blipFill>
          <a:blip r:embed="rId3"/>
          <a:srcRect t="50474" b="23848"/>
          <a:stretch>
            <a:fillRect/>
          </a:stretch>
        </p:blipFill>
        <p:spPr>
          <a:xfrm>
            <a:off x="4665612" y="2757174"/>
            <a:ext cx="4212622" cy="2259809"/>
          </a:xfrm>
          <a:prstGeom prst="rect">
            <a:avLst/>
          </a:prstGeom>
        </p:spPr>
      </p:pic>
      <p:sp>
        <p:nvSpPr>
          <p:cNvPr id="10" name="文字方塊 9">
            <a:extLst>
              <a:ext uri="{FF2B5EF4-FFF2-40B4-BE49-F238E27FC236}">
                <a16:creationId xmlns:a16="http://schemas.microsoft.com/office/drawing/2014/main" id="{37F29FE8-DC27-11D6-0D23-98ECC931B0AE}"/>
              </a:ext>
            </a:extLst>
          </p:cNvPr>
          <p:cNvSpPr txBox="1"/>
          <p:nvPr/>
        </p:nvSpPr>
        <p:spPr>
          <a:xfrm>
            <a:off x="4770870" y="5147865"/>
            <a:ext cx="3744480" cy="369332"/>
          </a:xfrm>
          <a:prstGeom prst="rect">
            <a:avLst/>
          </a:prstGeom>
          <a:noFill/>
        </p:spPr>
        <p:txBody>
          <a:bodyPr wrap="square" rtlCol="0">
            <a:spAutoFit/>
          </a:bodyPr>
          <a:lstStyle/>
          <a:p>
            <a:r>
              <a:rPr kumimoji="1" lang="en-US" altLang="zh-TW" dirty="0"/>
              <a:t>PARP: </a:t>
            </a:r>
            <a:r>
              <a:rPr lang="en" altLang="zh-TW" dirty="0"/>
              <a:t>Poly (ADP-ribose) polymerase</a:t>
            </a:r>
            <a:endParaRPr kumimoji="1" lang="zh-TW" altLang="en-US" dirty="0"/>
          </a:p>
        </p:txBody>
      </p:sp>
    </p:spTree>
    <p:extLst>
      <p:ext uri="{BB962C8B-B14F-4D97-AF65-F5344CB8AC3E}">
        <p14:creationId xmlns:p14="http://schemas.microsoft.com/office/powerpoint/2010/main" val="3622448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D014D-4702-40EB-CD3A-D6E47BE9B818}"/>
            </a:ext>
          </a:extLst>
        </p:cNvPr>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E51984A-21BE-50D4-35FC-9474344295FB}"/>
              </a:ext>
            </a:extLst>
          </p:cNvPr>
          <p:cNvSpPr>
            <a:spLocks noGrp="1"/>
          </p:cNvSpPr>
          <p:nvPr>
            <p:ph type="sldNum" sz="quarter" idx="12"/>
          </p:nvPr>
        </p:nvSpPr>
        <p:spPr/>
        <p:txBody>
          <a:bodyPr/>
          <a:lstStyle/>
          <a:p>
            <a:fld id="{5457A026-CD74-A64B-872B-B0D8D2A810A8}" type="slidenum">
              <a:rPr kumimoji="1" lang="zh-TW" altLang="en-US" smtClean="0"/>
              <a:t>28</a:t>
            </a:fld>
            <a:endParaRPr kumimoji="1" lang="zh-TW" altLang="en-US" dirty="0"/>
          </a:p>
        </p:txBody>
      </p:sp>
      <p:pic>
        <p:nvPicPr>
          <p:cNvPr id="3" name="圖片 2" descr="一張含有 文字, 收據, 螢幕擷取畫面, 黑與白 的圖片&#10;&#10;自動產生的描述">
            <a:extLst>
              <a:ext uri="{FF2B5EF4-FFF2-40B4-BE49-F238E27FC236}">
                <a16:creationId xmlns:a16="http://schemas.microsoft.com/office/drawing/2014/main" id="{87EC082E-F8C8-8BB7-D36A-07A17572033A}"/>
              </a:ext>
            </a:extLst>
          </p:cNvPr>
          <p:cNvPicPr>
            <a:picLocks noChangeAspect="1"/>
          </p:cNvPicPr>
          <p:nvPr/>
        </p:nvPicPr>
        <p:blipFill>
          <a:blip r:embed="rId3"/>
          <a:srcRect t="75102"/>
          <a:stretch/>
        </p:blipFill>
        <p:spPr>
          <a:xfrm>
            <a:off x="2138416" y="1322730"/>
            <a:ext cx="4583241" cy="2383918"/>
          </a:xfrm>
          <a:prstGeom prst="rect">
            <a:avLst/>
          </a:prstGeom>
        </p:spPr>
      </p:pic>
      <p:pic>
        <p:nvPicPr>
          <p:cNvPr id="5" name="圖片 4" descr="一張含有 文字, 螢幕擷取畫面, 平行, 收據 的圖片&#10;&#10;自動產生的描述">
            <a:extLst>
              <a:ext uri="{FF2B5EF4-FFF2-40B4-BE49-F238E27FC236}">
                <a16:creationId xmlns:a16="http://schemas.microsoft.com/office/drawing/2014/main" id="{06124596-D663-7220-C6A0-A002C145860F}"/>
              </a:ext>
            </a:extLst>
          </p:cNvPr>
          <p:cNvPicPr>
            <a:picLocks noChangeAspect="1"/>
          </p:cNvPicPr>
          <p:nvPr/>
        </p:nvPicPr>
        <p:blipFill>
          <a:blip r:embed="rId4"/>
          <a:srcRect l="8602" r="15468" b="67927"/>
          <a:stretch/>
        </p:blipFill>
        <p:spPr>
          <a:xfrm>
            <a:off x="2138416" y="3888293"/>
            <a:ext cx="4961107" cy="2499962"/>
          </a:xfrm>
          <a:prstGeom prst="rect">
            <a:avLst/>
          </a:prstGeom>
        </p:spPr>
      </p:pic>
      <p:sp>
        <p:nvSpPr>
          <p:cNvPr id="9" name="標題 1">
            <a:extLst>
              <a:ext uri="{FF2B5EF4-FFF2-40B4-BE49-F238E27FC236}">
                <a16:creationId xmlns:a16="http://schemas.microsoft.com/office/drawing/2014/main" id="{A3674682-43C4-04A7-486C-EEBE15093CBC}"/>
              </a:ext>
            </a:extLst>
          </p:cNvPr>
          <p:cNvSpPr txBox="1">
            <a:spLocks/>
          </p:cNvSpPr>
          <p:nvPr/>
        </p:nvSpPr>
        <p:spPr>
          <a:xfrm>
            <a:off x="461414" y="460048"/>
            <a:ext cx="8416820" cy="6810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lvl="1" defTabSz="914400"/>
            <a:r>
              <a:rPr lang="en" altLang="zh-TW" sz="3000" dirty="0">
                <a:latin typeface="+mj-lt"/>
              </a:rPr>
              <a:t>DDX3 inhibits apoptosis in cells with nonfunctional p53</a:t>
            </a:r>
            <a:endParaRPr lang="en" altLang="zh-TW" sz="3000" kern="0" dirty="0">
              <a:solidFill>
                <a:sysClr val="windowText" lastClr="000000"/>
              </a:solidFill>
              <a:latin typeface="+mj-lt"/>
            </a:endParaRPr>
          </a:p>
        </p:txBody>
      </p:sp>
    </p:spTree>
    <p:extLst>
      <p:ext uri="{BB962C8B-B14F-4D97-AF65-F5344CB8AC3E}">
        <p14:creationId xmlns:p14="http://schemas.microsoft.com/office/powerpoint/2010/main" val="1610025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E335-DB9C-F85F-F3B6-C67B72DDA83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A2A2C42-358A-CCE9-E7E7-7A6E20DB4B74}"/>
              </a:ext>
            </a:extLst>
          </p:cNvPr>
          <p:cNvSpPr>
            <a:spLocks noGrp="1"/>
          </p:cNvSpPr>
          <p:nvPr>
            <p:ph type="title"/>
          </p:nvPr>
        </p:nvSpPr>
        <p:spPr>
          <a:xfrm>
            <a:off x="363590" y="643370"/>
            <a:ext cx="8416820" cy="681037"/>
          </a:xfrm>
        </p:spPr>
        <p:txBody>
          <a:bodyPr>
            <a:noAutofit/>
          </a:bodyPr>
          <a:lstStyle/>
          <a:p>
            <a:pPr lvl="1"/>
            <a:r>
              <a:rPr lang="en" altLang="zh-TW" sz="3200" dirty="0">
                <a:latin typeface="+mj-lt"/>
              </a:rPr>
              <a:t>DDX3 promotes apoptosis in cells expressing functional wild-type p53 but inhibits apoptosis in cells with nonfunctional p53</a:t>
            </a:r>
          </a:p>
        </p:txBody>
      </p:sp>
      <p:sp>
        <p:nvSpPr>
          <p:cNvPr id="4" name="投影片編號版面配置區 3">
            <a:extLst>
              <a:ext uri="{FF2B5EF4-FFF2-40B4-BE49-F238E27FC236}">
                <a16:creationId xmlns:a16="http://schemas.microsoft.com/office/drawing/2014/main" id="{C7543A04-0C95-EE1B-CBB0-926FF4033B72}"/>
              </a:ext>
            </a:extLst>
          </p:cNvPr>
          <p:cNvSpPr>
            <a:spLocks noGrp="1"/>
          </p:cNvSpPr>
          <p:nvPr>
            <p:ph type="sldNum" sz="quarter" idx="12"/>
          </p:nvPr>
        </p:nvSpPr>
        <p:spPr/>
        <p:txBody>
          <a:bodyPr/>
          <a:lstStyle/>
          <a:p>
            <a:fld id="{5457A026-CD74-A64B-872B-B0D8D2A810A8}" type="slidenum">
              <a:rPr kumimoji="1" lang="zh-TW" altLang="en-US" smtClean="0"/>
              <a:t>29</a:t>
            </a:fld>
            <a:endParaRPr kumimoji="1" lang="zh-TW" altLang="en-US"/>
          </a:p>
        </p:txBody>
      </p:sp>
      <p:sp>
        <p:nvSpPr>
          <p:cNvPr id="10" name="文字方塊 9">
            <a:extLst>
              <a:ext uri="{FF2B5EF4-FFF2-40B4-BE49-F238E27FC236}">
                <a16:creationId xmlns:a16="http://schemas.microsoft.com/office/drawing/2014/main" id="{06EA8EF0-8567-C117-C64E-8DE4E7F04F2B}"/>
              </a:ext>
            </a:extLst>
          </p:cNvPr>
          <p:cNvSpPr txBox="1"/>
          <p:nvPr/>
        </p:nvSpPr>
        <p:spPr>
          <a:xfrm>
            <a:off x="4770870" y="6488668"/>
            <a:ext cx="3744480" cy="369332"/>
          </a:xfrm>
          <a:prstGeom prst="rect">
            <a:avLst/>
          </a:prstGeom>
          <a:noFill/>
        </p:spPr>
        <p:txBody>
          <a:bodyPr wrap="square" rtlCol="0">
            <a:spAutoFit/>
          </a:bodyPr>
          <a:lstStyle/>
          <a:p>
            <a:r>
              <a:rPr kumimoji="1" lang="en-US" altLang="zh-TW" dirty="0"/>
              <a:t>PARP: </a:t>
            </a:r>
            <a:r>
              <a:rPr lang="en" altLang="zh-TW" dirty="0"/>
              <a:t>Poly (ADP-ribose) polymerase</a:t>
            </a:r>
            <a:endParaRPr kumimoji="1" lang="zh-TW" altLang="en-US" dirty="0"/>
          </a:p>
        </p:txBody>
      </p:sp>
      <p:pic>
        <p:nvPicPr>
          <p:cNvPr id="5" name="圖片 4" descr="一張含有 文字, 螢幕擷取畫面, 平行, 收據 的圖片&#10;&#10;自動產生的描述">
            <a:extLst>
              <a:ext uri="{FF2B5EF4-FFF2-40B4-BE49-F238E27FC236}">
                <a16:creationId xmlns:a16="http://schemas.microsoft.com/office/drawing/2014/main" id="{A9880C3D-9144-B354-873D-512969324521}"/>
              </a:ext>
            </a:extLst>
          </p:cNvPr>
          <p:cNvPicPr>
            <a:picLocks noChangeAspect="1"/>
          </p:cNvPicPr>
          <p:nvPr/>
        </p:nvPicPr>
        <p:blipFill>
          <a:blip r:embed="rId3"/>
          <a:srcRect t="30303" r="51159" b="33149"/>
          <a:stretch/>
        </p:blipFill>
        <p:spPr>
          <a:xfrm>
            <a:off x="121244" y="2399268"/>
            <a:ext cx="3093382" cy="2761554"/>
          </a:xfrm>
          <a:prstGeom prst="rect">
            <a:avLst/>
          </a:prstGeom>
        </p:spPr>
      </p:pic>
      <p:pic>
        <p:nvPicPr>
          <p:cNvPr id="6" name="圖片 5" descr="一張含有 文字, 螢幕擷取畫面, 平行, 收據 的圖片&#10;&#10;自動產生的描述">
            <a:extLst>
              <a:ext uri="{FF2B5EF4-FFF2-40B4-BE49-F238E27FC236}">
                <a16:creationId xmlns:a16="http://schemas.microsoft.com/office/drawing/2014/main" id="{B45DB5E8-AE65-E551-93ED-20A48FEBFA07}"/>
              </a:ext>
            </a:extLst>
          </p:cNvPr>
          <p:cNvPicPr>
            <a:picLocks noChangeAspect="1"/>
          </p:cNvPicPr>
          <p:nvPr/>
        </p:nvPicPr>
        <p:blipFill>
          <a:blip r:embed="rId3"/>
          <a:srcRect l="51609" t="30303" b="32919"/>
          <a:stretch/>
        </p:blipFill>
        <p:spPr>
          <a:xfrm>
            <a:off x="3049142" y="2302674"/>
            <a:ext cx="3045716" cy="2761554"/>
          </a:xfrm>
          <a:prstGeom prst="rect">
            <a:avLst/>
          </a:prstGeom>
        </p:spPr>
      </p:pic>
      <p:pic>
        <p:nvPicPr>
          <p:cNvPr id="7" name="圖片 6" descr="一張含有 文字, 螢幕擷取畫面, 平行, 收據 的圖片&#10;&#10;自動產生的描述">
            <a:extLst>
              <a:ext uri="{FF2B5EF4-FFF2-40B4-BE49-F238E27FC236}">
                <a16:creationId xmlns:a16="http://schemas.microsoft.com/office/drawing/2014/main" id="{9937A973-5333-DE3C-545E-F367247BADCB}"/>
              </a:ext>
            </a:extLst>
          </p:cNvPr>
          <p:cNvPicPr>
            <a:picLocks noChangeAspect="1"/>
          </p:cNvPicPr>
          <p:nvPr/>
        </p:nvPicPr>
        <p:blipFill>
          <a:blip r:embed="rId3"/>
          <a:srcRect t="66361" r="50865"/>
          <a:stretch/>
        </p:blipFill>
        <p:spPr>
          <a:xfrm>
            <a:off x="6163068" y="2486670"/>
            <a:ext cx="2980932" cy="2434651"/>
          </a:xfrm>
          <a:prstGeom prst="rect">
            <a:avLst/>
          </a:prstGeom>
        </p:spPr>
      </p:pic>
    </p:spTree>
    <p:extLst>
      <p:ext uri="{BB962C8B-B14F-4D97-AF65-F5344CB8AC3E}">
        <p14:creationId xmlns:p14="http://schemas.microsoft.com/office/powerpoint/2010/main" val="6199517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A4B13-CBDB-F649-08C8-293B83D6820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F9729F6-7B81-EB31-D831-FAA59A43FC3C}"/>
              </a:ext>
            </a:extLst>
          </p:cNvPr>
          <p:cNvSpPr>
            <a:spLocks noGrp="1"/>
          </p:cNvSpPr>
          <p:nvPr>
            <p:ph type="title"/>
          </p:nvPr>
        </p:nvSpPr>
        <p:spPr>
          <a:xfrm>
            <a:off x="363590" y="643370"/>
            <a:ext cx="8416820" cy="681037"/>
          </a:xfrm>
        </p:spPr>
        <p:txBody>
          <a:bodyPr>
            <a:noAutofit/>
          </a:bodyPr>
          <a:lstStyle/>
          <a:p>
            <a:pPr lvl="1"/>
            <a:r>
              <a:rPr lang="en" altLang="zh-TW" sz="3200" dirty="0">
                <a:latin typeface="+mj-lt"/>
              </a:rPr>
              <a:t>DDX3 promotes </a:t>
            </a:r>
            <a:r>
              <a:rPr lang="en" altLang="zh-TW" sz="3200" dirty="0" err="1">
                <a:latin typeface="+mj-lt"/>
              </a:rPr>
              <a:t>camptothecin</a:t>
            </a:r>
            <a:r>
              <a:rPr lang="en" altLang="zh-TW" sz="3200" dirty="0">
                <a:latin typeface="+mj-lt"/>
              </a:rPr>
              <a:t>-induced</a:t>
            </a:r>
            <a:r>
              <a:rPr lang="zh-TW" altLang="en-US" sz="3200" dirty="0">
                <a:latin typeface="+mj-lt"/>
              </a:rPr>
              <a:t> </a:t>
            </a:r>
            <a:r>
              <a:rPr lang="en" altLang="zh-TW" sz="3200" dirty="0">
                <a:latin typeface="+mj-lt"/>
              </a:rPr>
              <a:t>apoptosis in cells expressing functional wild-type p53 but inhibits apoptosis in cells with nonfunctional p53</a:t>
            </a:r>
          </a:p>
        </p:txBody>
      </p:sp>
      <p:sp>
        <p:nvSpPr>
          <p:cNvPr id="10" name="文字方塊 9">
            <a:extLst>
              <a:ext uri="{FF2B5EF4-FFF2-40B4-BE49-F238E27FC236}">
                <a16:creationId xmlns:a16="http://schemas.microsoft.com/office/drawing/2014/main" id="{90BC87E3-4A8C-5F9C-369B-8A5CB35B66B4}"/>
              </a:ext>
            </a:extLst>
          </p:cNvPr>
          <p:cNvSpPr txBox="1"/>
          <p:nvPr/>
        </p:nvSpPr>
        <p:spPr>
          <a:xfrm>
            <a:off x="5929374" y="6772866"/>
            <a:ext cx="3744480" cy="369332"/>
          </a:xfrm>
          <a:prstGeom prst="rect">
            <a:avLst/>
          </a:prstGeom>
          <a:noFill/>
        </p:spPr>
        <p:txBody>
          <a:bodyPr wrap="square" rtlCol="0">
            <a:spAutoFit/>
          </a:bodyPr>
          <a:lstStyle/>
          <a:p>
            <a:r>
              <a:rPr kumimoji="1" lang="en-US" altLang="zh-TW" dirty="0"/>
              <a:t>PARP: </a:t>
            </a:r>
            <a:r>
              <a:rPr lang="en" altLang="zh-TW" dirty="0"/>
              <a:t>Poly (ADP-ribose) polymerase</a:t>
            </a:r>
            <a:endParaRPr kumimoji="1" lang="zh-TW" altLang="en-US" dirty="0"/>
          </a:p>
        </p:txBody>
      </p:sp>
      <p:pic>
        <p:nvPicPr>
          <p:cNvPr id="8" name="圖片 7" descr="一張含有 文字, 螢幕擷取畫面, 圖表, 平行 的圖片&#10;&#10;自動產生的描述">
            <a:extLst>
              <a:ext uri="{FF2B5EF4-FFF2-40B4-BE49-F238E27FC236}">
                <a16:creationId xmlns:a16="http://schemas.microsoft.com/office/drawing/2014/main" id="{D0D7908E-F70B-E0B7-802E-B394B834B57B}"/>
              </a:ext>
            </a:extLst>
          </p:cNvPr>
          <p:cNvPicPr>
            <a:picLocks noChangeAspect="1"/>
          </p:cNvPicPr>
          <p:nvPr/>
        </p:nvPicPr>
        <p:blipFill>
          <a:blip r:embed="rId3"/>
          <a:srcRect r="52919" b="49176"/>
          <a:stretch/>
        </p:blipFill>
        <p:spPr>
          <a:xfrm>
            <a:off x="780714" y="1775532"/>
            <a:ext cx="3436044" cy="3104454"/>
          </a:xfrm>
          <a:prstGeom prst="rect">
            <a:avLst/>
          </a:prstGeom>
        </p:spPr>
      </p:pic>
      <p:pic>
        <p:nvPicPr>
          <p:cNvPr id="12" name="圖片 11" descr="一張含有 文字, 螢幕擷取畫面, 圖表, 平行 的圖片&#10;&#10;自動產生的描述">
            <a:extLst>
              <a:ext uri="{FF2B5EF4-FFF2-40B4-BE49-F238E27FC236}">
                <a16:creationId xmlns:a16="http://schemas.microsoft.com/office/drawing/2014/main" id="{2E25A593-28AE-EB48-2C20-418B21FD6061}"/>
              </a:ext>
            </a:extLst>
          </p:cNvPr>
          <p:cNvPicPr>
            <a:picLocks noChangeAspect="1"/>
          </p:cNvPicPr>
          <p:nvPr/>
        </p:nvPicPr>
        <p:blipFill>
          <a:blip r:embed="rId3"/>
          <a:srcRect l="53732" r="5112" b="67357"/>
          <a:stretch/>
        </p:blipFill>
        <p:spPr>
          <a:xfrm>
            <a:off x="359460" y="5063182"/>
            <a:ext cx="2581340" cy="1713566"/>
          </a:xfrm>
          <a:prstGeom prst="rect">
            <a:avLst/>
          </a:prstGeom>
        </p:spPr>
      </p:pic>
      <p:pic>
        <p:nvPicPr>
          <p:cNvPr id="13" name="圖片 12" descr="一張含有 文字, 螢幕擷取畫面, 圖表, 平行 的圖片&#10;&#10;自動產生的描述">
            <a:extLst>
              <a:ext uri="{FF2B5EF4-FFF2-40B4-BE49-F238E27FC236}">
                <a16:creationId xmlns:a16="http://schemas.microsoft.com/office/drawing/2014/main" id="{24D81716-A7AF-E150-D61A-D53AF7FB2115}"/>
              </a:ext>
            </a:extLst>
          </p:cNvPr>
          <p:cNvPicPr>
            <a:picLocks noChangeAspect="1"/>
          </p:cNvPicPr>
          <p:nvPr/>
        </p:nvPicPr>
        <p:blipFill>
          <a:blip r:embed="rId3"/>
          <a:srcRect t="50000" r="45948"/>
          <a:stretch/>
        </p:blipFill>
        <p:spPr>
          <a:xfrm>
            <a:off x="4863130" y="1650372"/>
            <a:ext cx="4009812" cy="3104454"/>
          </a:xfrm>
          <a:prstGeom prst="rect">
            <a:avLst/>
          </a:prstGeom>
        </p:spPr>
      </p:pic>
      <p:pic>
        <p:nvPicPr>
          <p:cNvPr id="14" name="圖片 13" descr="一張含有 文字, 螢幕擷取畫面, 圖表, 平行 的圖片&#10;&#10;自動產生的描述">
            <a:extLst>
              <a:ext uri="{FF2B5EF4-FFF2-40B4-BE49-F238E27FC236}">
                <a16:creationId xmlns:a16="http://schemas.microsoft.com/office/drawing/2014/main" id="{910F0C90-63AE-F046-5F9D-80BBE6CE4BDD}"/>
              </a:ext>
            </a:extLst>
          </p:cNvPr>
          <p:cNvPicPr>
            <a:picLocks noChangeAspect="1"/>
          </p:cNvPicPr>
          <p:nvPr/>
        </p:nvPicPr>
        <p:blipFill>
          <a:blip r:embed="rId3"/>
          <a:srcRect l="55114" t="32415" r="3731" b="33412"/>
          <a:stretch/>
        </p:blipFill>
        <p:spPr>
          <a:xfrm>
            <a:off x="3020392" y="5020726"/>
            <a:ext cx="2581340" cy="1793886"/>
          </a:xfrm>
          <a:prstGeom prst="rect">
            <a:avLst/>
          </a:prstGeom>
        </p:spPr>
      </p:pic>
      <p:pic>
        <p:nvPicPr>
          <p:cNvPr id="15" name="圖片 14" descr="一張含有 文字, 螢幕擷取畫面, 圖表, 平行 的圖片&#10;&#10;自動產生的描述">
            <a:extLst>
              <a:ext uri="{FF2B5EF4-FFF2-40B4-BE49-F238E27FC236}">
                <a16:creationId xmlns:a16="http://schemas.microsoft.com/office/drawing/2014/main" id="{F82F4285-2616-FF6C-FA96-4DA71094E4D6}"/>
              </a:ext>
            </a:extLst>
          </p:cNvPr>
          <p:cNvPicPr>
            <a:picLocks noChangeAspect="1"/>
          </p:cNvPicPr>
          <p:nvPr/>
        </p:nvPicPr>
        <p:blipFill>
          <a:blip r:embed="rId3"/>
          <a:srcRect l="54254" t="66622"/>
          <a:stretch/>
        </p:blipFill>
        <p:spPr>
          <a:xfrm>
            <a:off x="5587712" y="5000086"/>
            <a:ext cx="2869186" cy="1752140"/>
          </a:xfrm>
          <a:prstGeom prst="rect">
            <a:avLst/>
          </a:prstGeom>
        </p:spPr>
      </p:pic>
      <p:sp>
        <p:nvSpPr>
          <p:cNvPr id="4" name="投影片編號版面配置區 3">
            <a:extLst>
              <a:ext uri="{FF2B5EF4-FFF2-40B4-BE49-F238E27FC236}">
                <a16:creationId xmlns:a16="http://schemas.microsoft.com/office/drawing/2014/main" id="{F604155F-A588-A190-7174-7D566B9372A2}"/>
              </a:ext>
            </a:extLst>
          </p:cNvPr>
          <p:cNvSpPr>
            <a:spLocks noGrp="1"/>
          </p:cNvSpPr>
          <p:nvPr>
            <p:ph type="sldNum" sz="quarter" idx="12"/>
          </p:nvPr>
        </p:nvSpPr>
        <p:spPr/>
        <p:txBody>
          <a:bodyPr/>
          <a:lstStyle/>
          <a:p>
            <a:fld id="{5457A026-CD74-A64B-872B-B0D8D2A810A8}" type="slidenum">
              <a:rPr kumimoji="1" lang="zh-TW" altLang="en-US" smtClean="0"/>
              <a:t>30</a:t>
            </a:fld>
            <a:endParaRPr kumimoji="1" lang="zh-TW" altLang="en-US"/>
          </a:p>
        </p:txBody>
      </p:sp>
    </p:spTree>
    <p:extLst>
      <p:ext uri="{BB962C8B-B14F-4D97-AF65-F5344CB8AC3E}">
        <p14:creationId xmlns:p14="http://schemas.microsoft.com/office/powerpoint/2010/main" val="28825563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69875-42A2-5F2E-D0D0-4144D00A163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860EEA0-EF81-E653-07B9-490AC171A01D}"/>
              </a:ext>
            </a:extLst>
          </p:cNvPr>
          <p:cNvSpPr>
            <a:spLocks noGrp="1"/>
          </p:cNvSpPr>
          <p:nvPr>
            <p:ph type="title"/>
          </p:nvPr>
        </p:nvSpPr>
        <p:spPr>
          <a:xfrm>
            <a:off x="628650" y="433416"/>
            <a:ext cx="7886700" cy="681037"/>
          </a:xfrm>
        </p:spPr>
        <p:txBody>
          <a:bodyPr>
            <a:normAutofit/>
          </a:bodyPr>
          <a:lstStyle/>
          <a:p>
            <a:r>
              <a:rPr kumimoji="1" lang="en-US" altLang="zh-TW" sz="3600" dirty="0"/>
              <a:t>Conclusion</a:t>
            </a:r>
            <a:endParaRPr kumimoji="1" lang="zh-TW" altLang="en-US" sz="3600" dirty="0"/>
          </a:p>
        </p:txBody>
      </p:sp>
      <p:sp>
        <p:nvSpPr>
          <p:cNvPr id="4" name="投影片編號版面配置區 3">
            <a:extLst>
              <a:ext uri="{FF2B5EF4-FFF2-40B4-BE49-F238E27FC236}">
                <a16:creationId xmlns:a16="http://schemas.microsoft.com/office/drawing/2014/main" id="{E2CEF06B-1851-ADD6-5067-8C3952223EEF}"/>
              </a:ext>
            </a:extLst>
          </p:cNvPr>
          <p:cNvSpPr>
            <a:spLocks noGrp="1"/>
          </p:cNvSpPr>
          <p:nvPr>
            <p:ph type="sldNum" sz="quarter" idx="12"/>
          </p:nvPr>
        </p:nvSpPr>
        <p:spPr/>
        <p:txBody>
          <a:bodyPr/>
          <a:lstStyle/>
          <a:p>
            <a:fld id="{5457A026-CD74-A64B-872B-B0D8D2A810A8}" type="slidenum">
              <a:rPr kumimoji="1" lang="zh-TW" altLang="en-US" smtClean="0"/>
              <a:t>31</a:t>
            </a:fld>
            <a:endParaRPr kumimoji="1" lang="zh-TW" altLang="en-US"/>
          </a:p>
        </p:txBody>
      </p:sp>
      <p:sp>
        <p:nvSpPr>
          <p:cNvPr id="8" name="內容版面配置區 7">
            <a:extLst>
              <a:ext uri="{FF2B5EF4-FFF2-40B4-BE49-F238E27FC236}">
                <a16:creationId xmlns:a16="http://schemas.microsoft.com/office/drawing/2014/main" id="{8773C95F-E674-4F27-C6D0-C9317AF0D0C0}"/>
              </a:ext>
            </a:extLst>
          </p:cNvPr>
          <p:cNvSpPr>
            <a:spLocks noGrp="1"/>
          </p:cNvSpPr>
          <p:nvPr>
            <p:ph idx="1"/>
          </p:nvPr>
        </p:nvSpPr>
        <p:spPr>
          <a:xfrm>
            <a:off x="628650" y="1322730"/>
            <a:ext cx="7886700" cy="4351338"/>
          </a:xfrm>
        </p:spPr>
        <p:txBody>
          <a:bodyPr>
            <a:noAutofit/>
          </a:bodyPr>
          <a:lstStyle/>
          <a:p>
            <a:pPr>
              <a:lnSpc>
                <a:spcPct val="150000"/>
              </a:lnSpc>
            </a:pPr>
            <a:r>
              <a:rPr lang="en" altLang="zh-TW" sz="2000" dirty="0">
                <a:latin typeface="+mj-lt"/>
              </a:rPr>
              <a:t>Apoptosis induced by DNA damage is selectively affected by DDX3.</a:t>
            </a:r>
          </a:p>
          <a:p>
            <a:pPr>
              <a:lnSpc>
                <a:spcPct val="150000"/>
              </a:lnSpc>
            </a:pPr>
            <a:r>
              <a:rPr lang="en" altLang="zh-TW" sz="2000" dirty="0">
                <a:latin typeface="+mj-lt"/>
              </a:rPr>
              <a:t>DDX3 promotes apoptosis in cells expressing functional wild-type p53 but inhibits apoptosis in cells with nonfunctional p53</a:t>
            </a:r>
          </a:p>
          <a:p>
            <a:pPr>
              <a:lnSpc>
                <a:spcPct val="150000"/>
              </a:lnSpc>
            </a:pPr>
            <a:endParaRPr lang="en" altLang="zh-TW" sz="2000" dirty="0">
              <a:solidFill>
                <a:srgbClr val="1B1B1B"/>
              </a:solidFill>
            </a:endParaRPr>
          </a:p>
        </p:txBody>
      </p:sp>
    </p:spTree>
    <p:extLst>
      <p:ext uri="{BB962C8B-B14F-4D97-AF65-F5344CB8AC3E}">
        <p14:creationId xmlns:p14="http://schemas.microsoft.com/office/powerpoint/2010/main" val="36393525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5C894-17A4-0473-2849-F60FD169680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FDB4C07-D2B7-E01D-3F31-D5F2A02D7731}"/>
              </a:ext>
            </a:extLst>
          </p:cNvPr>
          <p:cNvSpPr>
            <a:spLocks noGrp="1"/>
          </p:cNvSpPr>
          <p:nvPr>
            <p:ph type="title"/>
          </p:nvPr>
        </p:nvSpPr>
        <p:spPr>
          <a:xfrm>
            <a:off x="628650" y="433416"/>
            <a:ext cx="7886700" cy="681037"/>
          </a:xfrm>
        </p:spPr>
        <p:txBody>
          <a:bodyPr>
            <a:normAutofit/>
          </a:bodyPr>
          <a:lstStyle/>
          <a:p>
            <a:r>
              <a:rPr kumimoji="1" lang="en-US" altLang="zh-TW" sz="3600" dirty="0"/>
              <a:t>Conclusion</a:t>
            </a:r>
            <a:endParaRPr kumimoji="1" lang="zh-TW" altLang="en-US" sz="3600" dirty="0"/>
          </a:p>
        </p:txBody>
      </p:sp>
      <p:sp>
        <p:nvSpPr>
          <p:cNvPr id="4" name="投影片編號版面配置區 3">
            <a:extLst>
              <a:ext uri="{FF2B5EF4-FFF2-40B4-BE49-F238E27FC236}">
                <a16:creationId xmlns:a16="http://schemas.microsoft.com/office/drawing/2014/main" id="{6BF0DD78-7CA8-13F2-E4E9-FB122F877443}"/>
              </a:ext>
            </a:extLst>
          </p:cNvPr>
          <p:cNvSpPr>
            <a:spLocks noGrp="1"/>
          </p:cNvSpPr>
          <p:nvPr>
            <p:ph type="sldNum" sz="quarter" idx="12"/>
          </p:nvPr>
        </p:nvSpPr>
        <p:spPr/>
        <p:txBody>
          <a:bodyPr/>
          <a:lstStyle/>
          <a:p>
            <a:fld id="{5457A026-CD74-A64B-872B-B0D8D2A810A8}" type="slidenum">
              <a:rPr kumimoji="1" lang="zh-TW" altLang="en-US" smtClean="0"/>
              <a:t>32</a:t>
            </a:fld>
            <a:endParaRPr kumimoji="1" lang="zh-TW" altLang="en-US"/>
          </a:p>
        </p:txBody>
      </p:sp>
      <p:sp>
        <p:nvSpPr>
          <p:cNvPr id="3" name="文字方塊 2">
            <a:extLst>
              <a:ext uri="{FF2B5EF4-FFF2-40B4-BE49-F238E27FC236}">
                <a16:creationId xmlns:a16="http://schemas.microsoft.com/office/drawing/2014/main" id="{8E460E4A-E008-63D3-6927-A0CEF1DD99CB}"/>
              </a:ext>
            </a:extLst>
          </p:cNvPr>
          <p:cNvSpPr txBox="1"/>
          <p:nvPr/>
        </p:nvSpPr>
        <p:spPr>
          <a:xfrm>
            <a:off x="169785" y="6326404"/>
            <a:ext cx="8240307" cy="523220"/>
          </a:xfrm>
          <a:prstGeom prst="rect">
            <a:avLst/>
          </a:prstGeom>
          <a:noFill/>
        </p:spPr>
        <p:txBody>
          <a:bodyPr wrap="square" rtlCol="0">
            <a:spAutoFit/>
          </a:bodyPr>
          <a:lstStyle/>
          <a:p>
            <a:r>
              <a:rPr kumimoji="1" lang="en" altLang="zh-TW" sz="1400" dirty="0"/>
              <a:t>Mo, J., Liang, H., Su, C. et al. DDX3X: structure, physiologic functions and cancer. Mol Cancer 20, 38 (2021).</a:t>
            </a:r>
            <a:endParaRPr kumimoji="1" lang="zh-TW" altLang="en-US" sz="1400" dirty="0"/>
          </a:p>
        </p:txBody>
      </p:sp>
      <p:pic>
        <p:nvPicPr>
          <p:cNvPr id="9" name="內容版面配置區 8" descr="一張含有 文字, 螢幕擷取畫面, 圖表, 行 的圖片&#10;&#10;自動產生的描述">
            <a:extLst>
              <a:ext uri="{FF2B5EF4-FFF2-40B4-BE49-F238E27FC236}">
                <a16:creationId xmlns:a16="http://schemas.microsoft.com/office/drawing/2014/main" id="{95A8A297-29E3-CBD0-2945-4E520AA1C602}"/>
              </a:ext>
            </a:extLst>
          </p:cNvPr>
          <p:cNvPicPr>
            <a:picLocks noGrp="1" noChangeAspect="1"/>
          </p:cNvPicPr>
          <p:nvPr>
            <p:ph idx="1"/>
          </p:nvPr>
        </p:nvPicPr>
        <p:blipFill>
          <a:blip r:embed="rId3"/>
          <a:stretch>
            <a:fillRect/>
          </a:stretch>
        </p:blipFill>
        <p:spPr>
          <a:xfrm>
            <a:off x="175992" y="1144400"/>
            <a:ext cx="8843700" cy="4665083"/>
          </a:xfrm>
        </p:spPr>
      </p:pic>
    </p:spTree>
    <p:extLst>
      <p:ext uri="{BB962C8B-B14F-4D97-AF65-F5344CB8AC3E}">
        <p14:creationId xmlns:p14="http://schemas.microsoft.com/office/powerpoint/2010/main" val="15032910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9635D-2107-453E-E1D1-2A04FC5BE5D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15B5670-277D-49B9-4D58-69F21AD5D990}"/>
              </a:ext>
            </a:extLst>
          </p:cNvPr>
          <p:cNvSpPr>
            <a:spLocks noGrp="1"/>
          </p:cNvSpPr>
          <p:nvPr>
            <p:ph type="ctrTitle"/>
          </p:nvPr>
        </p:nvSpPr>
        <p:spPr>
          <a:xfrm>
            <a:off x="685800" y="1416342"/>
            <a:ext cx="7772400" cy="2387600"/>
          </a:xfrm>
        </p:spPr>
        <p:txBody>
          <a:bodyPr>
            <a:normAutofit/>
          </a:bodyPr>
          <a:lstStyle/>
          <a:p>
            <a:r>
              <a:rPr kumimoji="1" lang="en-US" altLang="zh-TW" sz="4000" dirty="0">
                <a:cs typeface="Arial" panose="020B0604020202020204" pitchFamily="34" charset="0"/>
              </a:rPr>
              <a:t>Thank you!</a:t>
            </a:r>
            <a:endParaRPr kumimoji="1" lang="zh-TW" altLang="en-US" sz="4000" dirty="0">
              <a:cs typeface="Arial" panose="020B0604020202020204" pitchFamily="34" charset="0"/>
            </a:endParaRPr>
          </a:p>
        </p:txBody>
      </p:sp>
    </p:spTree>
    <p:extLst>
      <p:ext uri="{BB962C8B-B14F-4D97-AF65-F5344CB8AC3E}">
        <p14:creationId xmlns:p14="http://schemas.microsoft.com/office/powerpoint/2010/main" val="3788890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A2A59-610A-11BC-13AD-D4DCA33AC2B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732E10F-8FBE-0B63-AFAC-8B5E0F3E13B5}"/>
              </a:ext>
            </a:extLst>
          </p:cNvPr>
          <p:cNvSpPr>
            <a:spLocks noGrp="1"/>
          </p:cNvSpPr>
          <p:nvPr>
            <p:ph type="title"/>
          </p:nvPr>
        </p:nvSpPr>
        <p:spPr>
          <a:xfrm>
            <a:off x="628650" y="433416"/>
            <a:ext cx="7886700" cy="681037"/>
          </a:xfrm>
        </p:spPr>
        <p:txBody>
          <a:bodyPr>
            <a:normAutofit/>
          </a:bodyPr>
          <a:lstStyle/>
          <a:p>
            <a:pPr lvl="1"/>
            <a:r>
              <a:rPr lang="en" altLang="zh-TW" sz="3600">
                <a:solidFill>
                  <a:srgbClr val="1B1B1B"/>
                </a:solidFill>
                <a:latin typeface="+mj-lt"/>
              </a:rPr>
              <a:t>R</a:t>
            </a:r>
            <a:r>
              <a:rPr lang="en" altLang="zh-TW" sz="3600" b="0" i="0">
                <a:solidFill>
                  <a:srgbClr val="1B1B1B"/>
                </a:solidFill>
                <a:effectLst/>
                <a:latin typeface="+mj-lt"/>
              </a:rPr>
              <a:t>egulated Cell Death (RCD) </a:t>
            </a:r>
          </a:p>
        </p:txBody>
      </p:sp>
      <p:sp>
        <p:nvSpPr>
          <p:cNvPr id="4" name="投影片編號版面配置區 3">
            <a:extLst>
              <a:ext uri="{FF2B5EF4-FFF2-40B4-BE49-F238E27FC236}">
                <a16:creationId xmlns:a16="http://schemas.microsoft.com/office/drawing/2014/main" id="{1016A881-CC37-50FC-0E87-0EED10514C84}"/>
              </a:ext>
            </a:extLst>
          </p:cNvPr>
          <p:cNvSpPr>
            <a:spLocks noGrp="1"/>
          </p:cNvSpPr>
          <p:nvPr>
            <p:ph type="sldNum" sz="quarter" idx="12"/>
          </p:nvPr>
        </p:nvSpPr>
        <p:spPr/>
        <p:txBody>
          <a:bodyPr/>
          <a:lstStyle/>
          <a:p>
            <a:fld id="{5457A026-CD74-A64B-872B-B0D8D2A810A8}" type="slidenum">
              <a:rPr kumimoji="1" lang="zh-TW" altLang="en-US" smtClean="0"/>
              <a:t>34</a:t>
            </a:fld>
            <a:endParaRPr kumimoji="1" lang="zh-TW" altLang="en-US"/>
          </a:p>
        </p:txBody>
      </p:sp>
      <p:pic>
        <p:nvPicPr>
          <p:cNvPr id="6" name="內容版面配置區 5" descr="一張含有 文字, 圓形, 圖表, 圖形 的圖片&#10;&#10;自動產生的描述">
            <a:extLst>
              <a:ext uri="{FF2B5EF4-FFF2-40B4-BE49-F238E27FC236}">
                <a16:creationId xmlns:a16="http://schemas.microsoft.com/office/drawing/2014/main" id="{F6BA2EAD-F4AF-3F6A-47EB-7FCDD617D649}"/>
              </a:ext>
            </a:extLst>
          </p:cNvPr>
          <p:cNvPicPr>
            <a:picLocks noGrp="1" noChangeAspect="1"/>
          </p:cNvPicPr>
          <p:nvPr>
            <p:ph idx="1"/>
          </p:nvPr>
        </p:nvPicPr>
        <p:blipFill>
          <a:blip r:embed="rId3"/>
          <a:stretch>
            <a:fillRect/>
          </a:stretch>
        </p:blipFill>
        <p:spPr>
          <a:xfrm>
            <a:off x="359460" y="1145188"/>
            <a:ext cx="5121217" cy="5150480"/>
          </a:xfrm>
        </p:spPr>
      </p:pic>
      <p:sp>
        <p:nvSpPr>
          <p:cNvPr id="3" name="文字方塊 2">
            <a:extLst>
              <a:ext uri="{FF2B5EF4-FFF2-40B4-BE49-F238E27FC236}">
                <a16:creationId xmlns:a16="http://schemas.microsoft.com/office/drawing/2014/main" id="{3B1531B8-062C-D630-8F54-44CB1E7329CD}"/>
              </a:ext>
            </a:extLst>
          </p:cNvPr>
          <p:cNvSpPr txBox="1"/>
          <p:nvPr/>
        </p:nvSpPr>
        <p:spPr>
          <a:xfrm>
            <a:off x="169785" y="6326404"/>
            <a:ext cx="8240307" cy="523220"/>
          </a:xfrm>
          <a:prstGeom prst="rect">
            <a:avLst/>
          </a:prstGeom>
          <a:noFill/>
        </p:spPr>
        <p:txBody>
          <a:bodyPr wrap="square" rtlCol="0">
            <a:spAutoFit/>
          </a:bodyPr>
          <a:lstStyle/>
          <a:p>
            <a:r>
              <a:rPr kumimoji="1" lang="en" altLang="zh-TW" sz="1400" dirty="0" err="1"/>
              <a:t>Galluzzi</a:t>
            </a:r>
            <a:r>
              <a:rPr kumimoji="1" lang="en" altLang="zh-TW" sz="1400" dirty="0"/>
              <a:t>, L., Vitale, I., Aaronson, S. et al. Molecular mechanisms of cell death: recommendations of the Nomenclature Committee on Cell Death 2018. Cell Death Differ 25, 486–541 (2018).</a:t>
            </a:r>
            <a:endParaRPr kumimoji="1" lang="zh-TW" altLang="en-US" sz="1400" dirty="0"/>
          </a:p>
        </p:txBody>
      </p:sp>
      <p:sp>
        <p:nvSpPr>
          <p:cNvPr id="5" name="文字方塊 4">
            <a:extLst>
              <a:ext uri="{FF2B5EF4-FFF2-40B4-BE49-F238E27FC236}">
                <a16:creationId xmlns:a16="http://schemas.microsoft.com/office/drawing/2014/main" id="{93A2FD8E-24D0-6266-9149-C4092E4724DB}"/>
              </a:ext>
            </a:extLst>
          </p:cNvPr>
          <p:cNvSpPr txBox="1"/>
          <p:nvPr/>
        </p:nvSpPr>
        <p:spPr>
          <a:xfrm>
            <a:off x="5236860" y="1369536"/>
            <a:ext cx="4384776" cy="1077218"/>
          </a:xfrm>
          <a:prstGeom prst="rect">
            <a:avLst/>
          </a:prstGeom>
          <a:noFill/>
        </p:spPr>
        <p:txBody>
          <a:bodyPr wrap="square" rtlCol="0">
            <a:spAutoFit/>
          </a:bodyPr>
          <a:lstStyle/>
          <a:p>
            <a:r>
              <a:rPr kumimoji="1" lang="en" altLang="zh-TW" sz="1600" dirty="0"/>
              <a:t>ADCD: autophagy-dependent cell death</a:t>
            </a:r>
          </a:p>
          <a:p>
            <a:r>
              <a:rPr kumimoji="1" lang="en" altLang="zh-TW" sz="1600" dirty="0"/>
              <a:t>ICD: immunogenic cell death</a:t>
            </a:r>
          </a:p>
          <a:p>
            <a:r>
              <a:rPr kumimoji="1" lang="en" altLang="zh-TW" sz="1600" dirty="0"/>
              <a:t>LDCD: lysosome-dependent cell death</a:t>
            </a:r>
          </a:p>
          <a:p>
            <a:r>
              <a:rPr kumimoji="1" lang="en" altLang="zh-TW" sz="1600" dirty="0"/>
              <a:t>MPT: mitochondrial permeability transition</a:t>
            </a:r>
            <a:endParaRPr kumimoji="1" lang="zh-TW" altLang="en-US" sz="1600" dirty="0"/>
          </a:p>
        </p:txBody>
      </p:sp>
    </p:spTree>
    <p:extLst>
      <p:ext uri="{BB962C8B-B14F-4D97-AF65-F5344CB8AC3E}">
        <p14:creationId xmlns:p14="http://schemas.microsoft.com/office/powerpoint/2010/main" val="20795831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488E0-89BA-46E4-163E-8E8A94DBB36C}"/>
            </a:ext>
          </a:extLst>
        </p:cNvPr>
        <p:cNvGrpSpPr/>
        <p:nvPr/>
      </p:nvGrpSpPr>
      <p:grpSpPr>
        <a:xfrm>
          <a:off x="0" y="0"/>
          <a:ext cx="0" cy="0"/>
          <a:chOff x="0" y="0"/>
          <a:chExt cx="0" cy="0"/>
        </a:xfrm>
      </p:grpSpPr>
      <p:pic>
        <p:nvPicPr>
          <p:cNvPr id="10" name="內容版面配置區 9" descr="一張含有 文字, 圖表, 螢幕擷取畫面, 設計 的圖片&#10;&#10;自動產生的描述">
            <a:extLst>
              <a:ext uri="{FF2B5EF4-FFF2-40B4-BE49-F238E27FC236}">
                <a16:creationId xmlns:a16="http://schemas.microsoft.com/office/drawing/2014/main" id="{B21CD7E6-C3F1-F21D-EDCB-08A8F3EDD420}"/>
              </a:ext>
            </a:extLst>
          </p:cNvPr>
          <p:cNvPicPr>
            <a:picLocks noGrp="1" noChangeAspect="1"/>
          </p:cNvPicPr>
          <p:nvPr>
            <p:ph idx="1"/>
          </p:nvPr>
        </p:nvPicPr>
        <p:blipFill>
          <a:blip r:embed="rId3"/>
          <a:stretch>
            <a:fillRect/>
          </a:stretch>
        </p:blipFill>
        <p:spPr>
          <a:xfrm>
            <a:off x="628650" y="1030606"/>
            <a:ext cx="7886700" cy="5827394"/>
          </a:xfrm>
        </p:spPr>
      </p:pic>
      <p:sp>
        <p:nvSpPr>
          <p:cNvPr id="2" name="標題 1">
            <a:extLst>
              <a:ext uri="{FF2B5EF4-FFF2-40B4-BE49-F238E27FC236}">
                <a16:creationId xmlns:a16="http://schemas.microsoft.com/office/drawing/2014/main" id="{E61FD4D0-E117-4652-C705-40A9E35CE263}"/>
              </a:ext>
            </a:extLst>
          </p:cNvPr>
          <p:cNvSpPr>
            <a:spLocks noGrp="1"/>
          </p:cNvSpPr>
          <p:nvPr>
            <p:ph type="title"/>
          </p:nvPr>
        </p:nvSpPr>
        <p:spPr>
          <a:xfrm>
            <a:off x="628650" y="433416"/>
            <a:ext cx="7886700" cy="681037"/>
          </a:xfrm>
        </p:spPr>
        <p:txBody>
          <a:bodyPr>
            <a:normAutofit/>
          </a:bodyPr>
          <a:lstStyle/>
          <a:p>
            <a:pPr lvl="1"/>
            <a:r>
              <a:rPr lang="en" altLang="zh-TW" sz="3600" dirty="0">
                <a:solidFill>
                  <a:srgbClr val="1B1B1B"/>
                </a:solidFill>
                <a:latin typeface="+mj-lt"/>
              </a:rPr>
              <a:t>Co-Immunoprecipitation</a:t>
            </a:r>
            <a:endParaRPr lang="en" altLang="zh-TW" sz="3600" b="0" i="0" dirty="0">
              <a:solidFill>
                <a:srgbClr val="1B1B1B"/>
              </a:solidFill>
              <a:effectLst/>
              <a:latin typeface="+mj-lt"/>
            </a:endParaRPr>
          </a:p>
        </p:txBody>
      </p:sp>
      <p:sp>
        <p:nvSpPr>
          <p:cNvPr id="4" name="投影片編號版面配置區 3">
            <a:extLst>
              <a:ext uri="{FF2B5EF4-FFF2-40B4-BE49-F238E27FC236}">
                <a16:creationId xmlns:a16="http://schemas.microsoft.com/office/drawing/2014/main" id="{16B54F04-8D5A-6C94-B397-09A53AC23E68}"/>
              </a:ext>
            </a:extLst>
          </p:cNvPr>
          <p:cNvSpPr>
            <a:spLocks noGrp="1"/>
          </p:cNvSpPr>
          <p:nvPr>
            <p:ph type="sldNum" sz="quarter" idx="12"/>
          </p:nvPr>
        </p:nvSpPr>
        <p:spPr/>
        <p:txBody>
          <a:bodyPr/>
          <a:lstStyle/>
          <a:p>
            <a:fld id="{5457A026-CD74-A64B-872B-B0D8D2A810A8}" type="slidenum">
              <a:rPr kumimoji="1" lang="zh-TW" altLang="en-US" smtClean="0"/>
              <a:t>35</a:t>
            </a:fld>
            <a:endParaRPr kumimoji="1" lang="zh-TW" altLang="en-US"/>
          </a:p>
        </p:txBody>
      </p:sp>
    </p:spTree>
    <p:extLst>
      <p:ext uri="{BB962C8B-B14F-4D97-AF65-F5344CB8AC3E}">
        <p14:creationId xmlns:p14="http://schemas.microsoft.com/office/powerpoint/2010/main" val="30304310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156DC-F45C-0E6C-EBA2-C0728F19FCE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4CF8E5B-0F95-FB04-666B-B6E9F14608A1}"/>
              </a:ext>
            </a:extLst>
          </p:cNvPr>
          <p:cNvSpPr>
            <a:spLocks noGrp="1"/>
          </p:cNvSpPr>
          <p:nvPr>
            <p:ph type="title"/>
          </p:nvPr>
        </p:nvSpPr>
        <p:spPr>
          <a:xfrm>
            <a:off x="628650" y="433416"/>
            <a:ext cx="7886700" cy="681037"/>
          </a:xfrm>
        </p:spPr>
        <p:txBody>
          <a:bodyPr>
            <a:normAutofit/>
          </a:bodyPr>
          <a:lstStyle/>
          <a:p>
            <a:r>
              <a:rPr kumimoji="1" lang="en-US" altLang="zh-TW" sz="3200"/>
              <a:t>Apoptosis </a:t>
            </a:r>
            <a:r>
              <a:rPr kumimoji="1" lang="zh-TW" altLang="en-US" sz="3200"/>
              <a:t>檢測（放後面）</a:t>
            </a:r>
          </a:p>
        </p:txBody>
      </p:sp>
      <p:sp>
        <p:nvSpPr>
          <p:cNvPr id="4" name="投影片編號版面配置區 3">
            <a:extLst>
              <a:ext uri="{FF2B5EF4-FFF2-40B4-BE49-F238E27FC236}">
                <a16:creationId xmlns:a16="http://schemas.microsoft.com/office/drawing/2014/main" id="{383EE8C2-4206-07E3-FE36-3BC4D7837E04}"/>
              </a:ext>
            </a:extLst>
          </p:cNvPr>
          <p:cNvSpPr>
            <a:spLocks noGrp="1"/>
          </p:cNvSpPr>
          <p:nvPr>
            <p:ph type="sldNum" sz="quarter" idx="12"/>
          </p:nvPr>
        </p:nvSpPr>
        <p:spPr/>
        <p:txBody>
          <a:bodyPr/>
          <a:lstStyle/>
          <a:p>
            <a:fld id="{5457A026-CD74-A64B-872B-B0D8D2A810A8}" type="slidenum">
              <a:rPr kumimoji="1" lang="zh-TW" altLang="en-US" smtClean="0"/>
              <a:t>36</a:t>
            </a:fld>
            <a:endParaRPr kumimoji="1" lang="zh-TW" altLang="en-US"/>
          </a:p>
        </p:txBody>
      </p:sp>
      <p:graphicFrame>
        <p:nvGraphicFramePr>
          <p:cNvPr id="8" name="內容版面配置區 7">
            <a:extLst>
              <a:ext uri="{FF2B5EF4-FFF2-40B4-BE49-F238E27FC236}">
                <a16:creationId xmlns:a16="http://schemas.microsoft.com/office/drawing/2014/main" id="{79D1B0B8-4405-ED28-DCE8-C28614457831}"/>
              </a:ext>
            </a:extLst>
          </p:cNvPr>
          <p:cNvGraphicFramePr>
            <a:graphicFrameLocks noGrp="1"/>
          </p:cNvGraphicFramePr>
          <p:nvPr>
            <p:ph idx="1"/>
            <p:extLst>
              <p:ext uri="{D42A27DB-BD31-4B8C-83A1-F6EECF244321}">
                <p14:modId xmlns:p14="http://schemas.microsoft.com/office/powerpoint/2010/main" val="3335811922"/>
              </p:ext>
            </p:extLst>
          </p:nvPr>
        </p:nvGraphicFramePr>
        <p:xfrm>
          <a:off x="775654" y="1743984"/>
          <a:ext cx="7592692" cy="3978511"/>
        </p:xfrm>
        <a:graphic>
          <a:graphicData uri="http://schemas.openxmlformats.org/drawingml/2006/table">
            <a:tbl>
              <a:tblPr firstRow="1" bandRow="1">
                <a:tableStyleId>{5C22544A-7EE6-4342-B048-85BDC9FD1C3A}</a:tableStyleId>
              </a:tblPr>
              <a:tblGrid>
                <a:gridCol w="2673002">
                  <a:extLst>
                    <a:ext uri="{9D8B030D-6E8A-4147-A177-3AD203B41FA5}">
                      <a16:colId xmlns:a16="http://schemas.microsoft.com/office/drawing/2014/main" val="1952690856"/>
                    </a:ext>
                  </a:extLst>
                </a:gridCol>
                <a:gridCol w="4919690">
                  <a:extLst>
                    <a:ext uri="{9D8B030D-6E8A-4147-A177-3AD203B41FA5}">
                      <a16:colId xmlns:a16="http://schemas.microsoft.com/office/drawing/2014/main" val="3497875860"/>
                    </a:ext>
                  </a:extLst>
                </a:gridCol>
              </a:tblGrid>
              <a:tr h="694811">
                <a:tc>
                  <a:txBody>
                    <a:bodyPr/>
                    <a:lstStyle/>
                    <a:p>
                      <a:r>
                        <a:rPr lang="en" sz="1800" b="0">
                          <a:solidFill>
                            <a:schemeClr val="tx1"/>
                          </a:solidFill>
                        </a:rPr>
                        <a:t>Method</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r>
                        <a:rPr lang="en" sz="1800" b="0">
                          <a:solidFill>
                            <a:schemeClr val="tx1"/>
                          </a:solidFill>
                        </a:rPr>
                        <a:t>Target Detected</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313506"/>
                  </a:ext>
                </a:extLst>
              </a:tr>
              <a:tr h="820925">
                <a:tc>
                  <a:txBody>
                    <a:bodyPr/>
                    <a:lstStyle/>
                    <a:p>
                      <a:r>
                        <a:rPr lang="en" sz="1800" b="0">
                          <a:solidFill>
                            <a:schemeClr val="tx1"/>
                          </a:solidFill>
                        </a:rPr>
                        <a:t>Annexin V / PI</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r>
                        <a:rPr lang="en" sz="1800" b="0">
                          <a:solidFill>
                            <a:schemeClr val="tx1"/>
                          </a:solidFill>
                        </a:rPr>
                        <a:t>Phosphatidylserine externalization (early) / Membrane rupture (late)</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4453768"/>
                  </a:ext>
                </a:extLst>
              </a:tr>
              <a:tr h="820925">
                <a:tc>
                  <a:txBody>
                    <a:bodyPr/>
                    <a:lstStyle/>
                    <a:p>
                      <a:r>
                        <a:rPr lang="en" sz="1800" b="0">
                          <a:solidFill>
                            <a:schemeClr val="tx1"/>
                          </a:solidFill>
                        </a:rPr>
                        <a:t>TUNEL assay</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r>
                        <a:rPr lang="en" sz="1800" b="0">
                          <a:solidFill>
                            <a:schemeClr val="tx1"/>
                          </a:solidFill>
                        </a:rPr>
                        <a:t>DNA strand breaks (late-stage apoptosis)</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3059063"/>
                  </a:ext>
                </a:extLst>
              </a:tr>
              <a:tr h="820925">
                <a:tc>
                  <a:txBody>
                    <a:bodyPr/>
                    <a:lstStyle/>
                    <a:p>
                      <a:r>
                        <a:rPr lang="en" sz="1800" b="0">
                          <a:solidFill>
                            <a:schemeClr val="tx1"/>
                          </a:solidFill>
                        </a:rPr>
                        <a:t>Western blot</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r>
                        <a:rPr lang="en" sz="1800" b="0">
                          <a:solidFill>
                            <a:schemeClr val="tx1"/>
                          </a:solidFill>
                        </a:rPr>
                        <a:t>Cleaved caspase-3, cleaved PARP</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361484"/>
                  </a:ext>
                </a:extLst>
              </a:tr>
              <a:tr h="820925">
                <a:tc>
                  <a:txBody>
                    <a:bodyPr/>
                    <a:lstStyle/>
                    <a:p>
                      <a:r>
                        <a:rPr lang="en" sz="1800" b="0">
                          <a:solidFill>
                            <a:schemeClr val="tx1"/>
                          </a:solidFill>
                        </a:rPr>
                        <a:t>Hoechst / DAPI staining</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r>
                        <a:rPr lang="en" sz="1800" b="0">
                          <a:solidFill>
                            <a:schemeClr val="tx1"/>
                          </a:solidFill>
                        </a:rPr>
                        <a:t>Nuclear condensation and fragmentation</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9469738"/>
                  </a:ext>
                </a:extLst>
              </a:tr>
            </a:tbl>
          </a:graphicData>
        </a:graphic>
      </p:graphicFrame>
    </p:spTree>
    <p:extLst>
      <p:ext uri="{BB962C8B-B14F-4D97-AF65-F5344CB8AC3E}">
        <p14:creationId xmlns:p14="http://schemas.microsoft.com/office/powerpoint/2010/main" val="284833223"/>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佈景主題">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42174</TotalTime>
  <Words>8142</Words>
  <Application>Microsoft Macintosh PowerPoint</Application>
  <PresentationFormat>如螢幕大小 (4:3)</PresentationFormat>
  <Paragraphs>555</Paragraphs>
  <Slides>37</Slides>
  <Notes>37</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37</vt:i4>
      </vt:variant>
    </vt:vector>
  </HeadingPairs>
  <TitlesOfParts>
    <vt:vector size="45" baseType="lpstr">
      <vt:lpstr>-apple-system</vt:lpstr>
      <vt:lpstr>ElsevierGulliver</vt:lpstr>
      <vt:lpstr>system-ui</vt:lpstr>
      <vt:lpstr>Aptos</vt:lpstr>
      <vt:lpstr>Aptos Display</vt:lpstr>
      <vt:lpstr>Arial</vt:lpstr>
      <vt:lpstr>Cambria</vt:lpstr>
      <vt:lpstr>Office 佈景主題</vt:lpstr>
      <vt:lpstr>The Function of DDX3 in the Apoptosis Pathway and Related Research</vt:lpstr>
      <vt:lpstr>Summary</vt:lpstr>
      <vt:lpstr>Summary</vt:lpstr>
      <vt:lpstr>Cell Death</vt:lpstr>
      <vt:lpstr>Cell Death Morphotypes</vt:lpstr>
      <vt:lpstr>Apoptosis</vt:lpstr>
      <vt:lpstr>Apoptosis-related proteins</vt:lpstr>
      <vt:lpstr>p53-induced Apoptosis</vt:lpstr>
      <vt:lpstr>DEAD-box RNA Helicase 3 (DDX3)</vt:lpstr>
      <vt:lpstr>The Function of DDX3 in the Apoptosis Pathway </vt:lpstr>
      <vt:lpstr>Summary</vt:lpstr>
      <vt:lpstr>PowerPoint 簡報</vt:lpstr>
      <vt:lpstr>PowerPoint 簡報</vt:lpstr>
      <vt:lpstr>Extrinsic Apoptosis</vt:lpstr>
      <vt:lpstr>GSK3 impedes death receptor-induced caspase-3 activation</vt:lpstr>
      <vt:lpstr>PowerPoint 簡報</vt:lpstr>
      <vt:lpstr>GSK3 impedes death receptor-induced caspase-3 activation</vt:lpstr>
      <vt:lpstr>PowerPoint 簡報</vt:lpstr>
      <vt:lpstr>Inhibition of GSK3 promotes death receptor-induced caspase-8 activation and DISC formation</vt:lpstr>
      <vt:lpstr>PowerPoint 簡報</vt:lpstr>
      <vt:lpstr>GSK3 associates with the antiapoptotic proteins DDX3 and cIAP-1</vt:lpstr>
      <vt:lpstr>Apoptosis induced by DNA damage is selectively affected by DDX3</vt:lpstr>
      <vt:lpstr>PowerPoint 簡報</vt:lpstr>
      <vt:lpstr>PowerPoint 簡報</vt:lpstr>
      <vt:lpstr>Knockdown of DDX3 with siRNA increases death receptor-induced apoptosis</vt:lpstr>
      <vt:lpstr>Conclusion</vt:lpstr>
      <vt:lpstr>PowerPoint 簡報</vt:lpstr>
      <vt:lpstr>Apoptosis induced by DNA damage is selectively affected by DDX3</vt:lpstr>
      <vt:lpstr>PowerPoint 簡報</vt:lpstr>
      <vt:lpstr>DDX3 promotes apoptosis in cells expressing functional wild-type p53 but inhibits apoptosis in cells with nonfunctional p53</vt:lpstr>
      <vt:lpstr>DDX3 promotes camptothecin-induced apoptosis in cells expressing functional wild-type p53 but inhibits apoptosis in cells with nonfunctional p53</vt:lpstr>
      <vt:lpstr>Conclusion</vt:lpstr>
      <vt:lpstr>Conclusion</vt:lpstr>
      <vt:lpstr>Thank you!</vt:lpstr>
      <vt:lpstr>Regulated Cell Death (RCD) </vt:lpstr>
      <vt:lpstr>Co-Immunoprecipitation</vt:lpstr>
      <vt:lpstr>Apoptosis 檢測（放後面）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Function of DDX3 in the Apoptosis Pathway and Related Research</dc:title>
  <dc:creator>蔡銘芳 南區</dc:creator>
  <cp:lastModifiedBy>靖薰 蔡</cp:lastModifiedBy>
  <cp:revision>48</cp:revision>
  <dcterms:created xsi:type="dcterms:W3CDTF">2024-12-04T11:06:42Z</dcterms:created>
  <dcterms:modified xsi:type="dcterms:W3CDTF">2025-07-30T16:26:20Z</dcterms:modified>
</cp:coreProperties>
</file>