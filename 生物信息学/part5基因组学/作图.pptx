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2740025" y="1652905"/>
            <a:ext cx="7105650" cy="1776095"/>
            <a:chOff x="4315" y="2603"/>
            <a:chExt cx="11190" cy="279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15" y="2730"/>
              <a:ext cx="10050" cy="267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39" y="2991"/>
              <a:ext cx="1426" cy="974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93" y="3578"/>
              <a:ext cx="1155" cy="101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70" y="2603"/>
              <a:ext cx="1860" cy="975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730" y="2603"/>
              <a:ext cx="691" cy="52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365" y="4275"/>
              <a:ext cx="1140" cy="750"/>
            </a:xfrm>
            <a:prstGeom prst="rect">
              <a:avLst/>
            </a:prstGeom>
          </p:spPr>
        </p:pic>
      </p:grp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4110990" y="1264920"/>
            <a:ext cx="4556760" cy="2215515"/>
            <a:chOff x="6474" y="1992"/>
            <a:chExt cx="7176" cy="3489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74" y="1992"/>
              <a:ext cx="5655" cy="168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4" y="3672"/>
              <a:ext cx="6626" cy="59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4" y="4390"/>
              <a:ext cx="6780" cy="45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4" y="4965"/>
              <a:ext cx="7177" cy="517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3370580" y="1682115"/>
            <a:ext cx="4926965" cy="3209290"/>
            <a:chOff x="5308" y="2649"/>
            <a:chExt cx="7759" cy="505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033" y="2649"/>
              <a:ext cx="4035" cy="505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8" y="4552"/>
              <a:ext cx="3300" cy="1695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280285" y="2175510"/>
            <a:ext cx="6558915" cy="2838450"/>
            <a:chOff x="3591" y="3426"/>
            <a:chExt cx="10329" cy="447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91" y="3426"/>
              <a:ext cx="2565" cy="447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6" y="3426"/>
              <a:ext cx="7155" cy="2985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020" y="1985645"/>
            <a:ext cx="3743325" cy="28860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288415" y="429260"/>
            <a:ext cx="6229985" cy="4838700"/>
            <a:chOff x="2029" y="676"/>
            <a:chExt cx="9811" cy="762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29" y="1719"/>
              <a:ext cx="7851" cy="5534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18" y="676"/>
              <a:ext cx="1722" cy="762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623060" y="1720215"/>
            <a:ext cx="9267825" cy="2990850"/>
            <a:chOff x="2556" y="2709"/>
            <a:chExt cx="14595" cy="471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56" y="2709"/>
              <a:ext cx="6705" cy="471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61" y="2709"/>
              <a:ext cx="7890" cy="462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181100" y="1866900"/>
            <a:ext cx="7152640" cy="3397885"/>
            <a:chOff x="1860" y="2940"/>
            <a:chExt cx="11264" cy="535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60" y="2940"/>
              <a:ext cx="5160" cy="492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20" y="3371"/>
              <a:ext cx="6304" cy="4921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273175" y="2070100"/>
            <a:ext cx="5887720" cy="2717800"/>
            <a:chOff x="2005" y="3260"/>
            <a:chExt cx="9272" cy="428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05" y="3260"/>
              <a:ext cx="6300" cy="428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05" y="3260"/>
              <a:ext cx="2972" cy="3798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718945" y="2488565"/>
            <a:ext cx="5514975" cy="2260600"/>
            <a:chOff x="2707" y="3919"/>
            <a:chExt cx="8685" cy="356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07" y="3919"/>
              <a:ext cx="6265" cy="3561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72" y="3919"/>
              <a:ext cx="2420" cy="332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4358005" y="1612900"/>
            <a:ext cx="3162300" cy="2933700"/>
            <a:chOff x="6863" y="2540"/>
            <a:chExt cx="4980" cy="462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63" y="2540"/>
              <a:ext cx="4980" cy="286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29" y="5400"/>
              <a:ext cx="4500" cy="176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1971040" y="1207135"/>
            <a:ext cx="8484235" cy="3772535"/>
            <a:chOff x="3104" y="1901"/>
            <a:chExt cx="13361" cy="594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04" y="1901"/>
              <a:ext cx="4720" cy="490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2" y="7358"/>
              <a:ext cx="4106" cy="48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3" y="1901"/>
              <a:ext cx="7643" cy="4899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08" y="7072"/>
              <a:ext cx="2807" cy="771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1299845" y="939165"/>
            <a:ext cx="9289415" cy="4979670"/>
            <a:chOff x="2047" y="1479"/>
            <a:chExt cx="14629" cy="784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47" y="1479"/>
              <a:ext cx="6838" cy="7843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8676" y="2646"/>
              <a:ext cx="8000" cy="2131"/>
            </a:xfrm>
            <a:prstGeom prst="rect">
              <a:avLst/>
            </a:prstGeom>
          </p:spPr>
          <p:txBody>
            <a:bodyPr>
              <a:spAutoFit/>
            </a:bodyPr>
            <a:p>
              <a:r>
                <a:rPr lang="en-US" altLang="zh-CN" b="1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DNA</a:t>
              </a:r>
              <a:r>
                <a:rPr lang="zh-CN" altLang="en-US" b="1">
                  <a:solidFill>
                    <a:srgbClr val="000000"/>
                  </a:solidFill>
                  <a:latin typeface="微软雅黑"/>
                  <a:ea typeface="微软雅黑"/>
                </a:rPr>
                <a:t>转座子 </a:t>
              </a:r>
              <a:endParaRPr lang="zh-CN" altLang="en-US" b="1">
                <a:solidFill>
                  <a:srgbClr val="000000"/>
                </a:solidFill>
                <a:latin typeface="微软雅黑"/>
                <a:ea typeface="微软雅黑"/>
              </a:endParaRPr>
            </a:p>
            <a:p>
              <a:r>
                <a:rPr lang="en-US" altLang="zh-CN" sz="1600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</a:rPr>
                <a:t>• 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通过“剪切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-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粘贴”机制移动。 转座子编码转座酶直</a:t>
              </a:r>
              <a:r>
                <a:rPr lang="en-US" altLang="zh-CN" sz="1600">
                  <a:solidFill>
                    <a:srgbClr val="000000"/>
                  </a:solidFill>
                  <a:latin typeface="微软雅黑"/>
                  <a:ea typeface="微软雅黑"/>
                </a:rPr>
                <a:t>  </a:t>
              </a:r>
              <a:endParaRPr lang="en-US" altLang="zh-CN" sz="1600">
                <a:solidFill>
                  <a:srgbClr val="000000"/>
                </a:solidFill>
                <a:latin typeface="微软雅黑"/>
                <a:ea typeface="微软雅黑"/>
              </a:endParaRPr>
            </a:p>
            <a:p>
              <a:r>
                <a:rPr lang="en-US" altLang="zh-CN" sz="1600">
                  <a:solidFill>
                    <a:srgbClr val="000000"/>
                  </a:solidFill>
                  <a:latin typeface="微软雅黑"/>
                  <a:ea typeface="微软雅黑"/>
                </a:rPr>
                <a:t>  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接将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DNA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序列从原位置切下并插入 到新位置 </a:t>
              </a:r>
              <a:endParaRPr lang="zh-CN" altLang="en-US" sz="1600">
                <a:solidFill>
                  <a:srgbClr val="000000"/>
                </a:solidFill>
                <a:latin typeface="微软雅黑"/>
                <a:ea typeface="微软雅黑"/>
              </a:endParaRPr>
            </a:p>
            <a:p>
              <a:r>
                <a:rPr lang="en-US" altLang="zh-CN" sz="1600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</a:rPr>
                <a:t>• 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通常具有末端反向重复序列 </a:t>
              </a:r>
              <a:endParaRPr lang="zh-CN" altLang="en-US" sz="1600">
                <a:solidFill>
                  <a:srgbClr val="000000"/>
                </a:solidFill>
                <a:latin typeface="微软雅黑"/>
                <a:ea typeface="微软雅黑"/>
              </a:endParaRPr>
            </a:p>
            <a:p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（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Terminal Inverted Repeats, TIRs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）</a:t>
              </a:r>
              <a:endParaRPr lang="zh-CN" altLang="en-US" sz="1600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844" y="5151"/>
              <a:ext cx="7542" cy="329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b="1">
                  <a:solidFill>
                    <a:srgbClr val="000000"/>
                  </a:solidFill>
                  <a:latin typeface="微软雅黑"/>
                  <a:ea typeface="微软雅黑"/>
                </a:rPr>
                <a:t>逆转录转座子 </a:t>
              </a:r>
              <a:endParaRPr lang="zh-CN" altLang="en-US" b="1">
                <a:solidFill>
                  <a:srgbClr val="000000"/>
                </a:solidFill>
                <a:latin typeface="微软雅黑"/>
                <a:ea typeface="微软雅黑"/>
              </a:endParaRPr>
            </a:p>
            <a:p>
              <a:r>
                <a:rPr lang="en-US" altLang="zh-CN" sz="1600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</a:rPr>
                <a:t>• 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通过“复制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-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粘贴”机制移动。 转座子被转录为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RNA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，然后通过逆转录酶将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RNA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逆转录为 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DNA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，再插入到基因组的新位置 </a:t>
              </a:r>
              <a:endParaRPr lang="zh-CN" altLang="en-US" sz="1600">
                <a:solidFill>
                  <a:srgbClr val="000000"/>
                </a:solidFill>
                <a:latin typeface="微软雅黑"/>
                <a:ea typeface="微软雅黑"/>
              </a:endParaRPr>
            </a:p>
            <a:p>
              <a:r>
                <a:rPr lang="en-US" altLang="zh-CN" sz="1600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</a:rPr>
                <a:t>• 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LTR 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逆转录转座子：具有长末端重复序列（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Long Terminal Repeats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） </a:t>
              </a:r>
              <a:endParaRPr lang="zh-CN" altLang="en-US" sz="1600">
                <a:solidFill>
                  <a:srgbClr val="000000"/>
                </a:solidFill>
                <a:latin typeface="微软雅黑"/>
                <a:ea typeface="微软雅黑"/>
              </a:endParaRPr>
            </a:p>
            <a:p>
              <a:r>
                <a:rPr lang="en-US" altLang="zh-CN" sz="1600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</a:rPr>
                <a:t>• 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非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LTR 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逆转录转座子：如 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LINEs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（长散布核元件）和 </a:t>
              </a:r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SINEs</a:t>
              </a:r>
              <a:r>
                <a:rPr lang="zh-CN" altLang="en-US" sz="1600">
                  <a:solidFill>
                    <a:srgbClr val="000000"/>
                  </a:solidFill>
                  <a:latin typeface="微软雅黑"/>
                  <a:ea typeface="微软雅黑"/>
                </a:rPr>
                <a:t>（短散布核元件）</a:t>
              </a:r>
              <a:endParaRPr lang="zh-CN" altLang="en-US" sz="1600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189990" y="2489200"/>
            <a:ext cx="9837420" cy="1549400"/>
            <a:chOff x="1874" y="3920"/>
            <a:chExt cx="15492" cy="244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74" y="4174"/>
              <a:ext cx="5612" cy="2186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86" y="3920"/>
              <a:ext cx="9880" cy="244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1998345" y="648335"/>
            <a:ext cx="8143875" cy="5772785"/>
            <a:chOff x="3147" y="1021"/>
            <a:chExt cx="12825" cy="909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47" y="1095"/>
              <a:ext cx="3975" cy="430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7" y="1095"/>
              <a:ext cx="4132" cy="430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70" y="1021"/>
              <a:ext cx="4303" cy="4457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7" y="6122"/>
              <a:ext cx="3735" cy="399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09" y="6085"/>
              <a:ext cx="3705" cy="399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801" y="6055"/>
              <a:ext cx="3720" cy="4020"/>
            </a:xfrm>
            <a:prstGeom prst="rect">
              <a:avLst/>
            </a:prstGeom>
          </p:spPr>
        </p:pic>
      </p:grpSp>
    </p:spTree>
    <p:custDataLst>
      <p:tags r:id="rId7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1545590" y="1118235"/>
            <a:ext cx="9902190" cy="3691890"/>
            <a:chOff x="2434" y="1761"/>
            <a:chExt cx="15594" cy="581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34" y="1761"/>
              <a:ext cx="3840" cy="454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9" y="2064"/>
              <a:ext cx="9898" cy="424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3404" y="7045"/>
              <a:ext cx="8000" cy="507"/>
            </a:xfrm>
            <a:prstGeom prst="rect">
              <a:avLst/>
            </a:prstGeom>
          </p:spPr>
          <p:txBody>
            <a:bodyPr>
              <a:spAutoFit/>
            </a:bodyPr>
            <a:p>
              <a:pPr>
                <a:lnSpc>
                  <a:spcPts val="1800"/>
                </a:lnSpc>
              </a:pPr>
              <a:r>
                <a:rPr lang="en-US" altLang="zh-CN" sz="1600" b="1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PT Sans" panose="020B0503020203020204" charset="0"/>
                  <a:ea typeface="Menlo" panose="020B0609030804020204"/>
                  <a:cs typeface="PT Sans" panose="020B0503020203020204" charset="0"/>
                </a:rPr>
                <a:t>Polyploid</a:t>
              </a:r>
              <a:endParaRPr lang="en-US" altLang="zh-CN" sz="1600" b="1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PT Sans" panose="020B0503020203020204" charset="0"/>
                <a:ea typeface="Menlo" panose="020B0609030804020204"/>
                <a:cs typeface="PT Sans" panose="020B050302020302020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0028" y="7045"/>
              <a:ext cx="8000" cy="531"/>
            </a:xfrm>
            <a:prstGeom prst="rect">
              <a:avLst/>
            </a:prstGeom>
          </p:spPr>
          <p:txBody>
            <a:bodyPr>
              <a:spAutoFit/>
            </a:bodyPr>
            <a:p>
              <a:r>
                <a:rPr lang="en-US" altLang="zh-CN" sz="1600">
                  <a:solidFill>
                    <a:srgbClr val="000000"/>
                  </a:solidFill>
                  <a:latin typeface="PT Sans" panose="020B0503020203020204" charset="0"/>
                  <a:ea typeface="微软雅黑"/>
                  <a:cs typeface="PT Sans" panose="020B0503020203020204" charset="0"/>
                </a:rPr>
                <a:t>Paleopolyploidy</a:t>
              </a:r>
              <a:endParaRPr lang="en-US" altLang="zh-CN" sz="1600">
                <a:solidFill>
                  <a:srgbClr val="000000"/>
                </a:solidFill>
                <a:latin typeface="PT Sans" panose="020B0503020203020204" charset="0"/>
                <a:ea typeface="微软雅黑"/>
                <a:cs typeface="PT Sans" panose="020B0503020203020204" charset="0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463675" y="1835150"/>
            <a:ext cx="8295640" cy="2857500"/>
            <a:chOff x="2305" y="2890"/>
            <a:chExt cx="13064" cy="450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049" y="2890"/>
              <a:ext cx="4320" cy="4500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2305" y="4099"/>
              <a:ext cx="8000" cy="2082"/>
            </a:xfrm>
            <a:prstGeom prst="rect">
              <a:avLst/>
            </a:prstGeom>
          </p:spPr>
          <p:txBody>
            <a:bodyPr>
              <a:spAutoFit/>
            </a:bodyPr>
            <a:p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Paracentric inversions do not include the centromere </a:t>
              </a:r>
              <a:endParaRPr lang="en-US" altLang="zh-CN" sz="1600">
                <a:solidFill>
                  <a:srgbClr val="000000"/>
                </a:solidFill>
                <a:latin typeface="Arial" panose="020B0604020202090204"/>
                <a:ea typeface="Arial" panose="020B0604020202090204"/>
              </a:endParaRPr>
            </a:p>
            <a:p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and both breaks occur in one arm of the chromosome. </a:t>
              </a:r>
              <a:endParaRPr lang="en-US" altLang="zh-CN" sz="1600">
                <a:solidFill>
                  <a:srgbClr val="000000"/>
                </a:solidFill>
                <a:latin typeface="Arial" panose="020B0604020202090204"/>
                <a:ea typeface="Arial" panose="020B0604020202090204"/>
              </a:endParaRPr>
            </a:p>
            <a:p>
              <a:endParaRPr lang="en-US" altLang="zh-CN" sz="1600">
                <a:solidFill>
                  <a:srgbClr val="000000"/>
                </a:solidFill>
                <a:latin typeface="Arial" panose="020B0604020202090204"/>
                <a:ea typeface="Arial" panose="020B0604020202090204"/>
              </a:endParaRPr>
            </a:p>
            <a:p>
              <a:r>
                <a:rPr lang="en-US" altLang="zh-CN" sz="16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</a:rPr>
                <a:t>Pericentric inversions include the centromere and there is a break point in each arm.</a:t>
              </a:r>
              <a:endParaRPr lang="en-US" altLang="zh-CN" sz="1600">
                <a:solidFill>
                  <a:srgbClr val="000000"/>
                </a:solidFill>
                <a:latin typeface="Arial" panose="020B0604020202090204"/>
                <a:ea typeface="Arial" panose="020B0604020202090204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469390" y="1995170"/>
            <a:ext cx="9196070" cy="2914650"/>
            <a:chOff x="2314" y="3142"/>
            <a:chExt cx="14482" cy="459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52" y="3142"/>
              <a:ext cx="7845" cy="451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14" y="3142"/>
              <a:ext cx="5865" cy="459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371090" y="1892300"/>
            <a:ext cx="5977255" cy="2803525"/>
            <a:chOff x="3734" y="2980"/>
            <a:chExt cx="9413" cy="4415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34" y="3405"/>
              <a:ext cx="5925" cy="399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31" y="2980"/>
              <a:ext cx="3117" cy="4415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19935" y="1224915"/>
            <a:ext cx="9013825" cy="3618865"/>
            <a:chOff x="3181" y="1929"/>
            <a:chExt cx="14195" cy="5699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81" y="1929"/>
              <a:ext cx="4950" cy="448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42" y="1929"/>
              <a:ext cx="8734" cy="4470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4799" y="6612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基因突变</a:t>
              </a:r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154" y="6612"/>
              <a:ext cx="230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核苷酸突变</a:t>
              </a:r>
              <a:endParaRPr lang="zh-CN" altLang="en-US"/>
            </a:p>
            <a:p>
              <a:endParaRPr lang="zh-CN" altLang="en-US"/>
            </a:p>
          </p:txBody>
        </p:sp>
      </p:grp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1600200" y="2386965"/>
            <a:ext cx="7858125" cy="1394460"/>
            <a:chOff x="2520" y="3759"/>
            <a:chExt cx="12375" cy="21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93" y="3759"/>
              <a:ext cx="4803" cy="2196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20" y="3759"/>
              <a:ext cx="7080" cy="209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1376680" y="1370965"/>
            <a:ext cx="10211435" cy="3607435"/>
            <a:chOff x="2168" y="2159"/>
            <a:chExt cx="16081" cy="5681"/>
          </a:xfrm>
        </p:grpSpPr>
        <p:sp>
          <p:nvSpPr>
            <p:cNvPr id="2" name="文本框 1"/>
            <p:cNvSpPr txBox="1"/>
            <p:nvPr/>
          </p:nvSpPr>
          <p:spPr>
            <a:xfrm>
              <a:off x="4495" y="7260"/>
              <a:ext cx="409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主要代谢途径</a:t>
              </a:r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0603" y="7260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KEGG PATHWAY</a:t>
              </a:r>
              <a:r>
                <a:rPr lang="zh-CN" altLang="en-US"/>
                <a:t>代谢途径</a:t>
              </a:r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68" y="2611"/>
              <a:ext cx="5491" cy="3492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89" y="2159"/>
              <a:ext cx="9660" cy="4395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WPS 演示</Application>
  <PresentationFormat>宽屏</PresentationFormat>
  <Paragraphs>29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汉仪书宋二KW</vt:lpstr>
      <vt:lpstr>宋体</vt:lpstr>
      <vt:lpstr>Arial Unicode MS</vt:lpstr>
      <vt:lpstr>Arial</vt:lpstr>
      <vt:lpstr>微软雅黑</vt:lpstr>
      <vt:lpstr>Times New Roman</vt:lpstr>
      <vt:lpstr>PT Sans</vt:lpstr>
      <vt:lpstr>Menlo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caijingxi</cp:lastModifiedBy>
  <cp:revision>164</cp:revision>
  <dcterms:created xsi:type="dcterms:W3CDTF">2026-08-20T01:59:09Z</dcterms:created>
  <dcterms:modified xsi:type="dcterms:W3CDTF">2026-08-20T01:59:09Z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2ACC43842E0121B4595F866A760EF25B_41</vt:lpwstr>
  </property>
</Properties>
</file>